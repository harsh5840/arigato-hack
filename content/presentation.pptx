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Lst>
  <p:sldSz cx="18288000" cy="10287000"/>
  <p:notesSz cx="6858000" cy="9144000"/>
  <p:embeddedFontLst>
    <p:embeddedFont>
      <p:font typeface="Arial Bold" panose="020B0704020202020204" pitchFamily="34" charset="0"/>
      <p:bold r:id="rId18"/>
    </p:embeddedFont>
    <p:embeddedFont>
      <p:font typeface="Arimo Bold" panose="020B0604020202020204" charset="0"/>
      <p:regular r:id="rId19"/>
    </p:embeddedFont>
    <p:embeddedFont>
      <p:font typeface="Calibri (MS)" panose="020B0604020202020204" charset="0"/>
      <p:regular r:id="rId20"/>
    </p:embeddedFont>
    <p:embeddedFont>
      <p:font typeface="Calibri (MS) Bold" panose="020B0604020202020204" charset="0"/>
      <p:regular r:id="rId21"/>
    </p:embeddedFont>
    <p:embeddedFont>
      <p:font typeface="Calibri (MS) Bold Italics" panose="020B0604020202020204" charset="0"/>
      <p:regular r:id="rId22"/>
    </p:embeddedFont>
    <p:embeddedFont>
      <p:font typeface="Neue Machina Ultra-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sh Chatrath" userId="8885acf33116a12b" providerId="LiveId" clId="{86FBCA43-E39A-49C1-9A48-F0CCB6E98804}"/>
    <pc:docChg chg="delSld">
      <pc:chgData name="Arsh Chatrath" userId="8885acf33116a12b" providerId="LiveId" clId="{86FBCA43-E39A-49C1-9A48-F0CCB6E98804}" dt="2026-10-25T15:42:14.196" v="1" actId="47"/>
      <pc:docMkLst>
        <pc:docMk/>
      </pc:docMkLst>
      <pc:sldChg chg="del">
        <pc:chgData name="Arsh Chatrath" userId="8885acf33116a12b" providerId="LiveId" clId="{86FBCA43-E39A-49C1-9A48-F0CCB6E98804}" dt="2026-10-25T15:42:13.044" v="0" actId="47"/>
        <pc:sldMkLst>
          <pc:docMk/>
          <pc:sldMk cId="0" sldId="270"/>
        </pc:sldMkLst>
      </pc:sldChg>
      <pc:sldChg chg="del">
        <pc:chgData name="Arsh Chatrath" userId="8885acf33116a12b" providerId="LiveId" clId="{86FBCA43-E39A-49C1-9A48-F0CCB6E98804}" dt="2026-10-25T15:42:14.196" v="1" actId="47"/>
        <pc:sldMkLst>
          <pc:docMk/>
          <pc:sldMk cId="0"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 seconds. ProofPatch turns a security advisory into a proposed fix with evidence a reviewer can replay. For this hackathon we start where Japanese SMEs actually hear about vulnerabilities: JPCERT/CC and JVN advisories. The machine on the right is our verification interlock: the patch only moves forward when all five checks retract. Today's frontend outcomes are simulated; one prepared PHP repair PR and its CI run are real.</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45 seconds. Three recent incidents show why verified fixes matter to the business.</a:t>
            </a:r>
          </a:p>
          <a:p>
            <a:endParaRPr lang="en-US"/>
          </a:p>
          <a:p>
            <a:r>
              <a:rPr lang="en-US"/>
              <a:t>eMudhra (17 Oct 2026): the private keys behind eight intermediate certificates could be worked out by anyone; one key was literally the number 4. eMudhra traced it to a script error at an April 2025 key ceremony and says no systems were breached and no data lost. It went unnoticed for about 18 months, through two audit cycles. Mozilla removed the root, Chrome removal is scheduled, MeitY set up a probe, and shares fell 20% to the lower circuit.</a:t>
            </a:r>
          </a:p>
          <a:p>
            <a:endParaRPr lang="en-US"/>
          </a:p>
          <a:p>
            <a:r>
              <a:rPr lang="en-US"/>
              <a:t>PHP2Shell (21 Oct 2026): CVE-2026-109618 and CVE-2026-109619, both CVSS 9.2, allow unauthenticated remote code execution. Fixed in 8.2.35, 8.3.36, 8.4.27 and 8.5.12. JPCERT/CC (JPCERT-AT-2026-0033), IPA and JVN (JVNVU#99905564) published Japanese advisories. Active exploitation had not been reported at disclosure, so this is a critical flaw rather than a confirmed breach.</a:t>
            </a:r>
          </a:p>
          <a:p>
            <a:endParaRPr lang="en-US"/>
          </a:p>
          <a:p>
            <a:r>
              <a:rPr lang="en-US"/>
              <a:t>Gyazo, run by Kyoto-based Helpfeel (11 Sep 2026): attackers exploited a vulnerability in the image upload server to run arbitrary commands, taking about 23.62 million user records and about 490 million image metadata records.</a:t>
            </a:r>
          </a:p>
          <a:p>
            <a:endParaRPr lang="en-US"/>
          </a:p>
          <a:p>
            <a:r>
              <a:rPr lang="en-US"/>
              <a:t>Sources:</a:t>
            </a:r>
          </a:p>
          <a:p>
            <a:r>
              <a:rPr lang="en-US"/>
              <a:t>https://theprint.in/tech/meity-sets-up-team-to-probe-emudhra-certificate-breach-says-digital-signature-services-unaffected/3078125/</a:t>
            </a:r>
          </a:p>
          <a:p>
            <a:r>
              <a:rPr lang="en-US"/>
              <a:t>https://inc42.com/buzz/emudhras-security-key-flaw-what-went-wrong-and-why-google-mozilla-stepped-in/</a:t>
            </a:r>
          </a:p>
          <a:p>
            <a:r>
              <a:rPr lang="en-US"/>
              <a:t>https://www.kaspersky.com/blog/cve-2026-109618-109619-php-vulnerabilities/56583/</a:t>
            </a:r>
          </a:p>
          <a:p>
            <a:r>
              <a:rPr lang="en-US"/>
              <a:t>https://www.jpcert.or.jp/at/2026/at260033.html</a:t>
            </a:r>
          </a:p>
          <a:p>
            <a:r>
              <a:rPr lang="en-US"/>
              <a:t>https://bleepingcomputer.com/news/security/gyazo-server-flaw-exploited-to-steal-236-million-user-records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 seconds. Let the room laugh, then move on: every one of the next three companies was vulnerable. The question is who can fix it fast, and prove the fix.</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 seconds. Let the room laugh, then move on: every one of the next three companies was vulnerable. The question is who can fix it fast, and prove the fix.</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 seconds. IBM's 2026 report puts the average breach in India at a record ₹25.5 crore, up 15.9% from ₹22 crore. Verizon's 2026 DBIR found vulnerability exploitation is now the top way in at 31% of breaches. IBM also found offensive testing was the biggest cost reducer, saving ₹2.47 crore on average. Industry context, not proof of demand in our segment.</a:t>
            </a:r>
          </a:p>
          <a:p>
            <a:endParaRPr lang="en-US"/>
          </a:p>
          <a:p>
            <a:r>
              <a:rPr lang="en-US"/>
              <a:t>Sources:</a:t>
            </a:r>
          </a:p>
          <a:p>
            <a:r>
              <a:rPr lang="en-US"/>
              <a:t>https://in.newsroom.ibm.com/India-Records-its-Highest-Average-Cost-of-a-Data-Breach-2026</a:t>
            </a:r>
          </a:p>
          <a:p>
            <a:r>
              <a:rPr lang="en-US"/>
              <a:t>https://www.techrepublic.com/article/news-verizon-dbir-vulnerability-exploitation-2026/</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 seconds. Every advisory starts the same four steps: triage, reproduce, repair, review. Each pulls a developer off roadmap work. We hypothesise that reproduction and trustworthy review evidence take the most time, and that skipping them is how flaws get through. This needs customer validation.</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 seconds. Supply Chain reads approved Japanese and vendor feeds plus the repository inventory, and writes a source-backed risk brief in Japanese and English. It cannot edit code. DevSec records the affected baseline and freezes the checks before any fix is written, then verifies the candidate. It cannot write the fix. Remediation writes a scoped candidate branch. It cannot touch the frozen tests or merge. The controller is deterministic infrastructure that routes work and enforces budgets. A human always owns the merge. Planned models: Groq gpt-oss-20b for Supply Chain, gpt-oss-120b for Remediation and DevSec review; not live yet.</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45 seconds. This part is real. SakuraShop is a fictional Japanese merchant running PHP 8.3.35. Draft PR #1 on Harsh5840/arigato-php-demo moves it to 8.3.36 and changes only three files: Dockerfile, composer.json and config/security.ini. CI guards reject any other path, verifier change or extra Docker instruction. The candidate CI run observed PHP 8.3.36 and passed all 15 frozen business checks: Japanese UTF-8 text, integer-yen totals, own-order access, and denial of other customers and anonymous requests. The PR stays draft: the configuration follow-up is open and a human still decides. Base 78d4958, candidate 04f1399. It was prepared by hand as a fixture, not generated by a live Groq run.</a:t>
            </a:r>
          </a:p>
          <a:p>
            <a:endParaRPr lang="en-US"/>
          </a:p>
          <a:p>
            <a:r>
              <a:rPr lang="en-US"/>
              <a:t>Links:</a:t>
            </a:r>
          </a:p>
          <a:p>
            <a:r>
              <a:rPr lang="en-US"/>
              <a:t>https://github.com/Harsh5840/arigato-php-demo/pull/1</a:t>
            </a:r>
          </a:p>
          <a:p>
            <a:r>
              <a:rPr lang="en-US"/>
              <a:t>https://github.com/Harsh5840/arigato-php-demo/actions/runs/40111416786</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jpe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3.png"/><Relationship Id="rId10" Type="http://schemas.openxmlformats.org/officeDocument/2006/relationships/image" Target="../media/image5.svg"/><Relationship Id="rId4" Type="http://schemas.openxmlformats.org/officeDocument/2006/relationships/image" Target="../media/image15.pn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5.svg"/><Relationship Id="rId4" Type="http://schemas.openxmlformats.org/officeDocument/2006/relationships/image" Target="../media/image2.jpe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svg"/><Relationship Id="rId4" Type="http://schemas.openxmlformats.org/officeDocument/2006/relationships/image" Target="../media/image25.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5.svg"/><Relationship Id="rId4" Type="http://schemas.openxmlformats.org/officeDocument/2006/relationships/image" Target="../media/image26.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3.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29.jpeg"/></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5EC"/>
        </a:solidFill>
        <a:effectLst/>
      </p:bgPr>
    </p:bg>
    <p:spTree>
      <p:nvGrpSpPr>
        <p:cNvPr id="1" name=""/>
        <p:cNvGrpSpPr/>
        <p:nvPr/>
      </p:nvGrpSpPr>
      <p:grpSpPr>
        <a:xfrm>
          <a:off x="0" y="0"/>
          <a:ext cx="0" cy="0"/>
          <a:chOff x="0" y="0"/>
          <a:chExt cx="0" cy="0"/>
        </a:xfrm>
      </p:grpSpPr>
      <p:sp>
        <p:nvSpPr>
          <p:cNvPr id="2" name="Freeform 2"/>
          <p:cNvSpPr/>
          <p:nvPr/>
        </p:nvSpPr>
        <p:spPr>
          <a:xfrm flipV="1">
            <a:off x="0" y="0"/>
            <a:ext cx="8690991" cy="10287000"/>
          </a:xfrm>
          <a:custGeom>
            <a:avLst/>
            <a:gdLst/>
            <a:ahLst/>
            <a:cxnLst/>
            <a:rect l="l" t="t" r="r" b="b"/>
            <a:pathLst>
              <a:path w="8690991" h="10287000">
                <a:moveTo>
                  <a:pt x="0" y="10287000"/>
                </a:moveTo>
                <a:lnTo>
                  <a:pt x="8690991" y="10287000"/>
                </a:lnTo>
                <a:lnTo>
                  <a:pt x="8690991" y="0"/>
                </a:lnTo>
                <a:lnTo>
                  <a:pt x="0" y="0"/>
                </a:lnTo>
                <a:lnTo>
                  <a:pt x="0" y="10287000"/>
                </a:lnTo>
                <a:close/>
              </a:path>
            </a:pathLst>
          </a:custGeom>
          <a:blipFill>
            <a:blip r:embed="rId3"/>
            <a:stretch>
              <a:fillRect l="-99999" t="-34485" b="-34485"/>
            </a:stretch>
          </a:blipFill>
        </p:spPr>
      </p:sp>
      <p:grpSp>
        <p:nvGrpSpPr>
          <p:cNvPr id="3" name="Group 3"/>
          <p:cNvGrpSpPr/>
          <p:nvPr/>
        </p:nvGrpSpPr>
        <p:grpSpPr>
          <a:xfrm>
            <a:off x="9272016" y="7826502"/>
            <a:ext cx="2615946" cy="677418"/>
            <a:chOff x="0" y="0"/>
            <a:chExt cx="3487928" cy="903224"/>
          </a:xfrm>
        </p:grpSpPr>
        <p:sp>
          <p:nvSpPr>
            <p:cNvPr id="4" name="Freeform 4"/>
            <p:cNvSpPr/>
            <p:nvPr/>
          </p:nvSpPr>
          <p:spPr>
            <a:xfrm>
              <a:off x="0" y="0"/>
              <a:ext cx="3487928" cy="903224"/>
            </a:xfrm>
            <a:custGeom>
              <a:avLst/>
              <a:gdLst/>
              <a:ahLst/>
              <a:cxnLst/>
              <a:rect l="l" t="t" r="r" b="b"/>
              <a:pathLst>
                <a:path w="3487928" h="903224">
                  <a:moveTo>
                    <a:pt x="0" y="451612"/>
                  </a:moveTo>
                  <a:cubicBezTo>
                    <a:pt x="0" y="202184"/>
                    <a:pt x="202184" y="0"/>
                    <a:pt x="451612" y="0"/>
                  </a:cubicBezTo>
                  <a:lnTo>
                    <a:pt x="3036316" y="0"/>
                  </a:lnTo>
                  <a:cubicBezTo>
                    <a:pt x="3285744" y="0"/>
                    <a:pt x="3487928" y="202184"/>
                    <a:pt x="3487928" y="451612"/>
                  </a:cubicBezTo>
                  <a:cubicBezTo>
                    <a:pt x="3487928" y="701040"/>
                    <a:pt x="3285744" y="903224"/>
                    <a:pt x="3036316" y="903224"/>
                  </a:cubicBezTo>
                  <a:lnTo>
                    <a:pt x="451612" y="903224"/>
                  </a:lnTo>
                  <a:cubicBezTo>
                    <a:pt x="202184" y="903224"/>
                    <a:pt x="0" y="701040"/>
                    <a:pt x="0" y="451612"/>
                  </a:cubicBezTo>
                  <a:close/>
                </a:path>
              </a:pathLst>
            </a:custGeom>
            <a:solidFill>
              <a:srgbClr val="FFFFFF"/>
            </a:solidFill>
            <a:ln w="19050" cap="sq">
              <a:solidFill>
                <a:srgbClr val="DDE3D8"/>
              </a:solidFill>
              <a:prstDash val="solid"/>
              <a:miter/>
            </a:ln>
          </p:spPr>
        </p:sp>
      </p:grpSp>
      <p:grpSp>
        <p:nvGrpSpPr>
          <p:cNvPr id="5" name="Group 5"/>
          <p:cNvGrpSpPr/>
          <p:nvPr/>
        </p:nvGrpSpPr>
        <p:grpSpPr>
          <a:xfrm>
            <a:off x="9281541" y="7836027"/>
            <a:ext cx="2596896" cy="658368"/>
            <a:chOff x="0" y="0"/>
            <a:chExt cx="3462528" cy="877824"/>
          </a:xfrm>
        </p:grpSpPr>
        <p:sp>
          <p:nvSpPr>
            <p:cNvPr id="6" name="Freeform 6"/>
            <p:cNvSpPr/>
            <p:nvPr/>
          </p:nvSpPr>
          <p:spPr>
            <a:xfrm>
              <a:off x="0" y="0"/>
              <a:ext cx="3462528" cy="877824"/>
            </a:xfrm>
            <a:custGeom>
              <a:avLst/>
              <a:gdLst/>
              <a:ahLst/>
              <a:cxnLst/>
              <a:rect l="l" t="t" r="r" b="b"/>
              <a:pathLst>
                <a:path w="3462528" h="877824">
                  <a:moveTo>
                    <a:pt x="0" y="0"/>
                  </a:moveTo>
                  <a:lnTo>
                    <a:pt x="3462528" y="0"/>
                  </a:lnTo>
                  <a:lnTo>
                    <a:pt x="3462528" y="877824"/>
                  </a:lnTo>
                  <a:lnTo>
                    <a:pt x="0" y="877824"/>
                  </a:lnTo>
                  <a:close/>
                </a:path>
              </a:pathLst>
            </a:custGeom>
            <a:blipFill>
              <a:blip r:embed="rId4">
                <a:alphaModFix amt="0"/>
              </a:blip>
              <a:stretch>
                <a:fillRect t="-26857" b="-26857"/>
              </a:stretch>
            </a:blipFill>
          </p:spPr>
        </p:sp>
        <p:sp>
          <p:nvSpPr>
            <p:cNvPr id="7" name="TextBox 7"/>
            <p:cNvSpPr txBox="1"/>
            <p:nvPr/>
          </p:nvSpPr>
          <p:spPr>
            <a:xfrm>
              <a:off x="0" y="-47625"/>
              <a:ext cx="3462528" cy="925449"/>
            </a:xfrm>
            <a:prstGeom prst="rect">
              <a:avLst/>
            </a:prstGeom>
          </p:spPr>
          <p:txBody>
            <a:bodyPr lIns="0" tIns="0" rIns="0" bIns="0" rtlCol="0" anchor="ctr"/>
            <a:lstStyle/>
            <a:p>
              <a:pPr algn="ctr">
                <a:lnSpc>
                  <a:spcPts val="2639"/>
                </a:lnSpc>
              </a:pPr>
              <a:r>
                <a:rPr lang="en-US" sz="2199" b="1">
                  <a:solidFill>
                    <a:srgbClr val="2F6B3A"/>
                  </a:solidFill>
                  <a:latin typeface="Calibri (MS) Bold"/>
                  <a:ea typeface="Calibri (MS) Bold"/>
                  <a:cs typeface="Calibri (MS) Bold"/>
                  <a:sym typeface="Calibri (MS) Bold"/>
                </a:rPr>
                <a:t>Supply Chain</a:t>
              </a:r>
            </a:p>
          </p:txBody>
        </p:sp>
      </p:grpSp>
      <p:grpSp>
        <p:nvGrpSpPr>
          <p:cNvPr id="8" name="Group 8"/>
          <p:cNvGrpSpPr/>
          <p:nvPr/>
        </p:nvGrpSpPr>
        <p:grpSpPr>
          <a:xfrm>
            <a:off x="11988165" y="7982331"/>
            <a:ext cx="365760" cy="365760"/>
            <a:chOff x="0" y="0"/>
            <a:chExt cx="487680" cy="487680"/>
          </a:xfrm>
        </p:grpSpPr>
        <p:sp>
          <p:nvSpPr>
            <p:cNvPr id="9" name="Freeform 9" descr="preencoded.png"/>
            <p:cNvSpPr/>
            <p:nvPr/>
          </p:nvSpPr>
          <p:spPr>
            <a:xfrm>
              <a:off x="0" y="0"/>
              <a:ext cx="487680" cy="487680"/>
            </a:xfrm>
            <a:custGeom>
              <a:avLst/>
              <a:gdLst/>
              <a:ahLst/>
              <a:cxnLst/>
              <a:rect l="l" t="t" r="r" b="b"/>
              <a:pathLst>
                <a:path w="487680" h="487680">
                  <a:moveTo>
                    <a:pt x="0" y="0"/>
                  </a:moveTo>
                  <a:lnTo>
                    <a:pt x="487680" y="0"/>
                  </a:lnTo>
                  <a:lnTo>
                    <a:pt x="487680" y="487680"/>
                  </a:lnTo>
                  <a:lnTo>
                    <a:pt x="0" y="487680"/>
                  </a:lnTo>
                  <a:lnTo>
                    <a:pt x="0" y="0"/>
                  </a:lnTo>
                  <a:close/>
                </a:path>
              </a:pathLst>
            </a:custGeom>
            <a:blipFill>
              <a:blip r:embed="rId5"/>
              <a:stretch>
                <a:fillRect/>
              </a:stretch>
            </a:blipFill>
          </p:spPr>
        </p:sp>
      </p:grpSp>
      <p:grpSp>
        <p:nvGrpSpPr>
          <p:cNvPr id="10" name="Group 10"/>
          <p:cNvGrpSpPr/>
          <p:nvPr/>
        </p:nvGrpSpPr>
        <p:grpSpPr>
          <a:xfrm>
            <a:off x="12454128" y="7826502"/>
            <a:ext cx="2460498" cy="677418"/>
            <a:chOff x="0" y="0"/>
            <a:chExt cx="3280664" cy="903224"/>
          </a:xfrm>
        </p:grpSpPr>
        <p:sp>
          <p:nvSpPr>
            <p:cNvPr id="11" name="Freeform 11"/>
            <p:cNvSpPr/>
            <p:nvPr/>
          </p:nvSpPr>
          <p:spPr>
            <a:xfrm>
              <a:off x="0" y="0"/>
              <a:ext cx="3280664" cy="903224"/>
            </a:xfrm>
            <a:custGeom>
              <a:avLst/>
              <a:gdLst/>
              <a:ahLst/>
              <a:cxnLst/>
              <a:rect l="l" t="t" r="r" b="b"/>
              <a:pathLst>
                <a:path w="3280664" h="903224">
                  <a:moveTo>
                    <a:pt x="0" y="451612"/>
                  </a:moveTo>
                  <a:cubicBezTo>
                    <a:pt x="0" y="202184"/>
                    <a:pt x="202184" y="0"/>
                    <a:pt x="451612" y="0"/>
                  </a:cubicBezTo>
                  <a:lnTo>
                    <a:pt x="2829052" y="0"/>
                  </a:lnTo>
                  <a:cubicBezTo>
                    <a:pt x="3078480" y="0"/>
                    <a:pt x="3280664" y="202184"/>
                    <a:pt x="3280664" y="451612"/>
                  </a:cubicBezTo>
                  <a:cubicBezTo>
                    <a:pt x="3280664" y="701040"/>
                    <a:pt x="3078480" y="903224"/>
                    <a:pt x="2829052" y="903224"/>
                  </a:cubicBezTo>
                  <a:lnTo>
                    <a:pt x="451612" y="903224"/>
                  </a:lnTo>
                  <a:cubicBezTo>
                    <a:pt x="202184" y="903224"/>
                    <a:pt x="0" y="701040"/>
                    <a:pt x="0" y="451612"/>
                  </a:cubicBezTo>
                  <a:close/>
                </a:path>
              </a:pathLst>
            </a:custGeom>
            <a:solidFill>
              <a:srgbClr val="FFFFFF"/>
            </a:solidFill>
            <a:ln w="19050" cap="sq">
              <a:solidFill>
                <a:srgbClr val="DDE3D8"/>
              </a:solidFill>
              <a:prstDash val="solid"/>
              <a:miter/>
            </a:ln>
          </p:spPr>
        </p:sp>
      </p:grpSp>
      <p:grpSp>
        <p:nvGrpSpPr>
          <p:cNvPr id="12" name="Group 12"/>
          <p:cNvGrpSpPr/>
          <p:nvPr/>
        </p:nvGrpSpPr>
        <p:grpSpPr>
          <a:xfrm>
            <a:off x="12463653" y="7836027"/>
            <a:ext cx="2441448" cy="658368"/>
            <a:chOff x="0" y="0"/>
            <a:chExt cx="3255264" cy="877824"/>
          </a:xfrm>
        </p:grpSpPr>
        <p:sp>
          <p:nvSpPr>
            <p:cNvPr id="13" name="Freeform 13"/>
            <p:cNvSpPr/>
            <p:nvPr/>
          </p:nvSpPr>
          <p:spPr>
            <a:xfrm>
              <a:off x="0" y="0"/>
              <a:ext cx="3255264" cy="877824"/>
            </a:xfrm>
            <a:custGeom>
              <a:avLst/>
              <a:gdLst/>
              <a:ahLst/>
              <a:cxnLst/>
              <a:rect l="l" t="t" r="r" b="b"/>
              <a:pathLst>
                <a:path w="3255264" h="877824">
                  <a:moveTo>
                    <a:pt x="0" y="0"/>
                  </a:moveTo>
                  <a:lnTo>
                    <a:pt x="3255264" y="0"/>
                  </a:lnTo>
                  <a:lnTo>
                    <a:pt x="3255264" y="877824"/>
                  </a:lnTo>
                  <a:lnTo>
                    <a:pt x="0" y="877824"/>
                  </a:lnTo>
                  <a:close/>
                </a:path>
              </a:pathLst>
            </a:custGeom>
            <a:blipFill>
              <a:blip r:embed="rId4">
                <a:alphaModFix amt="0"/>
              </a:blip>
              <a:stretch>
                <a:fillRect t="-22257" b="-22257"/>
              </a:stretch>
            </a:blipFill>
          </p:spPr>
        </p:sp>
        <p:sp>
          <p:nvSpPr>
            <p:cNvPr id="14" name="TextBox 14"/>
            <p:cNvSpPr txBox="1"/>
            <p:nvPr/>
          </p:nvSpPr>
          <p:spPr>
            <a:xfrm>
              <a:off x="0" y="-47625"/>
              <a:ext cx="3255264" cy="925449"/>
            </a:xfrm>
            <a:prstGeom prst="rect">
              <a:avLst/>
            </a:prstGeom>
          </p:spPr>
          <p:txBody>
            <a:bodyPr lIns="0" tIns="0" rIns="0" bIns="0" rtlCol="0" anchor="ctr"/>
            <a:lstStyle/>
            <a:p>
              <a:pPr algn="ctr">
                <a:lnSpc>
                  <a:spcPts val="2639"/>
                </a:lnSpc>
              </a:pPr>
              <a:r>
                <a:rPr lang="en-US" sz="2199" b="1">
                  <a:solidFill>
                    <a:srgbClr val="2F6B3A"/>
                  </a:solidFill>
                  <a:latin typeface="Calibri (MS) Bold"/>
                  <a:ea typeface="Calibri (MS) Bold"/>
                  <a:cs typeface="Calibri (MS) Bold"/>
                  <a:sym typeface="Calibri (MS) Bold"/>
                </a:rPr>
                <a:t>Remediation</a:t>
              </a:r>
            </a:p>
          </p:txBody>
        </p:sp>
      </p:grpSp>
      <p:grpSp>
        <p:nvGrpSpPr>
          <p:cNvPr id="15" name="Group 15"/>
          <p:cNvGrpSpPr/>
          <p:nvPr/>
        </p:nvGrpSpPr>
        <p:grpSpPr>
          <a:xfrm>
            <a:off x="15014829" y="7982331"/>
            <a:ext cx="365760" cy="365760"/>
            <a:chOff x="0" y="0"/>
            <a:chExt cx="487680" cy="487680"/>
          </a:xfrm>
        </p:grpSpPr>
        <p:sp>
          <p:nvSpPr>
            <p:cNvPr id="16" name="Freeform 16" descr="preencoded.png"/>
            <p:cNvSpPr/>
            <p:nvPr/>
          </p:nvSpPr>
          <p:spPr>
            <a:xfrm>
              <a:off x="0" y="0"/>
              <a:ext cx="487680" cy="487680"/>
            </a:xfrm>
            <a:custGeom>
              <a:avLst/>
              <a:gdLst/>
              <a:ahLst/>
              <a:cxnLst/>
              <a:rect l="l" t="t" r="r" b="b"/>
              <a:pathLst>
                <a:path w="487680" h="487680">
                  <a:moveTo>
                    <a:pt x="0" y="0"/>
                  </a:moveTo>
                  <a:lnTo>
                    <a:pt x="487680" y="0"/>
                  </a:lnTo>
                  <a:lnTo>
                    <a:pt x="487680" y="487680"/>
                  </a:lnTo>
                  <a:lnTo>
                    <a:pt x="0" y="487680"/>
                  </a:lnTo>
                  <a:lnTo>
                    <a:pt x="0" y="0"/>
                  </a:lnTo>
                  <a:close/>
                </a:path>
              </a:pathLst>
            </a:custGeom>
            <a:blipFill>
              <a:blip r:embed="rId5"/>
              <a:stretch>
                <a:fillRect/>
              </a:stretch>
            </a:blipFill>
          </p:spPr>
        </p:sp>
      </p:grpSp>
      <p:grpSp>
        <p:nvGrpSpPr>
          <p:cNvPr id="17" name="Group 17"/>
          <p:cNvGrpSpPr/>
          <p:nvPr/>
        </p:nvGrpSpPr>
        <p:grpSpPr>
          <a:xfrm>
            <a:off x="15480792" y="7826502"/>
            <a:ext cx="1683258" cy="677418"/>
            <a:chOff x="0" y="0"/>
            <a:chExt cx="2244344" cy="903224"/>
          </a:xfrm>
        </p:grpSpPr>
        <p:sp>
          <p:nvSpPr>
            <p:cNvPr id="18" name="Freeform 18"/>
            <p:cNvSpPr/>
            <p:nvPr/>
          </p:nvSpPr>
          <p:spPr>
            <a:xfrm>
              <a:off x="0" y="0"/>
              <a:ext cx="2244344" cy="903224"/>
            </a:xfrm>
            <a:custGeom>
              <a:avLst/>
              <a:gdLst/>
              <a:ahLst/>
              <a:cxnLst/>
              <a:rect l="l" t="t" r="r" b="b"/>
              <a:pathLst>
                <a:path w="2244344" h="903224">
                  <a:moveTo>
                    <a:pt x="0" y="451612"/>
                  </a:moveTo>
                  <a:cubicBezTo>
                    <a:pt x="0" y="202184"/>
                    <a:pt x="202184" y="0"/>
                    <a:pt x="451612" y="0"/>
                  </a:cubicBezTo>
                  <a:lnTo>
                    <a:pt x="1792732" y="0"/>
                  </a:lnTo>
                  <a:cubicBezTo>
                    <a:pt x="2042160" y="0"/>
                    <a:pt x="2244344" y="202184"/>
                    <a:pt x="2244344" y="451612"/>
                  </a:cubicBezTo>
                  <a:cubicBezTo>
                    <a:pt x="2244344" y="701040"/>
                    <a:pt x="2042160" y="903224"/>
                    <a:pt x="1792732" y="903224"/>
                  </a:cubicBezTo>
                  <a:lnTo>
                    <a:pt x="451612" y="903224"/>
                  </a:lnTo>
                  <a:cubicBezTo>
                    <a:pt x="202184" y="903224"/>
                    <a:pt x="0" y="701040"/>
                    <a:pt x="0" y="451612"/>
                  </a:cubicBezTo>
                  <a:close/>
                </a:path>
              </a:pathLst>
            </a:custGeom>
            <a:solidFill>
              <a:srgbClr val="FFFFFF"/>
            </a:solidFill>
            <a:ln w="19050" cap="sq">
              <a:solidFill>
                <a:srgbClr val="DDE3D8"/>
              </a:solidFill>
              <a:prstDash val="solid"/>
              <a:miter/>
            </a:ln>
          </p:spPr>
        </p:sp>
      </p:grpSp>
      <p:grpSp>
        <p:nvGrpSpPr>
          <p:cNvPr id="19" name="Group 19"/>
          <p:cNvGrpSpPr/>
          <p:nvPr/>
        </p:nvGrpSpPr>
        <p:grpSpPr>
          <a:xfrm>
            <a:off x="15490317" y="7836027"/>
            <a:ext cx="1664208" cy="658368"/>
            <a:chOff x="0" y="0"/>
            <a:chExt cx="2218944" cy="877824"/>
          </a:xfrm>
        </p:grpSpPr>
        <p:sp>
          <p:nvSpPr>
            <p:cNvPr id="20" name="Freeform 20"/>
            <p:cNvSpPr/>
            <p:nvPr/>
          </p:nvSpPr>
          <p:spPr>
            <a:xfrm>
              <a:off x="0" y="0"/>
              <a:ext cx="2218944" cy="877824"/>
            </a:xfrm>
            <a:custGeom>
              <a:avLst/>
              <a:gdLst/>
              <a:ahLst/>
              <a:cxnLst/>
              <a:rect l="l" t="t" r="r" b="b"/>
              <a:pathLst>
                <a:path w="2218944" h="877824">
                  <a:moveTo>
                    <a:pt x="0" y="0"/>
                  </a:moveTo>
                  <a:lnTo>
                    <a:pt x="2218944" y="0"/>
                  </a:lnTo>
                  <a:lnTo>
                    <a:pt x="2218944" y="877824"/>
                  </a:lnTo>
                  <a:lnTo>
                    <a:pt x="0" y="877824"/>
                  </a:lnTo>
                  <a:close/>
                </a:path>
              </a:pathLst>
            </a:custGeom>
            <a:blipFill>
              <a:blip r:embed="rId4">
                <a:alphaModFix amt="0"/>
              </a:blip>
              <a:stretch>
                <a:fillRect l="-757" r="-757"/>
              </a:stretch>
            </a:blipFill>
          </p:spPr>
        </p:sp>
        <p:sp>
          <p:nvSpPr>
            <p:cNvPr id="21" name="TextBox 21"/>
            <p:cNvSpPr txBox="1"/>
            <p:nvPr/>
          </p:nvSpPr>
          <p:spPr>
            <a:xfrm>
              <a:off x="0" y="-47625"/>
              <a:ext cx="2218944" cy="925449"/>
            </a:xfrm>
            <a:prstGeom prst="rect">
              <a:avLst/>
            </a:prstGeom>
          </p:spPr>
          <p:txBody>
            <a:bodyPr lIns="0" tIns="0" rIns="0" bIns="0" rtlCol="0" anchor="ctr"/>
            <a:lstStyle/>
            <a:p>
              <a:pPr algn="ctr">
                <a:lnSpc>
                  <a:spcPts val="2639"/>
                </a:lnSpc>
              </a:pPr>
              <a:r>
                <a:rPr lang="en-US" sz="2199" b="1">
                  <a:solidFill>
                    <a:srgbClr val="2F6B3A"/>
                  </a:solidFill>
                  <a:latin typeface="Calibri (MS) Bold"/>
                  <a:ea typeface="Calibri (MS) Bold"/>
                  <a:cs typeface="Calibri (MS) Bold"/>
                  <a:sym typeface="Calibri (MS) Bold"/>
                </a:rPr>
                <a:t>DevSec</a:t>
              </a:r>
            </a:p>
          </p:txBody>
        </p:sp>
      </p:grpSp>
      <p:grpSp>
        <p:nvGrpSpPr>
          <p:cNvPr id="22" name="Group 22"/>
          <p:cNvGrpSpPr/>
          <p:nvPr/>
        </p:nvGrpSpPr>
        <p:grpSpPr>
          <a:xfrm rot="946823">
            <a:off x="12345939" y="7234133"/>
            <a:ext cx="6972652" cy="542682"/>
            <a:chOff x="0" y="0"/>
            <a:chExt cx="12192000" cy="948905"/>
          </a:xfrm>
        </p:grpSpPr>
        <p:sp>
          <p:nvSpPr>
            <p:cNvPr id="23" name="Freeform 23"/>
            <p:cNvSpPr/>
            <p:nvPr/>
          </p:nvSpPr>
          <p:spPr>
            <a:xfrm>
              <a:off x="0" y="0"/>
              <a:ext cx="12192000" cy="948905"/>
            </a:xfrm>
            <a:custGeom>
              <a:avLst/>
              <a:gdLst/>
              <a:ahLst/>
              <a:cxnLst/>
              <a:rect l="l" t="t" r="r" b="b"/>
              <a:pathLst>
                <a:path w="12192000" h="948905">
                  <a:moveTo>
                    <a:pt x="0" y="0"/>
                  </a:moveTo>
                  <a:lnTo>
                    <a:pt x="12192000" y="0"/>
                  </a:lnTo>
                  <a:lnTo>
                    <a:pt x="12192000" y="948905"/>
                  </a:lnTo>
                  <a:lnTo>
                    <a:pt x="0" y="948905"/>
                  </a:lnTo>
                  <a:close/>
                </a:path>
              </a:pathLst>
            </a:custGeom>
            <a:blipFill>
              <a:blip r:embed="rId4">
                <a:alphaModFix amt="0"/>
              </a:blip>
              <a:stretch>
                <a:fillRect t="-211807" b="-188898"/>
              </a:stretch>
            </a:blipFill>
          </p:spPr>
        </p:sp>
        <p:sp>
          <p:nvSpPr>
            <p:cNvPr id="24" name="TextBox 24"/>
            <p:cNvSpPr txBox="1"/>
            <p:nvPr/>
          </p:nvSpPr>
          <p:spPr>
            <a:xfrm>
              <a:off x="0" y="-57150"/>
              <a:ext cx="12192000" cy="1006055"/>
            </a:xfrm>
            <a:prstGeom prst="rect">
              <a:avLst/>
            </a:prstGeom>
          </p:spPr>
          <p:txBody>
            <a:bodyPr lIns="0" tIns="0" rIns="0" bIns="0" rtlCol="0" anchor="ctr"/>
            <a:lstStyle/>
            <a:p>
              <a:pPr algn="l">
                <a:lnSpc>
                  <a:spcPts val="3239"/>
                </a:lnSpc>
              </a:pPr>
              <a:r>
                <a:rPr lang="en-US" sz="2699" b="1" i="1">
                  <a:solidFill>
                    <a:srgbClr val="5F6B62"/>
                  </a:solidFill>
                  <a:latin typeface="Calibri (MS) Bold Italics"/>
                  <a:ea typeface="Calibri (MS) Bold Italics"/>
                  <a:cs typeface="Calibri (MS) Bold Italics"/>
                  <a:sym typeface="Calibri (MS) Bold Italics"/>
                </a:rPr>
                <a:t>eSaral Tech Team</a:t>
              </a:r>
            </a:p>
          </p:txBody>
        </p:sp>
      </p:grpSp>
      <p:grpSp>
        <p:nvGrpSpPr>
          <p:cNvPr id="25" name="Group 25"/>
          <p:cNvGrpSpPr/>
          <p:nvPr/>
        </p:nvGrpSpPr>
        <p:grpSpPr>
          <a:xfrm>
            <a:off x="8526868" y="1762801"/>
            <a:ext cx="9571121" cy="5742673"/>
            <a:chOff x="0" y="0"/>
            <a:chExt cx="12679680" cy="7607808"/>
          </a:xfrm>
        </p:grpSpPr>
        <p:sp>
          <p:nvSpPr>
            <p:cNvPr id="26" name="Freeform 26" descr="preencoded.png"/>
            <p:cNvSpPr/>
            <p:nvPr/>
          </p:nvSpPr>
          <p:spPr>
            <a:xfrm>
              <a:off x="0" y="0"/>
              <a:ext cx="12679680" cy="7607808"/>
            </a:xfrm>
            <a:custGeom>
              <a:avLst/>
              <a:gdLst/>
              <a:ahLst/>
              <a:cxnLst/>
              <a:rect l="l" t="t" r="r" b="b"/>
              <a:pathLst>
                <a:path w="12679680" h="7607808">
                  <a:moveTo>
                    <a:pt x="0" y="0"/>
                  </a:moveTo>
                  <a:lnTo>
                    <a:pt x="12679680" y="0"/>
                  </a:lnTo>
                  <a:lnTo>
                    <a:pt x="12679680" y="7607808"/>
                  </a:lnTo>
                  <a:lnTo>
                    <a:pt x="0" y="7607808"/>
                  </a:lnTo>
                  <a:lnTo>
                    <a:pt x="0" y="0"/>
                  </a:lnTo>
                  <a:close/>
                </a:path>
              </a:pathLst>
            </a:custGeom>
            <a:blipFill>
              <a:blip r:embed="rId6"/>
              <a:stretch>
                <a:fillRect/>
              </a:stretch>
            </a:blipFill>
          </p:spPr>
        </p:sp>
      </p:grpSp>
      <p:grpSp>
        <p:nvGrpSpPr>
          <p:cNvPr id="27" name="Group 27"/>
          <p:cNvGrpSpPr/>
          <p:nvPr/>
        </p:nvGrpSpPr>
        <p:grpSpPr>
          <a:xfrm>
            <a:off x="10031730" y="7680960"/>
            <a:ext cx="7132320" cy="822960"/>
            <a:chOff x="0" y="0"/>
            <a:chExt cx="9509760" cy="1097280"/>
          </a:xfrm>
        </p:grpSpPr>
        <p:sp>
          <p:nvSpPr>
            <p:cNvPr id="28" name="Freeform 28"/>
            <p:cNvSpPr/>
            <p:nvPr/>
          </p:nvSpPr>
          <p:spPr>
            <a:xfrm>
              <a:off x="0" y="0"/>
              <a:ext cx="9509760" cy="1097280"/>
            </a:xfrm>
            <a:custGeom>
              <a:avLst/>
              <a:gdLst/>
              <a:ahLst/>
              <a:cxnLst/>
              <a:rect l="l" t="t" r="r" b="b"/>
              <a:pathLst>
                <a:path w="9509760" h="1097280">
                  <a:moveTo>
                    <a:pt x="0" y="0"/>
                  </a:moveTo>
                  <a:lnTo>
                    <a:pt x="9509760" y="0"/>
                  </a:lnTo>
                  <a:lnTo>
                    <a:pt x="9509760" y="1097280"/>
                  </a:lnTo>
                  <a:lnTo>
                    <a:pt x="0" y="1097280"/>
                  </a:lnTo>
                  <a:close/>
                </a:path>
              </a:pathLst>
            </a:custGeom>
            <a:blipFill>
              <a:blip r:embed="rId4">
                <a:alphaModFix amt="0"/>
              </a:blip>
              <a:stretch>
                <a:fillRect t="-118870" b="-118870"/>
              </a:stretch>
            </a:blipFill>
          </p:spPr>
        </p:sp>
        <p:sp>
          <p:nvSpPr>
            <p:cNvPr id="29" name="TextBox 29"/>
            <p:cNvSpPr txBox="1"/>
            <p:nvPr/>
          </p:nvSpPr>
          <p:spPr>
            <a:xfrm>
              <a:off x="0" y="-38100"/>
              <a:ext cx="9509760" cy="1135380"/>
            </a:xfrm>
            <a:prstGeom prst="rect">
              <a:avLst/>
            </a:prstGeom>
          </p:spPr>
          <p:txBody>
            <a:bodyPr lIns="0" tIns="0" rIns="0" bIns="0" rtlCol="0" anchor="ctr"/>
            <a:lstStyle/>
            <a:p>
              <a:pPr algn="r">
                <a:lnSpc>
                  <a:spcPts val="2400"/>
                </a:lnSpc>
              </a:pPr>
              <a:endParaRPr/>
            </a:p>
          </p:txBody>
        </p:sp>
      </p:grpSp>
      <p:grpSp>
        <p:nvGrpSpPr>
          <p:cNvPr id="30" name="Group 30"/>
          <p:cNvGrpSpPr/>
          <p:nvPr/>
        </p:nvGrpSpPr>
        <p:grpSpPr>
          <a:xfrm>
            <a:off x="819150" y="3088896"/>
            <a:ext cx="7260039" cy="3747258"/>
            <a:chOff x="0" y="0"/>
            <a:chExt cx="9680052" cy="4996344"/>
          </a:xfrm>
        </p:grpSpPr>
        <p:sp>
          <p:nvSpPr>
            <p:cNvPr id="31" name="Freeform 31"/>
            <p:cNvSpPr/>
            <p:nvPr/>
          </p:nvSpPr>
          <p:spPr>
            <a:xfrm>
              <a:off x="3070739" y="0"/>
              <a:ext cx="3091365" cy="2972863"/>
            </a:xfrm>
            <a:custGeom>
              <a:avLst/>
              <a:gdLst/>
              <a:ahLst/>
              <a:cxnLst/>
              <a:rect l="l" t="t" r="r" b="b"/>
              <a:pathLst>
                <a:path w="3091365" h="2972863">
                  <a:moveTo>
                    <a:pt x="0" y="0"/>
                  </a:moveTo>
                  <a:lnTo>
                    <a:pt x="3091365" y="0"/>
                  </a:lnTo>
                  <a:lnTo>
                    <a:pt x="3091365" y="2972863"/>
                  </a:lnTo>
                  <a:lnTo>
                    <a:pt x="0" y="297286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32" name="TextBox 32"/>
            <p:cNvSpPr txBox="1"/>
            <p:nvPr/>
          </p:nvSpPr>
          <p:spPr>
            <a:xfrm>
              <a:off x="0" y="2901507"/>
              <a:ext cx="9680052" cy="2094836"/>
            </a:xfrm>
            <a:prstGeom prst="rect">
              <a:avLst/>
            </a:prstGeom>
          </p:spPr>
          <p:txBody>
            <a:bodyPr lIns="0" tIns="0" rIns="0" bIns="0" rtlCol="0" anchor="t">
              <a:spAutoFit/>
            </a:bodyPr>
            <a:lstStyle/>
            <a:p>
              <a:pPr algn="ctr">
                <a:lnSpc>
                  <a:spcPts val="13134"/>
                </a:lnSpc>
                <a:spcBef>
                  <a:spcPct val="0"/>
                </a:spcBef>
              </a:pPr>
              <a:r>
                <a:rPr lang="en-US" sz="9381"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5EC"/>
        </a:solidFill>
        <a:effectLst/>
      </p:bgPr>
    </p:bg>
    <p:spTree>
      <p:nvGrpSpPr>
        <p:cNvPr id="1" name=""/>
        <p:cNvGrpSpPr/>
        <p:nvPr/>
      </p:nvGrpSpPr>
      <p:grpSpPr>
        <a:xfrm>
          <a:off x="0" y="0"/>
          <a:ext cx="0" cy="0"/>
          <a:chOff x="0" y="0"/>
          <a:chExt cx="0" cy="0"/>
        </a:xfrm>
      </p:grpSpPr>
      <p:sp>
        <p:nvSpPr>
          <p:cNvPr id="2" name="Freeform 2"/>
          <p:cNvSpPr/>
          <p:nvPr/>
        </p:nvSpPr>
        <p:spPr>
          <a:xfrm>
            <a:off x="6582039" y="2051629"/>
            <a:ext cx="5123923" cy="6183743"/>
          </a:xfrm>
          <a:custGeom>
            <a:avLst/>
            <a:gdLst/>
            <a:ahLst/>
            <a:cxnLst/>
            <a:rect l="l" t="t" r="r" b="b"/>
            <a:pathLst>
              <a:path w="5123923" h="6183743">
                <a:moveTo>
                  <a:pt x="0" y="0"/>
                </a:moveTo>
                <a:lnTo>
                  <a:pt x="5123922" y="0"/>
                </a:lnTo>
                <a:lnTo>
                  <a:pt x="5123922" y="6183742"/>
                </a:lnTo>
                <a:lnTo>
                  <a:pt x="0" y="6183742"/>
                </a:lnTo>
                <a:lnTo>
                  <a:pt x="0" y="0"/>
                </a:lnTo>
                <a:close/>
              </a:path>
            </a:pathLst>
          </a:custGeom>
          <a:blipFill>
            <a:blip r:embed="rId2"/>
            <a:stretch>
              <a:fillRect/>
            </a:stretch>
          </a:blipFill>
        </p:spPr>
      </p:sp>
      <p:sp>
        <p:nvSpPr>
          <p:cNvPr id="3" name="Freeform 3"/>
          <p:cNvSpPr/>
          <p:nvPr/>
        </p:nvSpPr>
        <p:spPr>
          <a:xfrm>
            <a:off x="-1641845" y="0"/>
            <a:ext cx="21571691" cy="10287000"/>
          </a:xfrm>
          <a:custGeom>
            <a:avLst/>
            <a:gdLst/>
            <a:ahLst/>
            <a:cxnLst/>
            <a:rect l="l" t="t" r="r" b="b"/>
            <a:pathLst>
              <a:path w="21571691" h="10287000">
                <a:moveTo>
                  <a:pt x="0" y="0"/>
                </a:moveTo>
                <a:lnTo>
                  <a:pt x="21571690" y="0"/>
                </a:lnTo>
                <a:lnTo>
                  <a:pt x="21571690" y="10287000"/>
                </a:lnTo>
                <a:lnTo>
                  <a:pt x="0" y="10287000"/>
                </a:lnTo>
                <a:lnTo>
                  <a:pt x="0" y="0"/>
                </a:lnTo>
                <a:close/>
              </a:path>
            </a:pathLst>
          </a:custGeom>
          <a:blipFill>
            <a:blip r:embed="rId3"/>
            <a:stretch>
              <a:fillRect/>
            </a:stretch>
          </a:blipFill>
        </p:spPr>
      </p:sp>
      <p:sp>
        <p:nvSpPr>
          <p:cNvPr id="4" name="Freeform 4"/>
          <p:cNvSpPr/>
          <p:nvPr/>
        </p:nvSpPr>
        <p:spPr>
          <a:xfrm>
            <a:off x="13212774" y="3821435"/>
            <a:ext cx="4812746" cy="4413937"/>
          </a:xfrm>
          <a:custGeom>
            <a:avLst/>
            <a:gdLst/>
            <a:ahLst/>
            <a:cxnLst/>
            <a:rect l="l" t="t" r="r" b="b"/>
            <a:pathLst>
              <a:path w="4812746" h="4413937">
                <a:moveTo>
                  <a:pt x="0" y="0"/>
                </a:moveTo>
                <a:lnTo>
                  <a:pt x="4812746" y="0"/>
                </a:lnTo>
                <a:lnTo>
                  <a:pt x="4812746" y="4413936"/>
                </a:lnTo>
                <a:lnTo>
                  <a:pt x="0" y="4413936"/>
                </a:lnTo>
                <a:lnTo>
                  <a:pt x="0" y="0"/>
                </a:lnTo>
                <a:close/>
              </a:path>
            </a:pathLst>
          </a:custGeom>
          <a:blipFill>
            <a:blip r:embed="rId4"/>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0" y="1395984"/>
            <a:ext cx="16459200" cy="1116330"/>
          </a:xfrm>
          <a:prstGeom prst="rect">
            <a:avLst/>
          </a:prstGeom>
        </p:spPr>
        <p:txBody>
          <a:bodyPr lIns="0" tIns="0" rIns="0" bIns="0" rtlCol="0" anchor="t">
            <a:spAutoFit/>
          </a:bodyPr>
          <a:lstStyle/>
          <a:p>
            <a:pPr algn="l">
              <a:lnSpc>
                <a:spcPts val="6239"/>
              </a:lnSpc>
            </a:pPr>
            <a:r>
              <a:rPr lang="en-US" sz="5199" b="1">
                <a:solidFill>
                  <a:srgbClr val="1A231C"/>
                </a:solidFill>
                <a:latin typeface="Arial Bold"/>
                <a:ea typeface="Arial Bold"/>
                <a:cs typeface="Arial Bold"/>
                <a:sym typeface="Arial Bold"/>
              </a:rPr>
              <a:t>Three security failures in six weeks</a:t>
            </a:r>
          </a:p>
        </p:txBody>
      </p:sp>
      <p:grpSp>
        <p:nvGrpSpPr>
          <p:cNvPr id="3" name="Group 3"/>
          <p:cNvGrpSpPr/>
          <p:nvPr/>
        </p:nvGrpSpPr>
        <p:grpSpPr>
          <a:xfrm>
            <a:off x="904875" y="2868549"/>
            <a:ext cx="5322570" cy="5871210"/>
            <a:chOff x="0" y="0"/>
            <a:chExt cx="7096760" cy="7828280"/>
          </a:xfrm>
        </p:grpSpPr>
        <p:sp>
          <p:nvSpPr>
            <p:cNvPr id="4" name="Freeform 4"/>
            <p:cNvSpPr/>
            <p:nvPr/>
          </p:nvSpPr>
          <p:spPr>
            <a:xfrm>
              <a:off x="0" y="0"/>
              <a:ext cx="7096761" cy="7828280"/>
            </a:xfrm>
            <a:custGeom>
              <a:avLst/>
              <a:gdLst/>
              <a:ahLst/>
              <a:cxnLst/>
              <a:rect l="l" t="t" r="r" b="b"/>
              <a:pathLst>
                <a:path w="7096761" h="7828280">
                  <a:moveTo>
                    <a:pt x="0" y="244729"/>
                  </a:moveTo>
                  <a:cubicBezTo>
                    <a:pt x="0" y="109601"/>
                    <a:pt x="109601" y="0"/>
                    <a:pt x="244729" y="0"/>
                  </a:cubicBezTo>
                  <a:lnTo>
                    <a:pt x="6852031" y="0"/>
                  </a:lnTo>
                  <a:cubicBezTo>
                    <a:pt x="6987160" y="0"/>
                    <a:pt x="7096761" y="109601"/>
                    <a:pt x="7096761" y="244729"/>
                  </a:cubicBezTo>
                  <a:lnTo>
                    <a:pt x="7096761" y="7583551"/>
                  </a:lnTo>
                  <a:cubicBezTo>
                    <a:pt x="7096761" y="7718679"/>
                    <a:pt x="6987160" y="7828280"/>
                    <a:pt x="6852031" y="7828280"/>
                  </a:cubicBezTo>
                  <a:lnTo>
                    <a:pt x="244729" y="7828280"/>
                  </a:lnTo>
                  <a:cubicBezTo>
                    <a:pt x="109601" y="7828280"/>
                    <a:pt x="0" y="7718679"/>
                    <a:pt x="0" y="7583551"/>
                  </a:cubicBezTo>
                  <a:close/>
                </a:path>
              </a:pathLst>
            </a:custGeom>
            <a:solidFill>
              <a:srgbClr val="F2F5EC"/>
            </a:solidFill>
            <a:ln w="19050" cap="sq">
              <a:solidFill>
                <a:srgbClr val="F2F5EC"/>
              </a:solidFill>
              <a:prstDash val="solid"/>
              <a:miter/>
            </a:ln>
          </p:spPr>
        </p:sp>
      </p:grpSp>
      <p:grpSp>
        <p:nvGrpSpPr>
          <p:cNvPr id="5" name="Group 5"/>
          <p:cNvGrpSpPr/>
          <p:nvPr/>
        </p:nvGrpSpPr>
        <p:grpSpPr>
          <a:xfrm>
            <a:off x="1304039" y="3267713"/>
            <a:ext cx="793499" cy="793499"/>
            <a:chOff x="0" y="0"/>
            <a:chExt cx="1057999" cy="1057999"/>
          </a:xfrm>
        </p:grpSpPr>
        <p:sp>
          <p:nvSpPr>
            <p:cNvPr id="6" name="Freeform 6"/>
            <p:cNvSpPr/>
            <p:nvPr/>
          </p:nvSpPr>
          <p:spPr>
            <a:xfrm>
              <a:off x="0" y="0"/>
              <a:ext cx="1058037" cy="1058037"/>
            </a:xfrm>
            <a:custGeom>
              <a:avLst/>
              <a:gdLst/>
              <a:ahLst/>
              <a:cxnLst/>
              <a:rect l="l" t="t" r="r" b="b"/>
              <a:pathLst>
                <a:path w="1058037" h="1058037">
                  <a:moveTo>
                    <a:pt x="0" y="528955"/>
                  </a:moveTo>
                  <a:cubicBezTo>
                    <a:pt x="0" y="236855"/>
                    <a:pt x="236855" y="0"/>
                    <a:pt x="528955" y="0"/>
                  </a:cubicBezTo>
                  <a:cubicBezTo>
                    <a:pt x="821055" y="0"/>
                    <a:pt x="1058037" y="236855"/>
                    <a:pt x="1058037" y="528955"/>
                  </a:cubicBezTo>
                  <a:cubicBezTo>
                    <a:pt x="1058037" y="821055"/>
                    <a:pt x="821182" y="1058037"/>
                    <a:pt x="528955" y="1058037"/>
                  </a:cubicBezTo>
                  <a:cubicBezTo>
                    <a:pt x="236728" y="1058037"/>
                    <a:pt x="0" y="821182"/>
                    <a:pt x="0" y="528955"/>
                  </a:cubicBezTo>
                  <a:close/>
                </a:path>
              </a:pathLst>
            </a:custGeom>
            <a:solidFill>
              <a:srgbClr val="F8E3DF"/>
            </a:solidFill>
            <a:ln w="25400" cap="sq">
              <a:solidFill>
                <a:srgbClr val="F8E3DF"/>
              </a:solidFill>
              <a:prstDash val="solid"/>
              <a:miter/>
            </a:ln>
          </p:spPr>
        </p:sp>
      </p:grpSp>
      <p:grpSp>
        <p:nvGrpSpPr>
          <p:cNvPr id="7" name="Group 7"/>
          <p:cNvGrpSpPr/>
          <p:nvPr/>
        </p:nvGrpSpPr>
        <p:grpSpPr>
          <a:xfrm>
            <a:off x="1501083" y="3464757"/>
            <a:ext cx="399412" cy="399412"/>
            <a:chOff x="0" y="0"/>
            <a:chExt cx="532549" cy="532549"/>
          </a:xfrm>
        </p:grpSpPr>
        <p:sp>
          <p:nvSpPr>
            <p:cNvPr id="8" name="Freeform 8" descr="preencoded.png"/>
            <p:cNvSpPr/>
            <p:nvPr/>
          </p:nvSpPr>
          <p:spPr>
            <a:xfrm>
              <a:off x="0" y="0"/>
              <a:ext cx="532511" cy="532511"/>
            </a:xfrm>
            <a:custGeom>
              <a:avLst/>
              <a:gdLst/>
              <a:ahLst/>
              <a:cxnLst/>
              <a:rect l="l" t="t" r="r" b="b"/>
              <a:pathLst>
                <a:path w="532511" h="532511">
                  <a:moveTo>
                    <a:pt x="0" y="0"/>
                  </a:moveTo>
                  <a:lnTo>
                    <a:pt x="532511" y="0"/>
                  </a:lnTo>
                  <a:lnTo>
                    <a:pt x="532511" y="532511"/>
                  </a:lnTo>
                  <a:lnTo>
                    <a:pt x="0" y="532511"/>
                  </a:lnTo>
                  <a:lnTo>
                    <a:pt x="0" y="0"/>
                  </a:lnTo>
                  <a:close/>
                </a:path>
              </a:pathLst>
            </a:custGeom>
            <a:blipFill>
              <a:blip r:embed="rId3"/>
              <a:stretch>
                <a:fillRect r="-7" b="-7"/>
              </a:stretch>
            </a:blipFill>
          </p:spPr>
        </p:sp>
      </p:grpSp>
      <p:grpSp>
        <p:nvGrpSpPr>
          <p:cNvPr id="9" name="Group 9"/>
          <p:cNvGrpSpPr/>
          <p:nvPr/>
        </p:nvGrpSpPr>
        <p:grpSpPr>
          <a:xfrm>
            <a:off x="2340864" y="3243834"/>
            <a:ext cx="3657600" cy="493776"/>
            <a:chOff x="0" y="0"/>
            <a:chExt cx="4876800" cy="658368"/>
          </a:xfrm>
        </p:grpSpPr>
        <p:sp>
          <p:nvSpPr>
            <p:cNvPr id="10" name="Freeform 10"/>
            <p:cNvSpPr/>
            <p:nvPr/>
          </p:nvSpPr>
          <p:spPr>
            <a:xfrm>
              <a:off x="0" y="0"/>
              <a:ext cx="4876800" cy="658368"/>
            </a:xfrm>
            <a:custGeom>
              <a:avLst/>
              <a:gdLst/>
              <a:ahLst/>
              <a:cxnLst/>
              <a:rect l="l" t="t" r="r" b="b"/>
              <a:pathLst>
                <a:path w="4876800" h="658368">
                  <a:moveTo>
                    <a:pt x="0" y="0"/>
                  </a:moveTo>
                  <a:lnTo>
                    <a:pt x="4876800" y="0"/>
                  </a:lnTo>
                  <a:lnTo>
                    <a:pt x="4876800" y="658368"/>
                  </a:lnTo>
                  <a:lnTo>
                    <a:pt x="0" y="658368"/>
                  </a:lnTo>
                  <a:close/>
                </a:path>
              </a:pathLst>
            </a:custGeom>
            <a:blipFill>
              <a:blip r:embed="rId4">
                <a:alphaModFix amt="0"/>
              </a:blip>
              <a:stretch>
                <a:fillRect t="-94333" b="-94333"/>
              </a:stretch>
            </a:blipFill>
          </p:spPr>
        </p:sp>
        <p:sp>
          <p:nvSpPr>
            <p:cNvPr id="11" name="TextBox 11"/>
            <p:cNvSpPr txBox="1"/>
            <p:nvPr/>
          </p:nvSpPr>
          <p:spPr>
            <a:xfrm>
              <a:off x="0" y="-19050"/>
              <a:ext cx="4876800" cy="677418"/>
            </a:xfrm>
            <a:prstGeom prst="rect">
              <a:avLst/>
            </a:prstGeom>
          </p:spPr>
          <p:txBody>
            <a:bodyPr lIns="0" tIns="0" rIns="0" bIns="0" rtlCol="0" anchor="ctr"/>
            <a:lstStyle/>
            <a:p>
              <a:pPr algn="l">
                <a:lnSpc>
                  <a:spcPts val="3600"/>
                </a:lnSpc>
              </a:pPr>
              <a:r>
                <a:rPr lang="en-US" sz="3000" b="1">
                  <a:solidFill>
                    <a:srgbClr val="1A231C"/>
                  </a:solidFill>
                  <a:latin typeface="Arial Bold"/>
                  <a:ea typeface="Arial Bold"/>
                  <a:cs typeface="Arial Bold"/>
                  <a:sym typeface="Arial Bold"/>
                </a:rPr>
                <a:t>eMudhra</a:t>
              </a:r>
            </a:p>
          </p:txBody>
        </p:sp>
      </p:grpSp>
      <p:grpSp>
        <p:nvGrpSpPr>
          <p:cNvPr id="12" name="Group 12"/>
          <p:cNvGrpSpPr/>
          <p:nvPr/>
        </p:nvGrpSpPr>
        <p:grpSpPr>
          <a:xfrm>
            <a:off x="2340864" y="3737610"/>
            <a:ext cx="3749040" cy="402336"/>
            <a:chOff x="0" y="0"/>
            <a:chExt cx="4998720" cy="536448"/>
          </a:xfrm>
        </p:grpSpPr>
        <p:sp>
          <p:nvSpPr>
            <p:cNvPr id="13" name="Freeform 13"/>
            <p:cNvSpPr/>
            <p:nvPr/>
          </p:nvSpPr>
          <p:spPr>
            <a:xfrm>
              <a:off x="0" y="0"/>
              <a:ext cx="4998720" cy="536448"/>
            </a:xfrm>
            <a:custGeom>
              <a:avLst/>
              <a:gdLst/>
              <a:ahLst/>
              <a:cxnLst/>
              <a:rect l="l" t="t" r="r" b="b"/>
              <a:pathLst>
                <a:path w="4998720" h="536448">
                  <a:moveTo>
                    <a:pt x="0" y="0"/>
                  </a:moveTo>
                  <a:lnTo>
                    <a:pt x="4998720" y="0"/>
                  </a:lnTo>
                  <a:lnTo>
                    <a:pt x="4998720" y="536448"/>
                  </a:lnTo>
                  <a:lnTo>
                    <a:pt x="0" y="536448"/>
                  </a:lnTo>
                  <a:close/>
                </a:path>
              </a:pathLst>
            </a:custGeom>
            <a:blipFill>
              <a:blip r:embed="rId4">
                <a:alphaModFix amt="0"/>
              </a:blip>
              <a:stretch>
                <a:fillRect t="-131565" b="-131565"/>
              </a:stretch>
            </a:blipFill>
          </p:spPr>
        </p:sp>
        <p:sp>
          <p:nvSpPr>
            <p:cNvPr id="14" name="TextBox 14"/>
            <p:cNvSpPr txBox="1"/>
            <p:nvPr/>
          </p:nvSpPr>
          <p:spPr>
            <a:xfrm>
              <a:off x="0" y="-38100"/>
              <a:ext cx="4998720" cy="574548"/>
            </a:xfrm>
            <a:prstGeom prst="rect">
              <a:avLst/>
            </a:prstGeom>
          </p:spPr>
          <p:txBody>
            <a:bodyPr lIns="0" tIns="0" rIns="0" bIns="0" rtlCol="0" anchor="ctr"/>
            <a:lstStyle/>
            <a:p>
              <a:pPr algn="l">
                <a:lnSpc>
                  <a:spcPts val="2160"/>
                </a:lnSpc>
              </a:pPr>
              <a:r>
                <a:rPr lang="en-US" sz="1800">
                  <a:solidFill>
                    <a:srgbClr val="5F6B62"/>
                  </a:solidFill>
                  <a:latin typeface="Calibri (MS)"/>
                  <a:ea typeface="Calibri (MS)"/>
                  <a:cs typeface="Calibri (MS)"/>
                  <a:sym typeface="Calibri (MS)"/>
                </a:rPr>
                <a:t>Oct 17, 2026  |  Certificate authority</a:t>
              </a:r>
            </a:p>
          </p:txBody>
        </p:sp>
      </p:grpSp>
      <p:grpSp>
        <p:nvGrpSpPr>
          <p:cNvPr id="15" name="Group 15"/>
          <p:cNvGrpSpPr/>
          <p:nvPr/>
        </p:nvGrpSpPr>
        <p:grpSpPr>
          <a:xfrm>
            <a:off x="1316736" y="4432554"/>
            <a:ext cx="4572000" cy="1097280"/>
            <a:chOff x="0" y="0"/>
            <a:chExt cx="6096000" cy="1463040"/>
          </a:xfrm>
        </p:grpSpPr>
        <p:sp>
          <p:nvSpPr>
            <p:cNvPr id="16" name="Freeform 16"/>
            <p:cNvSpPr/>
            <p:nvPr/>
          </p:nvSpPr>
          <p:spPr>
            <a:xfrm>
              <a:off x="0" y="0"/>
              <a:ext cx="6096000" cy="1463040"/>
            </a:xfrm>
            <a:custGeom>
              <a:avLst/>
              <a:gdLst/>
              <a:ahLst/>
              <a:cxnLst/>
              <a:rect l="l" t="t" r="r" b="b"/>
              <a:pathLst>
                <a:path w="6096000" h="1463040">
                  <a:moveTo>
                    <a:pt x="0" y="0"/>
                  </a:moveTo>
                  <a:lnTo>
                    <a:pt x="6096000" y="0"/>
                  </a:lnTo>
                  <a:lnTo>
                    <a:pt x="6096000" y="1463040"/>
                  </a:lnTo>
                  <a:lnTo>
                    <a:pt x="0" y="1463040"/>
                  </a:lnTo>
                  <a:close/>
                </a:path>
              </a:pathLst>
            </a:custGeom>
            <a:blipFill>
              <a:blip r:embed="rId4">
                <a:alphaModFix amt="0"/>
              </a:blip>
              <a:stretch>
                <a:fillRect t="-31187" b="-31187"/>
              </a:stretch>
            </a:blipFill>
          </p:spPr>
        </p:sp>
        <p:sp>
          <p:nvSpPr>
            <p:cNvPr id="17" name="TextBox 17"/>
            <p:cNvSpPr txBox="1"/>
            <p:nvPr/>
          </p:nvSpPr>
          <p:spPr>
            <a:xfrm>
              <a:off x="0" y="-28575"/>
              <a:ext cx="6096000" cy="1491615"/>
            </a:xfrm>
            <a:prstGeom prst="rect">
              <a:avLst/>
            </a:prstGeom>
          </p:spPr>
          <p:txBody>
            <a:bodyPr lIns="0" tIns="0" rIns="0" bIns="0" rtlCol="0" anchor="ctr"/>
            <a:lstStyle/>
            <a:p>
              <a:pPr algn="l">
                <a:lnSpc>
                  <a:spcPts val="7679"/>
                </a:lnSpc>
              </a:pPr>
              <a:r>
                <a:rPr lang="en-US" sz="6399" b="1">
                  <a:solidFill>
                    <a:srgbClr val="B23A2E"/>
                  </a:solidFill>
                  <a:latin typeface="Arial Bold"/>
                  <a:ea typeface="Arial Bold"/>
                  <a:cs typeface="Arial Bold"/>
                  <a:sym typeface="Arial Bold"/>
                </a:rPr>
                <a:t>-20%</a:t>
              </a:r>
            </a:p>
          </p:txBody>
        </p:sp>
      </p:grpSp>
      <p:sp>
        <p:nvSpPr>
          <p:cNvPr id="18" name="TextBox 18"/>
          <p:cNvSpPr txBox="1"/>
          <p:nvPr/>
        </p:nvSpPr>
        <p:spPr>
          <a:xfrm>
            <a:off x="1316736" y="5482209"/>
            <a:ext cx="4572000" cy="779145"/>
          </a:xfrm>
          <a:prstGeom prst="rect">
            <a:avLst/>
          </a:prstGeom>
        </p:spPr>
        <p:txBody>
          <a:bodyPr lIns="0" tIns="0" rIns="0" bIns="0" rtlCol="0" anchor="t">
            <a:spAutoFit/>
          </a:bodyPr>
          <a:lstStyle/>
          <a:p>
            <a:pPr algn="l">
              <a:lnSpc>
                <a:spcPts val="2639"/>
              </a:lnSpc>
            </a:pPr>
            <a:r>
              <a:rPr lang="en-US" sz="2199" b="1">
                <a:solidFill>
                  <a:srgbClr val="1A231C"/>
                </a:solidFill>
                <a:latin typeface="Calibri (MS) Bold"/>
                <a:ea typeface="Calibri (MS) Bold"/>
                <a:cs typeface="Calibri (MS) Bold"/>
                <a:sym typeface="Calibri (MS) Bold"/>
              </a:rPr>
              <a:t>share price in a single session</a:t>
            </a:r>
          </a:p>
        </p:txBody>
      </p:sp>
      <p:sp>
        <p:nvSpPr>
          <p:cNvPr id="19" name="TextBox 19"/>
          <p:cNvSpPr txBox="1"/>
          <p:nvPr/>
        </p:nvSpPr>
        <p:spPr>
          <a:xfrm>
            <a:off x="1316736" y="6305169"/>
            <a:ext cx="4535424" cy="2242185"/>
          </a:xfrm>
          <a:prstGeom prst="rect">
            <a:avLst/>
          </a:prstGeom>
        </p:spPr>
        <p:txBody>
          <a:bodyPr lIns="0" tIns="0" rIns="0" bIns="0" rtlCol="0" anchor="t">
            <a:spAutoFit/>
          </a:bodyPr>
          <a:lstStyle/>
          <a:p>
            <a:pPr algn="l">
              <a:lnSpc>
                <a:spcPts val="2520"/>
              </a:lnSpc>
            </a:pPr>
            <a:r>
              <a:rPr lang="en-US" sz="2100">
                <a:solidFill>
                  <a:srgbClr val="5F6B62"/>
                </a:solidFill>
                <a:latin typeface="Calibri (MS)"/>
                <a:ea typeface="Calibri (MS)"/>
                <a:cs typeface="Calibri (MS)"/>
                <a:sym typeface="Calibri (MS)"/>
              </a:rPr>
              <a:t>Private keys for 8 intermediate certificates were trivially guessable. Missed for about 18 months, across two audits. Mozilla and Google moved to distrust.</a:t>
            </a:r>
          </a:p>
        </p:txBody>
      </p:sp>
      <p:grpSp>
        <p:nvGrpSpPr>
          <p:cNvPr id="20" name="Group 20"/>
          <p:cNvGrpSpPr/>
          <p:nvPr/>
        </p:nvGrpSpPr>
        <p:grpSpPr>
          <a:xfrm>
            <a:off x="6574155" y="2868549"/>
            <a:ext cx="5322570" cy="5871210"/>
            <a:chOff x="0" y="0"/>
            <a:chExt cx="7096760" cy="7828280"/>
          </a:xfrm>
        </p:grpSpPr>
        <p:sp>
          <p:nvSpPr>
            <p:cNvPr id="21" name="Freeform 21"/>
            <p:cNvSpPr/>
            <p:nvPr/>
          </p:nvSpPr>
          <p:spPr>
            <a:xfrm>
              <a:off x="0" y="0"/>
              <a:ext cx="7096761" cy="7828280"/>
            </a:xfrm>
            <a:custGeom>
              <a:avLst/>
              <a:gdLst/>
              <a:ahLst/>
              <a:cxnLst/>
              <a:rect l="l" t="t" r="r" b="b"/>
              <a:pathLst>
                <a:path w="7096761" h="7828280">
                  <a:moveTo>
                    <a:pt x="0" y="244729"/>
                  </a:moveTo>
                  <a:cubicBezTo>
                    <a:pt x="0" y="109601"/>
                    <a:pt x="109601" y="0"/>
                    <a:pt x="244729" y="0"/>
                  </a:cubicBezTo>
                  <a:lnTo>
                    <a:pt x="6852031" y="0"/>
                  </a:lnTo>
                  <a:cubicBezTo>
                    <a:pt x="6987160" y="0"/>
                    <a:pt x="7096761" y="109601"/>
                    <a:pt x="7096761" y="244729"/>
                  </a:cubicBezTo>
                  <a:lnTo>
                    <a:pt x="7096761" y="7583551"/>
                  </a:lnTo>
                  <a:cubicBezTo>
                    <a:pt x="7096761" y="7718679"/>
                    <a:pt x="6987160" y="7828280"/>
                    <a:pt x="6852031" y="7828280"/>
                  </a:cubicBezTo>
                  <a:lnTo>
                    <a:pt x="244729" y="7828280"/>
                  </a:lnTo>
                  <a:cubicBezTo>
                    <a:pt x="109601" y="7828280"/>
                    <a:pt x="0" y="7718679"/>
                    <a:pt x="0" y="7583551"/>
                  </a:cubicBezTo>
                  <a:close/>
                </a:path>
              </a:pathLst>
            </a:custGeom>
            <a:solidFill>
              <a:srgbClr val="F2F5EC"/>
            </a:solidFill>
            <a:ln w="19050" cap="sq">
              <a:solidFill>
                <a:srgbClr val="F2F5EC"/>
              </a:solidFill>
              <a:prstDash val="solid"/>
              <a:miter/>
            </a:ln>
          </p:spPr>
        </p:sp>
      </p:grpSp>
      <p:grpSp>
        <p:nvGrpSpPr>
          <p:cNvPr id="22" name="Group 22"/>
          <p:cNvGrpSpPr/>
          <p:nvPr/>
        </p:nvGrpSpPr>
        <p:grpSpPr>
          <a:xfrm>
            <a:off x="6973319" y="3267713"/>
            <a:ext cx="793499" cy="793499"/>
            <a:chOff x="0" y="0"/>
            <a:chExt cx="1057999" cy="1057999"/>
          </a:xfrm>
        </p:grpSpPr>
        <p:sp>
          <p:nvSpPr>
            <p:cNvPr id="23" name="Freeform 23"/>
            <p:cNvSpPr/>
            <p:nvPr/>
          </p:nvSpPr>
          <p:spPr>
            <a:xfrm>
              <a:off x="0" y="0"/>
              <a:ext cx="1058037" cy="1058037"/>
            </a:xfrm>
            <a:custGeom>
              <a:avLst/>
              <a:gdLst/>
              <a:ahLst/>
              <a:cxnLst/>
              <a:rect l="l" t="t" r="r" b="b"/>
              <a:pathLst>
                <a:path w="1058037" h="1058037">
                  <a:moveTo>
                    <a:pt x="0" y="528955"/>
                  </a:moveTo>
                  <a:cubicBezTo>
                    <a:pt x="0" y="236855"/>
                    <a:pt x="236855" y="0"/>
                    <a:pt x="528955" y="0"/>
                  </a:cubicBezTo>
                  <a:cubicBezTo>
                    <a:pt x="821055" y="0"/>
                    <a:pt x="1058037" y="236855"/>
                    <a:pt x="1058037" y="528955"/>
                  </a:cubicBezTo>
                  <a:cubicBezTo>
                    <a:pt x="1058037" y="821055"/>
                    <a:pt x="821182" y="1058037"/>
                    <a:pt x="528955" y="1058037"/>
                  </a:cubicBezTo>
                  <a:cubicBezTo>
                    <a:pt x="236728" y="1058037"/>
                    <a:pt x="0" y="821182"/>
                    <a:pt x="0" y="528955"/>
                  </a:cubicBezTo>
                  <a:close/>
                </a:path>
              </a:pathLst>
            </a:custGeom>
            <a:solidFill>
              <a:srgbClr val="F8E3DF"/>
            </a:solidFill>
            <a:ln w="25400" cap="sq">
              <a:solidFill>
                <a:srgbClr val="F8E3DF"/>
              </a:solidFill>
              <a:prstDash val="solid"/>
              <a:miter/>
            </a:ln>
          </p:spPr>
        </p:sp>
      </p:grpSp>
      <p:grpSp>
        <p:nvGrpSpPr>
          <p:cNvPr id="24" name="Group 24"/>
          <p:cNvGrpSpPr/>
          <p:nvPr/>
        </p:nvGrpSpPr>
        <p:grpSpPr>
          <a:xfrm>
            <a:off x="7170363" y="3464757"/>
            <a:ext cx="399412" cy="399412"/>
            <a:chOff x="0" y="0"/>
            <a:chExt cx="532549" cy="532549"/>
          </a:xfrm>
        </p:grpSpPr>
        <p:sp>
          <p:nvSpPr>
            <p:cNvPr id="25" name="Freeform 25" descr="preencoded.png"/>
            <p:cNvSpPr/>
            <p:nvPr/>
          </p:nvSpPr>
          <p:spPr>
            <a:xfrm>
              <a:off x="0" y="0"/>
              <a:ext cx="532511" cy="532511"/>
            </a:xfrm>
            <a:custGeom>
              <a:avLst/>
              <a:gdLst/>
              <a:ahLst/>
              <a:cxnLst/>
              <a:rect l="l" t="t" r="r" b="b"/>
              <a:pathLst>
                <a:path w="532511" h="532511">
                  <a:moveTo>
                    <a:pt x="0" y="0"/>
                  </a:moveTo>
                  <a:lnTo>
                    <a:pt x="532511" y="0"/>
                  </a:lnTo>
                  <a:lnTo>
                    <a:pt x="532511" y="532511"/>
                  </a:lnTo>
                  <a:lnTo>
                    <a:pt x="0" y="532511"/>
                  </a:lnTo>
                  <a:lnTo>
                    <a:pt x="0" y="0"/>
                  </a:lnTo>
                  <a:close/>
                </a:path>
              </a:pathLst>
            </a:custGeom>
            <a:blipFill>
              <a:blip r:embed="rId5"/>
              <a:stretch>
                <a:fillRect r="-7" b="-7"/>
              </a:stretch>
            </a:blipFill>
          </p:spPr>
        </p:sp>
      </p:grpSp>
      <p:grpSp>
        <p:nvGrpSpPr>
          <p:cNvPr id="26" name="Group 26"/>
          <p:cNvGrpSpPr/>
          <p:nvPr/>
        </p:nvGrpSpPr>
        <p:grpSpPr>
          <a:xfrm>
            <a:off x="8010144" y="3243834"/>
            <a:ext cx="3657600" cy="493776"/>
            <a:chOff x="0" y="0"/>
            <a:chExt cx="4876800" cy="658368"/>
          </a:xfrm>
        </p:grpSpPr>
        <p:sp>
          <p:nvSpPr>
            <p:cNvPr id="27" name="Freeform 27"/>
            <p:cNvSpPr/>
            <p:nvPr/>
          </p:nvSpPr>
          <p:spPr>
            <a:xfrm>
              <a:off x="0" y="0"/>
              <a:ext cx="4876800" cy="658368"/>
            </a:xfrm>
            <a:custGeom>
              <a:avLst/>
              <a:gdLst/>
              <a:ahLst/>
              <a:cxnLst/>
              <a:rect l="l" t="t" r="r" b="b"/>
              <a:pathLst>
                <a:path w="4876800" h="658368">
                  <a:moveTo>
                    <a:pt x="0" y="0"/>
                  </a:moveTo>
                  <a:lnTo>
                    <a:pt x="4876800" y="0"/>
                  </a:lnTo>
                  <a:lnTo>
                    <a:pt x="4876800" y="658368"/>
                  </a:lnTo>
                  <a:lnTo>
                    <a:pt x="0" y="658368"/>
                  </a:lnTo>
                  <a:close/>
                </a:path>
              </a:pathLst>
            </a:custGeom>
            <a:blipFill>
              <a:blip r:embed="rId4">
                <a:alphaModFix amt="0"/>
              </a:blip>
              <a:stretch>
                <a:fillRect t="-94333" b="-94333"/>
              </a:stretch>
            </a:blipFill>
          </p:spPr>
        </p:sp>
        <p:sp>
          <p:nvSpPr>
            <p:cNvPr id="28" name="TextBox 28"/>
            <p:cNvSpPr txBox="1"/>
            <p:nvPr/>
          </p:nvSpPr>
          <p:spPr>
            <a:xfrm>
              <a:off x="0" y="-19050"/>
              <a:ext cx="4876800" cy="677418"/>
            </a:xfrm>
            <a:prstGeom prst="rect">
              <a:avLst/>
            </a:prstGeom>
          </p:spPr>
          <p:txBody>
            <a:bodyPr lIns="0" tIns="0" rIns="0" bIns="0" rtlCol="0" anchor="ctr"/>
            <a:lstStyle/>
            <a:p>
              <a:pPr algn="l">
                <a:lnSpc>
                  <a:spcPts val="3600"/>
                </a:lnSpc>
              </a:pPr>
              <a:r>
                <a:rPr lang="en-US" sz="3000" b="1">
                  <a:solidFill>
                    <a:srgbClr val="1A231C"/>
                  </a:solidFill>
                  <a:latin typeface="Arial Bold"/>
                  <a:ea typeface="Arial Bold"/>
                  <a:cs typeface="Arial Bold"/>
                  <a:sym typeface="Arial Bold"/>
                </a:rPr>
                <a:t>PHP2Shell</a:t>
              </a:r>
            </a:p>
          </p:txBody>
        </p:sp>
      </p:grpSp>
      <p:grpSp>
        <p:nvGrpSpPr>
          <p:cNvPr id="29" name="Group 29"/>
          <p:cNvGrpSpPr/>
          <p:nvPr/>
        </p:nvGrpSpPr>
        <p:grpSpPr>
          <a:xfrm>
            <a:off x="8010144" y="3737610"/>
            <a:ext cx="3749040" cy="402336"/>
            <a:chOff x="0" y="0"/>
            <a:chExt cx="4998720" cy="536448"/>
          </a:xfrm>
        </p:grpSpPr>
        <p:sp>
          <p:nvSpPr>
            <p:cNvPr id="30" name="Freeform 30"/>
            <p:cNvSpPr/>
            <p:nvPr/>
          </p:nvSpPr>
          <p:spPr>
            <a:xfrm>
              <a:off x="0" y="0"/>
              <a:ext cx="4998720" cy="536448"/>
            </a:xfrm>
            <a:custGeom>
              <a:avLst/>
              <a:gdLst/>
              <a:ahLst/>
              <a:cxnLst/>
              <a:rect l="l" t="t" r="r" b="b"/>
              <a:pathLst>
                <a:path w="4998720" h="536448">
                  <a:moveTo>
                    <a:pt x="0" y="0"/>
                  </a:moveTo>
                  <a:lnTo>
                    <a:pt x="4998720" y="0"/>
                  </a:lnTo>
                  <a:lnTo>
                    <a:pt x="4998720" y="536448"/>
                  </a:lnTo>
                  <a:lnTo>
                    <a:pt x="0" y="536448"/>
                  </a:lnTo>
                  <a:close/>
                </a:path>
              </a:pathLst>
            </a:custGeom>
            <a:blipFill>
              <a:blip r:embed="rId4">
                <a:alphaModFix amt="0"/>
              </a:blip>
              <a:stretch>
                <a:fillRect t="-131565" b="-131565"/>
              </a:stretch>
            </a:blipFill>
          </p:spPr>
        </p:sp>
        <p:sp>
          <p:nvSpPr>
            <p:cNvPr id="31" name="TextBox 31"/>
            <p:cNvSpPr txBox="1"/>
            <p:nvPr/>
          </p:nvSpPr>
          <p:spPr>
            <a:xfrm>
              <a:off x="0" y="-38100"/>
              <a:ext cx="4998720" cy="574548"/>
            </a:xfrm>
            <a:prstGeom prst="rect">
              <a:avLst/>
            </a:prstGeom>
          </p:spPr>
          <p:txBody>
            <a:bodyPr lIns="0" tIns="0" rIns="0" bIns="0" rtlCol="0" anchor="ctr"/>
            <a:lstStyle/>
            <a:p>
              <a:pPr algn="l">
                <a:lnSpc>
                  <a:spcPts val="2160"/>
                </a:lnSpc>
              </a:pPr>
              <a:r>
                <a:rPr lang="en-US" sz="1800">
                  <a:solidFill>
                    <a:srgbClr val="5F6B62"/>
                  </a:solidFill>
                  <a:latin typeface="Calibri (MS)"/>
                  <a:ea typeface="Calibri (MS)"/>
                  <a:cs typeface="Calibri (MS)"/>
                  <a:sym typeface="Calibri (MS)"/>
                </a:rPr>
                <a:t>Oct 21, 2026  |  Web runtime flaw</a:t>
              </a:r>
            </a:p>
          </p:txBody>
        </p:sp>
      </p:grpSp>
      <p:grpSp>
        <p:nvGrpSpPr>
          <p:cNvPr id="32" name="Group 32"/>
          <p:cNvGrpSpPr/>
          <p:nvPr/>
        </p:nvGrpSpPr>
        <p:grpSpPr>
          <a:xfrm>
            <a:off x="6986016" y="4432554"/>
            <a:ext cx="4572000" cy="1097280"/>
            <a:chOff x="0" y="0"/>
            <a:chExt cx="6096000" cy="1463040"/>
          </a:xfrm>
        </p:grpSpPr>
        <p:sp>
          <p:nvSpPr>
            <p:cNvPr id="33" name="Freeform 33"/>
            <p:cNvSpPr/>
            <p:nvPr/>
          </p:nvSpPr>
          <p:spPr>
            <a:xfrm>
              <a:off x="0" y="0"/>
              <a:ext cx="6096000" cy="1463040"/>
            </a:xfrm>
            <a:custGeom>
              <a:avLst/>
              <a:gdLst/>
              <a:ahLst/>
              <a:cxnLst/>
              <a:rect l="l" t="t" r="r" b="b"/>
              <a:pathLst>
                <a:path w="6096000" h="1463040">
                  <a:moveTo>
                    <a:pt x="0" y="0"/>
                  </a:moveTo>
                  <a:lnTo>
                    <a:pt x="6096000" y="0"/>
                  </a:lnTo>
                  <a:lnTo>
                    <a:pt x="6096000" y="1463040"/>
                  </a:lnTo>
                  <a:lnTo>
                    <a:pt x="0" y="1463040"/>
                  </a:lnTo>
                  <a:close/>
                </a:path>
              </a:pathLst>
            </a:custGeom>
            <a:blipFill>
              <a:blip r:embed="rId4">
                <a:alphaModFix amt="0"/>
              </a:blip>
              <a:stretch>
                <a:fillRect t="-31187" b="-31187"/>
              </a:stretch>
            </a:blipFill>
          </p:spPr>
        </p:sp>
        <p:sp>
          <p:nvSpPr>
            <p:cNvPr id="34" name="TextBox 34"/>
            <p:cNvSpPr txBox="1"/>
            <p:nvPr/>
          </p:nvSpPr>
          <p:spPr>
            <a:xfrm>
              <a:off x="0" y="-28575"/>
              <a:ext cx="6096000" cy="1491615"/>
            </a:xfrm>
            <a:prstGeom prst="rect">
              <a:avLst/>
            </a:prstGeom>
          </p:spPr>
          <p:txBody>
            <a:bodyPr lIns="0" tIns="0" rIns="0" bIns="0" rtlCol="0" anchor="ctr"/>
            <a:lstStyle/>
            <a:p>
              <a:pPr algn="l">
                <a:lnSpc>
                  <a:spcPts val="7679"/>
                </a:lnSpc>
              </a:pPr>
              <a:r>
                <a:rPr lang="en-US" sz="6399" b="1">
                  <a:solidFill>
                    <a:srgbClr val="B23A2E"/>
                  </a:solidFill>
                  <a:latin typeface="Arial Bold"/>
                  <a:ea typeface="Arial Bold"/>
                  <a:cs typeface="Arial Bold"/>
                  <a:sym typeface="Arial Bold"/>
                </a:rPr>
                <a:t>9.2</a:t>
              </a:r>
            </a:p>
          </p:txBody>
        </p:sp>
      </p:grpSp>
      <p:sp>
        <p:nvSpPr>
          <p:cNvPr id="35" name="TextBox 35"/>
          <p:cNvSpPr txBox="1"/>
          <p:nvPr/>
        </p:nvSpPr>
        <p:spPr>
          <a:xfrm>
            <a:off x="6986016" y="5482209"/>
            <a:ext cx="4572000" cy="779145"/>
          </a:xfrm>
          <a:prstGeom prst="rect">
            <a:avLst/>
          </a:prstGeom>
        </p:spPr>
        <p:txBody>
          <a:bodyPr lIns="0" tIns="0" rIns="0" bIns="0" rtlCol="0" anchor="t">
            <a:spAutoFit/>
          </a:bodyPr>
          <a:lstStyle/>
          <a:p>
            <a:pPr algn="l">
              <a:lnSpc>
                <a:spcPts val="2639"/>
              </a:lnSpc>
            </a:pPr>
            <a:r>
              <a:rPr lang="en-US" sz="2199" b="1">
                <a:solidFill>
                  <a:srgbClr val="1A231C"/>
                </a:solidFill>
                <a:latin typeface="Calibri (MS) Bold"/>
                <a:ea typeface="Calibri (MS) Bold"/>
                <a:cs typeface="Calibri (MS) Bold"/>
                <a:sym typeface="Calibri (MS) Bold"/>
              </a:rPr>
              <a:t>CVSS: unauthenticated remote code execution</a:t>
            </a:r>
          </a:p>
        </p:txBody>
      </p:sp>
      <p:sp>
        <p:nvSpPr>
          <p:cNvPr id="36" name="TextBox 36"/>
          <p:cNvSpPr txBox="1"/>
          <p:nvPr/>
        </p:nvSpPr>
        <p:spPr>
          <a:xfrm>
            <a:off x="6986016" y="6305169"/>
            <a:ext cx="4535424" cy="2242185"/>
          </a:xfrm>
          <a:prstGeom prst="rect">
            <a:avLst/>
          </a:prstGeom>
        </p:spPr>
        <p:txBody>
          <a:bodyPr lIns="0" tIns="0" rIns="0" bIns="0" rtlCol="0" anchor="t">
            <a:spAutoFit/>
          </a:bodyPr>
          <a:lstStyle/>
          <a:p>
            <a:pPr algn="l">
              <a:lnSpc>
                <a:spcPts val="2520"/>
              </a:lnSpc>
            </a:pPr>
            <a:r>
              <a:rPr lang="en-US" sz="2100">
                <a:solidFill>
                  <a:srgbClr val="5F6B62"/>
                </a:solidFill>
                <a:latin typeface="Calibri (MS)"/>
                <a:ea typeface="Calibri (MS)"/>
                <a:cs typeface="Calibri (MS)"/>
                <a:sym typeface="Calibri (MS)"/>
              </a:rPr>
              <a:t>Two critical flaws affecting PHP 5.4 onward. PHP runs roughly 70% of sites with a known server language. Japan's JPCERT/CC and IPA issued alerts.</a:t>
            </a:r>
          </a:p>
        </p:txBody>
      </p:sp>
      <p:grpSp>
        <p:nvGrpSpPr>
          <p:cNvPr id="37" name="Group 37"/>
          <p:cNvGrpSpPr/>
          <p:nvPr/>
        </p:nvGrpSpPr>
        <p:grpSpPr>
          <a:xfrm>
            <a:off x="12243435" y="2868549"/>
            <a:ext cx="5322570" cy="5871210"/>
            <a:chOff x="0" y="0"/>
            <a:chExt cx="7096760" cy="7828280"/>
          </a:xfrm>
        </p:grpSpPr>
        <p:sp>
          <p:nvSpPr>
            <p:cNvPr id="38" name="Freeform 38"/>
            <p:cNvSpPr/>
            <p:nvPr/>
          </p:nvSpPr>
          <p:spPr>
            <a:xfrm>
              <a:off x="0" y="0"/>
              <a:ext cx="7096761" cy="7828280"/>
            </a:xfrm>
            <a:custGeom>
              <a:avLst/>
              <a:gdLst/>
              <a:ahLst/>
              <a:cxnLst/>
              <a:rect l="l" t="t" r="r" b="b"/>
              <a:pathLst>
                <a:path w="7096761" h="7828280">
                  <a:moveTo>
                    <a:pt x="0" y="244729"/>
                  </a:moveTo>
                  <a:cubicBezTo>
                    <a:pt x="0" y="109601"/>
                    <a:pt x="109601" y="0"/>
                    <a:pt x="244729" y="0"/>
                  </a:cubicBezTo>
                  <a:lnTo>
                    <a:pt x="6852031" y="0"/>
                  </a:lnTo>
                  <a:cubicBezTo>
                    <a:pt x="6987160" y="0"/>
                    <a:pt x="7096761" y="109601"/>
                    <a:pt x="7096761" y="244729"/>
                  </a:cubicBezTo>
                  <a:lnTo>
                    <a:pt x="7096761" y="7583551"/>
                  </a:lnTo>
                  <a:cubicBezTo>
                    <a:pt x="7096761" y="7718679"/>
                    <a:pt x="6987160" y="7828280"/>
                    <a:pt x="6852031" y="7828280"/>
                  </a:cubicBezTo>
                  <a:lnTo>
                    <a:pt x="244729" y="7828280"/>
                  </a:lnTo>
                  <a:cubicBezTo>
                    <a:pt x="109601" y="7828280"/>
                    <a:pt x="0" y="7718679"/>
                    <a:pt x="0" y="7583551"/>
                  </a:cubicBezTo>
                  <a:close/>
                </a:path>
              </a:pathLst>
            </a:custGeom>
            <a:solidFill>
              <a:srgbClr val="F2F5EC"/>
            </a:solidFill>
            <a:ln w="19050" cap="sq">
              <a:solidFill>
                <a:srgbClr val="F2F5EC"/>
              </a:solidFill>
              <a:prstDash val="solid"/>
              <a:miter/>
            </a:ln>
          </p:spPr>
        </p:sp>
      </p:grpSp>
      <p:grpSp>
        <p:nvGrpSpPr>
          <p:cNvPr id="39" name="Group 39"/>
          <p:cNvGrpSpPr/>
          <p:nvPr/>
        </p:nvGrpSpPr>
        <p:grpSpPr>
          <a:xfrm>
            <a:off x="12642599" y="3267713"/>
            <a:ext cx="793499" cy="793499"/>
            <a:chOff x="0" y="0"/>
            <a:chExt cx="1057999" cy="1057999"/>
          </a:xfrm>
        </p:grpSpPr>
        <p:sp>
          <p:nvSpPr>
            <p:cNvPr id="40" name="Freeform 40"/>
            <p:cNvSpPr/>
            <p:nvPr/>
          </p:nvSpPr>
          <p:spPr>
            <a:xfrm>
              <a:off x="0" y="0"/>
              <a:ext cx="1058037" cy="1058037"/>
            </a:xfrm>
            <a:custGeom>
              <a:avLst/>
              <a:gdLst/>
              <a:ahLst/>
              <a:cxnLst/>
              <a:rect l="l" t="t" r="r" b="b"/>
              <a:pathLst>
                <a:path w="1058037" h="1058037">
                  <a:moveTo>
                    <a:pt x="0" y="528955"/>
                  </a:moveTo>
                  <a:cubicBezTo>
                    <a:pt x="0" y="236855"/>
                    <a:pt x="236855" y="0"/>
                    <a:pt x="528955" y="0"/>
                  </a:cubicBezTo>
                  <a:cubicBezTo>
                    <a:pt x="821055" y="0"/>
                    <a:pt x="1058037" y="236855"/>
                    <a:pt x="1058037" y="528955"/>
                  </a:cubicBezTo>
                  <a:cubicBezTo>
                    <a:pt x="1058037" y="821055"/>
                    <a:pt x="821182" y="1058037"/>
                    <a:pt x="528955" y="1058037"/>
                  </a:cubicBezTo>
                  <a:cubicBezTo>
                    <a:pt x="236728" y="1058037"/>
                    <a:pt x="0" y="821182"/>
                    <a:pt x="0" y="528955"/>
                  </a:cubicBezTo>
                  <a:close/>
                </a:path>
              </a:pathLst>
            </a:custGeom>
            <a:solidFill>
              <a:srgbClr val="F8E3DF"/>
            </a:solidFill>
            <a:ln w="25400" cap="sq">
              <a:solidFill>
                <a:srgbClr val="F8E3DF"/>
              </a:solidFill>
              <a:prstDash val="solid"/>
              <a:miter/>
            </a:ln>
          </p:spPr>
        </p:sp>
      </p:grpSp>
      <p:grpSp>
        <p:nvGrpSpPr>
          <p:cNvPr id="41" name="Group 41"/>
          <p:cNvGrpSpPr/>
          <p:nvPr/>
        </p:nvGrpSpPr>
        <p:grpSpPr>
          <a:xfrm>
            <a:off x="12839643" y="3464757"/>
            <a:ext cx="399412" cy="399412"/>
            <a:chOff x="0" y="0"/>
            <a:chExt cx="532549" cy="532549"/>
          </a:xfrm>
        </p:grpSpPr>
        <p:sp>
          <p:nvSpPr>
            <p:cNvPr id="42" name="Freeform 42" descr="preencoded.png"/>
            <p:cNvSpPr/>
            <p:nvPr/>
          </p:nvSpPr>
          <p:spPr>
            <a:xfrm>
              <a:off x="0" y="0"/>
              <a:ext cx="532511" cy="532511"/>
            </a:xfrm>
            <a:custGeom>
              <a:avLst/>
              <a:gdLst/>
              <a:ahLst/>
              <a:cxnLst/>
              <a:rect l="l" t="t" r="r" b="b"/>
              <a:pathLst>
                <a:path w="532511" h="532511">
                  <a:moveTo>
                    <a:pt x="0" y="0"/>
                  </a:moveTo>
                  <a:lnTo>
                    <a:pt x="532511" y="0"/>
                  </a:lnTo>
                  <a:lnTo>
                    <a:pt x="532511" y="532511"/>
                  </a:lnTo>
                  <a:lnTo>
                    <a:pt x="0" y="532511"/>
                  </a:lnTo>
                  <a:lnTo>
                    <a:pt x="0" y="0"/>
                  </a:lnTo>
                  <a:close/>
                </a:path>
              </a:pathLst>
            </a:custGeom>
            <a:blipFill>
              <a:blip r:embed="rId6"/>
              <a:stretch>
                <a:fillRect r="-7" b="-7"/>
              </a:stretch>
            </a:blipFill>
          </p:spPr>
        </p:sp>
      </p:grpSp>
      <p:grpSp>
        <p:nvGrpSpPr>
          <p:cNvPr id="43" name="Group 43"/>
          <p:cNvGrpSpPr/>
          <p:nvPr/>
        </p:nvGrpSpPr>
        <p:grpSpPr>
          <a:xfrm>
            <a:off x="13679424" y="3243834"/>
            <a:ext cx="3657600" cy="493776"/>
            <a:chOff x="0" y="0"/>
            <a:chExt cx="4876800" cy="658368"/>
          </a:xfrm>
        </p:grpSpPr>
        <p:sp>
          <p:nvSpPr>
            <p:cNvPr id="44" name="Freeform 44"/>
            <p:cNvSpPr/>
            <p:nvPr/>
          </p:nvSpPr>
          <p:spPr>
            <a:xfrm>
              <a:off x="0" y="0"/>
              <a:ext cx="4876800" cy="658368"/>
            </a:xfrm>
            <a:custGeom>
              <a:avLst/>
              <a:gdLst/>
              <a:ahLst/>
              <a:cxnLst/>
              <a:rect l="l" t="t" r="r" b="b"/>
              <a:pathLst>
                <a:path w="4876800" h="658368">
                  <a:moveTo>
                    <a:pt x="0" y="0"/>
                  </a:moveTo>
                  <a:lnTo>
                    <a:pt x="4876800" y="0"/>
                  </a:lnTo>
                  <a:lnTo>
                    <a:pt x="4876800" y="658368"/>
                  </a:lnTo>
                  <a:lnTo>
                    <a:pt x="0" y="658368"/>
                  </a:lnTo>
                  <a:close/>
                </a:path>
              </a:pathLst>
            </a:custGeom>
            <a:blipFill>
              <a:blip r:embed="rId4">
                <a:alphaModFix amt="0"/>
              </a:blip>
              <a:stretch>
                <a:fillRect t="-94333" b="-94333"/>
              </a:stretch>
            </a:blipFill>
          </p:spPr>
        </p:sp>
        <p:sp>
          <p:nvSpPr>
            <p:cNvPr id="45" name="TextBox 45"/>
            <p:cNvSpPr txBox="1"/>
            <p:nvPr/>
          </p:nvSpPr>
          <p:spPr>
            <a:xfrm>
              <a:off x="0" y="-19050"/>
              <a:ext cx="4876800" cy="677418"/>
            </a:xfrm>
            <a:prstGeom prst="rect">
              <a:avLst/>
            </a:prstGeom>
          </p:spPr>
          <p:txBody>
            <a:bodyPr lIns="0" tIns="0" rIns="0" bIns="0" rtlCol="0" anchor="ctr"/>
            <a:lstStyle/>
            <a:p>
              <a:pPr algn="l">
                <a:lnSpc>
                  <a:spcPts val="3600"/>
                </a:lnSpc>
              </a:pPr>
              <a:r>
                <a:rPr lang="en-US" sz="3000" b="1">
                  <a:solidFill>
                    <a:srgbClr val="1A231C"/>
                  </a:solidFill>
                  <a:latin typeface="Arial Bold"/>
                  <a:ea typeface="Arial Bold"/>
                  <a:cs typeface="Arial Bold"/>
                  <a:sym typeface="Arial Bold"/>
                </a:rPr>
                <a:t>Gyazo</a:t>
              </a:r>
            </a:p>
          </p:txBody>
        </p:sp>
      </p:grpSp>
      <p:grpSp>
        <p:nvGrpSpPr>
          <p:cNvPr id="46" name="Group 46"/>
          <p:cNvGrpSpPr/>
          <p:nvPr/>
        </p:nvGrpSpPr>
        <p:grpSpPr>
          <a:xfrm>
            <a:off x="13679424" y="3737610"/>
            <a:ext cx="3749040" cy="402336"/>
            <a:chOff x="0" y="0"/>
            <a:chExt cx="4998720" cy="536448"/>
          </a:xfrm>
        </p:grpSpPr>
        <p:sp>
          <p:nvSpPr>
            <p:cNvPr id="47" name="Freeform 47"/>
            <p:cNvSpPr/>
            <p:nvPr/>
          </p:nvSpPr>
          <p:spPr>
            <a:xfrm>
              <a:off x="0" y="0"/>
              <a:ext cx="4998720" cy="536448"/>
            </a:xfrm>
            <a:custGeom>
              <a:avLst/>
              <a:gdLst/>
              <a:ahLst/>
              <a:cxnLst/>
              <a:rect l="l" t="t" r="r" b="b"/>
              <a:pathLst>
                <a:path w="4998720" h="536448">
                  <a:moveTo>
                    <a:pt x="0" y="0"/>
                  </a:moveTo>
                  <a:lnTo>
                    <a:pt x="4998720" y="0"/>
                  </a:lnTo>
                  <a:lnTo>
                    <a:pt x="4998720" y="536448"/>
                  </a:lnTo>
                  <a:lnTo>
                    <a:pt x="0" y="536448"/>
                  </a:lnTo>
                  <a:close/>
                </a:path>
              </a:pathLst>
            </a:custGeom>
            <a:blipFill>
              <a:blip r:embed="rId4">
                <a:alphaModFix amt="0"/>
              </a:blip>
              <a:stretch>
                <a:fillRect t="-131565" b="-131565"/>
              </a:stretch>
            </a:blipFill>
          </p:spPr>
        </p:sp>
        <p:sp>
          <p:nvSpPr>
            <p:cNvPr id="48" name="TextBox 48"/>
            <p:cNvSpPr txBox="1"/>
            <p:nvPr/>
          </p:nvSpPr>
          <p:spPr>
            <a:xfrm>
              <a:off x="0" y="-38100"/>
              <a:ext cx="4998720" cy="574548"/>
            </a:xfrm>
            <a:prstGeom prst="rect">
              <a:avLst/>
            </a:prstGeom>
          </p:spPr>
          <p:txBody>
            <a:bodyPr lIns="0" tIns="0" rIns="0" bIns="0" rtlCol="0" anchor="ctr"/>
            <a:lstStyle/>
            <a:p>
              <a:pPr algn="l">
                <a:lnSpc>
                  <a:spcPts val="2160"/>
                </a:lnSpc>
              </a:pPr>
              <a:r>
                <a:rPr lang="en-US" sz="1800">
                  <a:solidFill>
                    <a:srgbClr val="5F6B62"/>
                  </a:solidFill>
                  <a:latin typeface="Calibri (MS)"/>
                  <a:ea typeface="Calibri (MS)"/>
                  <a:cs typeface="Calibri (MS)"/>
                  <a:sym typeface="Calibri (MS)"/>
                </a:rPr>
                <a:t>Sep 11, 2026  |  Japanese image SaaS</a:t>
              </a:r>
            </a:p>
          </p:txBody>
        </p:sp>
      </p:grpSp>
      <p:grpSp>
        <p:nvGrpSpPr>
          <p:cNvPr id="49" name="Group 49"/>
          <p:cNvGrpSpPr/>
          <p:nvPr/>
        </p:nvGrpSpPr>
        <p:grpSpPr>
          <a:xfrm>
            <a:off x="12655296" y="4432554"/>
            <a:ext cx="4572000" cy="1097280"/>
            <a:chOff x="0" y="0"/>
            <a:chExt cx="6096000" cy="1463040"/>
          </a:xfrm>
        </p:grpSpPr>
        <p:sp>
          <p:nvSpPr>
            <p:cNvPr id="50" name="Freeform 50"/>
            <p:cNvSpPr/>
            <p:nvPr/>
          </p:nvSpPr>
          <p:spPr>
            <a:xfrm>
              <a:off x="0" y="0"/>
              <a:ext cx="6096000" cy="1463040"/>
            </a:xfrm>
            <a:custGeom>
              <a:avLst/>
              <a:gdLst/>
              <a:ahLst/>
              <a:cxnLst/>
              <a:rect l="l" t="t" r="r" b="b"/>
              <a:pathLst>
                <a:path w="6096000" h="1463040">
                  <a:moveTo>
                    <a:pt x="0" y="0"/>
                  </a:moveTo>
                  <a:lnTo>
                    <a:pt x="6096000" y="0"/>
                  </a:lnTo>
                  <a:lnTo>
                    <a:pt x="6096000" y="1463040"/>
                  </a:lnTo>
                  <a:lnTo>
                    <a:pt x="0" y="1463040"/>
                  </a:lnTo>
                  <a:close/>
                </a:path>
              </a:pathLst>
            </a:custGeom>
            <a:blipFill>
              <a:blip r:embed="rId4">
                <a:alphaModFix amt="0"/>
              </a:blip>
              <a:stretch>
                <a:fillRect t="-31187" b="-31187"/>
              </a:stretch>
            </a:blipFill>
          </p:spPr>
        </p:sp>
        <p:sp>
          <p:nvSpPr>
            <p:cNvPr id="51" name="TextBox 51"/>
            <p:cNvSpPr txBox="1"/>
            <p:nvPr/>
          </p:nvSpPr>
          <p:spPr>
            <a:xfrm>
              <a:off x="0" y="-28575"/>
              <a:ext cx="6096000" cy="1491615"/>
            </a:xfrm>
            <a:prstGeom prst="rect">
              <a:avLst/>
            </a:prstGeom>
          </p:spPr>
          <p:txBody>
            <a:bodyPr lIns="0" tIns="0" rIns="0" bIns="0" rtlCol="0" anchor="ctr"/>
            <a:lstStyle/>
            <a:p>
              <a:pPr algn="l">
                <a:lnSpc>
                  <a:spcPts val="7679"/>
                </a:lnSpc>
              </a:pPr>
              <a:r>
                <a:rPr lang="en-US" sz="6399" b="1">
                  <a:solidFill>
                    <a:srgbClr val="B23A2E"/>
                  </a:solidFill>
                  <a:latin typeface="Arial Bold"/>
                  <a:ea typeface="Arial Bold"/>
                  <a:cs typeface="Arial Bold"/>
                  <a:sym typeface="Arial Bold"/>
                </a:rPr>
                <a:t>23.6M</a:t>
              </a:r>
            </a:p>
          </p:txBody>
        </p:sp>
      </p:grpSp>
      <p:sp>
        <p:nvSpPr>
          <p:cNvPr id="52" name="TextBox 52"/>
          <p:cNvSpPr txBox="1"/>
          <p:nvPr/>
        </p:nvSpPr>
        <p:spPr>
          <a:xfrm>
            <a:off x="12655296" y="5482209"/>
            <a:ext cx="4572000" cy="779145"/>
          </a:xfrm>
          <a:prstGeom prst="rect">
            <a:avLst/>
          </a:prstGeom>
        </p:spPr>
        <p:txBody>
          <a:bodyPr lIns="0" tIns="0" rIns="0" bIns="0" rtlCol="0" anchor="t">
            <a:spAutoFit/>
          </a:bodyPr>
          <a:lstStyle/>
          <a:p>
            <a:pPr algn="l">
              <a:lnSpc>
                <a:spcPts val="2639"/>
              </a:lnSpc>
            </a:pPr>
            <a:r>
              <a:rPr lang="en-US" sz="2199" b="1">
                <a:solidFill>
                  <a:srgbClr val="1A231C"/>
                </a:solidFill>
                <a:latin typeface="Calibri (MS) Bold"/>
                <a:ea typeface="Calibri (MS) Bold"/>
                <a:cs typeface="Calibri (MS) Bold"/>
                <a:sym typeface="Calibri (MS) Bold"/>
              </a:rPr>
              <a:t>user records stolen</a:t>
            </a:r>
          </a:p>
        </p:txBody>
      </p:sp>
      <p:sp>
        <p:nvSpPr>
          <p:cNvPr id="53" name="TextBox 53"/>
          <p:cNvSpPr txBox="1"/>
          <p:nvPr/>
        </p:nvSpPr>
        <p:spPr>
          <a:xfrm>
            <a:off x="12655296" y="6305169"/>
            <a:ext cx="4535424" cy="2242185"/>
          </a:xfrm>
          <a:prstGeom prst="rect">
            <a:avLst/>
          </a:prstGeom>
        </p:spPr>
        <p:txBody>
          <a:bodyPr lIns="0" tIns="0" rIns="0" bIns="0" rtlCol="0" anchor="t">
            <a:spAutoFit/>
          </a:bodyPr>
          <a:lstStyle/>
          <a:p>
            <a:pPr algn="l">
              <a:lnSpc>
                <a:spcPts val="2520"/>
              </a:lnSpc>
            </a:pPr>
            <a:r>
              <a:rPr lang="en-US" sz="2100">
                <a:solidFill>
                  <a:srgbClr val="5F6B62"/>
                </a:solidFill>
                <a:latin typeface="Calibri (MS)"/>
                <a:ea typeface="Calibri (MS)"/>
                <a:cs typeface="Calibri (MS)"/>
                <a:sym typeface="Calibri (MS)"/>
              </a:rPr>
              <a:t>One flaw in the upload server let attackers run commands. 490M image metadata records were also accessed and image delivery was paused.</a:t>
            </a:r>
          </a:p>
        </p:txBody>
      </p:sp>
      <p:grpSp>
        <p:nvGrpSpPr>
          <p:cNvPr id="54" name="Group 54"/>
          <p:cNvGrpSpPr/>
          <p:nvPr/>
        </p:nvGrpSpPr>
        <p:grpSpPr>
          <a:xfrm>
            <a:off x="1192530" y="8870442"/>
            <a:ext cx="16459200" cy="640080"/>
            <a:chOff x="0" y="0"/>
            <a:chExt cx="21945600" cy="853440"/>
          </a:xfrm>
        </p:grpSpPr>
        <p:sp>
          <p:nvSpPr>
            <p:cNvPr id="55" name="Freeform 55"/>
            <p:cNvSpPr/>
            <p:nvPr/>
          </p:nvSpPr>
          <p:spPr>
            <a:xfrm>
              <a:off x="0" y="0"/>
              <a:ext cx="21945600" cy="853440"/>
            </a:xfrm>
            <a:custGeom>
              <a:avLst/>
              <a:gdLst/>
              <a:ahLst/>
              <a:cxnLst/>
              <a:rect l="l" t="t" r="r" b="b"/>
              <a:pathLst>
                <a:path w="21945600" h="853440">
                  <a:moveTo>
                    <a:pt x="0" y="0"/>
                  </a:moveTo>
                  <a:lnTo>
                    <a:pt x="21945600" y="0"/>
                  </a:lnTo>
                  <a:lnTo>
                    <a:pt x="21945600" y="853440"/>
                  </a:lnTo>
                  <a:lnTo>
                    <a:pt x="0" y="853440"/>
                  </a:lnTo>
                  <a:close/>
                </a:path>
              </a:pathLst>
            </a:custGeom>
            <a:blipFill>
              <a:blip r:embed="rId4">
                <a:alphaModFix amt="0"/>
              </a:blip>
              <a:stretch>
                <a:fillRect t="-451043" b="-451043"/>
              </a:stretch>
            </a:blipFill>
          </p:spPr>
        </p:sp>
        <p:sp>
          <p:nvSpPr>
            <p:cNvPr id="56" name="TextBox 56"/>
            <p:cNvSpPr txBox="1"/>
            <p:nvPr/>
          </p:nvSpPr>
          <p:spPr>
            <a:xfrm>
              <a:off x="0" y="-57150"/>
              <a:ext cx="21945600" cy="910590"/>
            </a:xfrm>
            <a:prstGeom prst="rect">
              <a:avLst/>
            </a:prstGeom>
          </p:spPr>
          <p:txBody>
            <a:bodyPr lIns="0" tIns="0" rIns="0" bIns="0" rtlCol="0" anchor="ctr"/>
            <a:lstStyle/>
            <a:p>
              <a:pPr algn="l">
                <a:lnSpc>
                  <a:spcPts val="3120"/>
                </a:lnSpc>
              </a:pPr>
              <a:r>
                <a:rPr lang="en-US" sz="2600" b="1">
                  <a:solidFill>
                    <a:srgbClr val="2F6B3A"/>
                  </a:solidFill>
                  <a:latin typeface="Calibri (MS) Bold"/>
                  <a:ea typeface="Calibri (MS) Bold"/>
                  <a:cs typeface="Calibri (MS) Bold"/>
                  <a:sym typeface="Calibri (MS) Bold"/>
                </a:rPr>
                <a:t>Different industries, same root cause: a flaw that slipped past review.</a:t>
              </a:r>
            </a:p>
          </p:txBody>
        </p:sp>
      </p:grpSp>
      <p:grpSp>
        <p:nvGrpSpPr>
          <p:cNvPr id="57" name="Group 57"/>
          <p:cNvGrpSpPr/>
          <p:nvPr/>
        </p:nvGrpSpPr>
        <p:grpSpPr>
          <a:xfrm>
            <a:off x="15882384" y="802604"/>
            <a:ext cx="1308336" cy="675295"/>
            <a:chOff x="0" y="0"/>
            <a:chExt cx="1744448" cy="900394"/>
          </a:xfrm>
        </p:grpSpPr>
        <p:sp>
          <p:nvSpPr>
            <p:cNvPr id="58" name="Freeform 58"/>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59" name="TextBox 59"/>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3913322" y="0"/>
            <a:ext cx="10461356" cy="10287000"/>
          </a:xfrm>
          <a:custGeom>
            <a:avLst/>
            <a:gdLst/>
            <a:ahLst/>
            <a:cxnLst/>
            <a:rect l="l" t="t" r="r" b="b"/>
            <a:pathLst>
              <a:path w="10461356" h="10287000">
                <a:moveTo>
                  <a:pt x="0" y="0"/>
                </a:moveTo>
                <a:lnTo>
                  <a:pt x="10461356" y="0"/>
                </a:lnTo>
                <a:lnTo>
                  <a:pt x="10461356" y="10287000"/>
                </a:lnTo>
                <a:lnTo>
                  <a:pt x="0" y="10287000"/>
                </a:lnTo>
                <a:lnTo>
                  <a:pt x="0" y="0"/>
                </a:lnTo>
                <a:close/>
              </a:path>
            </a:pathLst>
          </a:custGeom>
          <a:blipFill>
            <a:blip r:embed="rId3"/>
            <a:stretch>
              <a:fillRect/>
            </a:stretch>
          </a:blipFill>
        </p:spPr>
      </p:sp>
      <p:sp>
        <p:nvSpPr>
          <p:cNvPr id="3" name="TextBox 3"/>
          <p:cNvSpPr txBox="1"/>
          <p:nvPr/>
        </p:nvSpPr>
        <p:spPr>
          <a:xfrm>
            <a:off x="4110595" y="370080"/>
            <a:ext cx="10066810" cy="1231514"/>
          </a:xfrm>
          <a:prstGeom prst="rect">
            <a:avLst/>
          </a:prstGeom>
        </p:spPr>
        <p:txBody>
          <a:bodyPr lIns="0" tIns="0" rIns="0" bIns="0" rtlCol="0" anchor="t">
            <a:spAutoFit/>
          </a:bodyPr>
          <a:lstStyle/>
          <a:p>
            <a:pPr algn="ctr">
              <a:lnSpc>
                <a:spcPts val="4639"/>
              </a:lnSpc>
              <a:spcBef>
                <a:spcPct val="0"/>
              </a:spcBef>
            </a:pPr>
            <a:r>
              <a:rPr lang="en-US" sz="3866" b="1">
                <a:solidFill>
                  <a:srgbClr val="000000"/>
                </a:solidFill>
                <a:latin typeface="Calibri (MS) Bold"/>
                <a:ea typeface="Calibri (MS) Bold"/>
                <a:cs typeface="Calibri (MS) Bold"/>
                <a:sym typeface="Calibri (MS) Bold"/>
              </a:rPr>
              <a:t>the worst i feel is when im not even at fault and the team asks me to fix it. </a:t>
            </a:r>
          </a:p>
        </p:txBody>
      </p:sp>
      <p:sp>
        <p:nvSpPr>
          <p:cNvPr id="4" name="TextBox 4"/>
          <p:cNvSpPr txBox="1"/>
          <p:nvPr/>
        </p:nvSpPr>
        <p:spPr>
          <a:xfrm>
            <a:off x="8128255" y="5600064"/>
            <a:ext cx="1430783" cy="428356"/>
          </a:xfrm>
          <a:prstGeom prst="rect">
            <a:avLst/>
          </a:prstGeom>
        </p:spPr>
        <p:txBody>
          <a:bodyPr lIns="0" tIns="0" rIns="0" bIns="0" rtlCol="0" anchor="t">
            <a:spAutoFit/>
          </a:bodyPr>
          <a:lstStyle/>
          <a:p>
            <a:pPr algn="ctr">
              <a:lnSpc>
                <a:spcPts val="3083"/>
              </a:lnSpc>
              <a:spcBef>
                <a:spcPct val="0"/>
              </a:spcBef>
            </a:pPr>
            <a:r>
              <a:rPr lang="en-US" sz="2569" b="1">
                <a:solidFill>
                  <a:srgbClr val="000000"/>
                </a:solidFill>
                <a:latin typeface="Calibri (MS) Bold"/>
                <a:ea typeface="Calibri (MS) Bold"/>
                <a:cs typeface="Calibri (MS) Bold"/>
                <a:sym typeface="Calibri (MS) Bold"/>
              </a:rPr>
              <a:t>Senior dev</a:t>
            </a:r>
          </a:p>
        </p:txBody>
      </p:sp>
      <p:sp>
        <p:nvSpPr>
          <p:cNvPr id="5" name="TextBox 5"/>
          <p:cNvSpPr txBox="1"/>
          <p:nvPr/>
        </p:nvSpPr>
        <p:spPr>
          <a:xfrm>
            <a:off x="4301065" y="3935855"/>
            <a:ext cx="1193543" cy="828768"/>
          </a:xfrm>
          <a:prstGeom prst="rect">
            <a:avLst/>
          </a:prstGeom>
        </p:spPr>
        <p:txBody>
          <a:bodyPr lIns="0" tIns="0" rIns="0" bIns="0" rtlCol="0" anchor="t">
            <a:spAutoFit/>
          </a:bodyPr>
          <a:lstStyle/>
          <a:p>
            <a:pPr algn="ctr">
              <a:lnSpc>
                <a:spcPts val="3083"/>
              </a:lnSpc>
            </a:pPr>
            <a:r>
              <a:rPr lang="en-US" sz="2569" b="1">
                <a:solidFill>
                  <a:srgbClr val="FFFFFF"/>
                </a:solidFill>
                <a:latin typeface="Calibri (MS) Bold"/>
                <a:ea typeface="Calibri (MS) Bold"/>
                <a:cs typeface="Calibri (MS) Bold"/>
                <a:sym typeface="Calibri (MS) Bold"/>
              </a:rPr>
              <a:t> .              </a:t>
            </a:r>
          </a:p>
          <a:p>
            <a:pPr algn="ctr">
              <a:lnSpc>
                <a:spcPts val="3083"/>
              </a:lnSpc>
              <a:spcBef>
                <a:spcPct val="0"/>
              </a:spcBef>
            </a:pPr>
            <a:r>
              <a:rPr lang="en-US" sz="2569" b="1">
                <a:solidFill>
                  <a:srgbClr val="FFFFFF"/>
                </a:solidFill>
                <a:latin typeface="Calibri (MS) Bold"/>
                <a:ea typeface="Calibri (MS) Bold"/>
                <a:cs typeface="Calibri (MS) Bold"/>
                <a:sym typeface="Calibri (MS) Bold"/>
              </a:rPr>
              <a:t>              .</a:t>
            </a:r>
          </a:p>
        </p:txBody>
      </p:sp>
      <p:grpSp>
        <p:nvGrpSpPr>
          <p:cNvPr id="6" name="Group 6"/>
          <p:cNvGrpSpPr/>
          <p:nvPr/>
        </p:nvGrpSpPr>
        <p:grpSpPr>
          <a:xfrm>
            <a:off x="4243669" y="4036404"/>
            <a:ext cx="1308336" cy="675295"/>
            <a:chOff x="0" y="0"/>
            <a:chExt cx="1744448" cy="900394"/>
          </a:xfrm>
        </p:grpSpPr>
        <p:sp>
          <p:nvSpPr>
            <p:cNvPr id="7" name="Freeform 7"/>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4948056" y="0"/>
            <a:ext cx="8225697" cy="10287000"/>
            <a:chOff x="0" y="0"/>
            <a:chExt cx="8222285" cy="10282733"/>
          </a:xfrm>
        </p:grpSpPr>
        <p:sp>
          <p:nvSpPr>
            <p:cNvPr id="3" name="Freeform 3" descr="preencoded.png"/>
            <p:cNvSpPr/>
            <p:nvPr/>
          </p:nvSpPr>
          <p:spPr>
            <a:xfrm>
              <a:off x="0" y="0"/>
              <a:ext cx="8222234" cy="10282682"/>
            </a:xfrm>
            <a:custGeom>
              <a:avLst/>
              <a:gdLst/>
              <a:ahLst/>
              <a:cxnLst/>
              <a:rect l="l" t="t" r="r" b="b"/>
              <a:pathLst>
                <a:path w="8222234" h="10282682">
                  <a:moveTo>
                    <a:pt x="0" y="0"/>
                  </a:moveTo>
                  <a:lnTo>
                    <a:pt x="8222234" y="0"/>
                  </a:lnTo>
                  <a:lnTo>
                    <a:pt x="8222234" y="10282682"/>
                  </a:lnTo>
                  <a:lnTo>
                    <a:pt x="0" y="10282682"/>
                  </a:lnTo>
                  <a:lnTo>
                    <a:pt x="0" y="0"/>
                  </a:lnTo>
                  <a:close/>
                </a:path>
              </a:pathLst>
            </a:custGeom>
            <a:blipFill>
              <a:blip r:embed="rId3"/>
              <a:stretch>
                <a:fillRect l="-3" r="-4"/>
              </a:stretch>
            </a:blipFill>
          </p:spPr>
        </p:sp>
      </p:grpSp>
      <p:grpSp>
        <p:nvGrpSpPr>
          <p:cNvPr id="4" name="Group 4"/>
          <p:cNvGrpSpPr/>
          <p:nvPr/>
        </p:nvGrpSpPr>
        <p:grpSpPr>
          <a:xfrm>
            <a:off x="9289958" y="4500855"/>
            <a:ext cx="2544431" cy="392086"/>
            <a:chOff x="0" y="0"/>
            <a:chExt cx="2523546" cy="388868"/>
          </a:xfrm>
        </p:grpSpPr>
        <p:sp>
          <p:nvSpPr>
            <p:cNvPr id="5" name="Freeform 5"/>
            <p:cNvSpPr/>
            <p:nvPr/>
          </p:nvSpPr>
          <p:spPr>
            <a:xfrm>
              <a:off x="0" y="0"/>
              <a:ext cx="2523584" cy="388906"/>
            </a:xfrm>
            <a:custGeom>
              <a:avLst/>
              <a:gdLst/>
              <a:ahLst/>
              <a:cxnLst/>
              <a:rect l="l" t="t" r="r" b="b"/>
              <a:pathLst>
                <a:path w="2523584" h="388906">
                  <a:moveTo>
                    <a:pt x="0" y="0"/>
                  </a:moveTo>
                  <a:lnTo>
                    <a:pt x="2523584" y="0"/>
                  </a:lnTo>
                  <a:lnTo>
                    <a:pt x="2523584" y="388906"/>
                  </a:lnTo>
                  <a:lnTo>
                    <a:pt x="0" y="388906"/>
                  </a:lnTo>
                  <a:close/>
                </a:path>
              </a:pathLst>
            </a:custGeom>
            <a:solidFill>
              <a:srgbClr val="FFFFFF"/>
            </a:solidFill>
            <a:ln w="25400" cap="sq">
              <a:solidFill>
                <a:srgbClr val="FFFFFF"/>
              </a:solidFill>
              <a:prstDash val="solid"/>
              <a:miter/>
            </a:ln>
          </p:spPr>
        </p:sp>
      </p:grpSp>
      <p:grpSp>
        <p:nvGrpSpPr>
          <p:cNvPr id="6" name="Group 6"/>
          <p:cNvGrpSpPr/>
          <p:nvPr/>
        </p:nvGrpSpPr>
        <p:grpSpPr>
          <a:xfrm>
            <a:off x="9435917" y="4434180"/>
            <a:ext cx="2161251" cy="568441"/>
            <a:chOff x="0" y="0"/>
            <a:chExt cx="2781291" cy="731520"/>
          </a:xfrm>
        </p:grpSpPr>
        <p:sp>
          <p:nvSpPr>
            <p:cNvPr id="7" name="Freeform 7"/>
            <p:cNvSpPr/>
            <p:nvPr/>
          </p:nvSpPr>
          <p:spPr>
            <a:xfrm>
              <a:off x="0" y="0"/>
              <a:ext cx="2781291" cy="731520"/>
            </a:xfrm>
            <a:custGeom>
              <a:avLst/>
              <a:gdLst/>
              <a:ahLst/>
              <a:cxnLst/>
              <a:rect l="l" t="t" r="r" b="b"/>
              <a:pathLst>
                <a:path w="2781291" h="731520">
                  <a:moveTo>
                    <a:pt x="0" y="0"/>
                  </a:moveTo>
                  <a:lnTo>
                    <a:pt x="2781291" y="0"/>
                  </a:lnTo>
                  <a:lnTo>
                    <a:pt x="2781291" y="731520"/>
                  </a:lnTo>
                  <a:lnTo>
                    <a:pt x="0" y="731520"/>
                  </a:lnTo>
                  <a:close/>
                </a:path>
              </a:pathLst>
            </a:custGeom>
            <a:blipFill>
              <a:blip r:embed="rId4">
                <a:alphaModFix amt="0"/>
              </a:blip>
              <a:stretch>
                <a:fillRect t="-39631" r="-20986" b="-39631"/>
              </a:stretch>
            </a:blipFill>
          </p:spPr>
        </p:sp>
        <p:sp>
          <p:nvSpPr>
            <p:cNvPr id="8" name="TextBox 8"/>
            <p:cNvSpPr txBox="1"/>
            <p:nvPr/>
          </p:nvSpPr>
          <p:spPr>
            <a:xfrm>
              <a:off x="0" y="-57150"/>
              <a:ext cx="2781291" cy="788670"/>
            </a:xfrm>
            <a:prstGeom prst="rect">
              <a:avLst/>
            </a:prstGeom>
          </p:spPr>
          <p:txBody>
            <a:bodyPr lIns="0" tIns="0" rIns="0" bIns="0" rtlCol="0" anchor="ctr"/>
            <a:lstStyle/>
            <a:p>
              <a:pPr algn="ctr">
                <a:lnSpc>
                  <a:spcPts val="3000"/>
                </a:lnSpc>
              </a:pPr>
              <a:r>
                <a:rPr lang="en-US" sz="2500">
                  <a:solidFill>
                    <a:srgbClr val="1A231C"/>
                  </a:solidFill>
                  <a:latin typeface="Calibri (MS)"/>
                  <a:ea typeface="Calibri (MS)"/>
                  <a:cs typeface="Calibri (MS)"/>
                  <a:sym typeface="Calibri (MS)"/>
                </a:rPr>
                <a:t>vulnerable</a:t>
              </a:r>
            </a:p>
          </p:txBody>
        </p:sp>
      </p:grpSp>
      <p:grpSp>
        <p:nvGrpSpPr>
          <p:cNvPr id="9" name="Group 9"/>
          <p:cNvGrpSpPr/>
          <p:nvPr/>
        </p:nvGrpSpPr>
        <p:grpSpPr>
          <a:xfrm>
            <a:off x="7360774" y="9160131"/>
            <a:ext cx="4473615" cy="765709"/>
            <a:chOff x="0" y="0"/>
            <a:chExt cx="4471759" cy="765391"/>
          </a:xfrm>
        </p:grpSpPr>
        <p:sp>
          <p:nvSpPr>
            <p:cNvPr id="10" name="Freeform 10"/>
            <p:cNvSpPr/>
            <p:nvPr/>
          </p:nvSpPr>
          <p:spPr>
            <a:xfrm>
              <a:off x="0" y="0"/>
              <a:ext cx="4471797" cy="765429"/>
            </a:xfrm>
            <a:custGeom>
              <a:avLst/>
              <a:gdLst/>
              <a:ahLst/>
              <a:cxnLst/>
              <a:rect l="l" t="t" r="r" b="b"/>
              <a:pathLst>
                <a:path w="4471797" h="765429">
                  <a:moveTo>
                    <a:pt x="0" y="0"/>
                  </a:moveTo>
                  <a:lnTo>
                    <a:pt x="4471797" y="0"/>
                  </a:lnTo>
                  <a:lnTo>
                    <a:pt x="4471797" y="765429"/>
                  </a:lnTo>
                  <a:lnTo>
                    <a:pt x="0" y="765429"/>
                  </a:lnTo>
                  <a:close/>
                </a:path>
              </a:pathLst>
            </a:custGeom>
            <a:solidFill>
              <a:srgbClr val="FFFFFF"/>
            </a:solidFill>
            <a:ln w="25400" cap="sq">
              <a:solidFill>
                <a:srgbClr val="FFFFFF"/>
              </a:solidFill>
              <a:prstDash val="solid"/>
              <a:miter/>
            </a:ln>
          </p:spPr>
        </p:sp>
      </p:grpSp>
      <p:grpSp>
        <p:nvGrpSpPr>
          <p:cNvPr id="11" name="Group 11"/>
          <p:cNvGrpSpPr/>
          <p:nvPr/>
        </p:nvGrpSpPr>
        <p:grpSpPr>
          <a:xfrm>
            <a:off x="7377710" y="9177068"/>
            <a:ext cx="4439730" cy="731824"/>
            <a:chOff x="0" y="0"/>
            <a:chExt cx="4437888" cy="731520"/>
          </a:xfrm>
        </p:grpSpPr>
        <p:sp>
          <p:nvSpPr>
            <p:cNvPr id="12" name="Freeform 12"/>
            <p:cNvSpPr/>
            <p:nvPr/>
          </p:nvSpPr>
          <p:spPr>
            <a:xfrm>
              <a:off x="0" y="0"/>
              <a:ext cx="4437888" cy="731520"/>
            </a:xfrm>
            <a:custGeom>
              <a:avLst/>
              <a:gdLst/>
              <a:ahLst/>
              <a:cxnLst/>
              <a:rect l="l" t="t" r="r" b="b"/>
              <a:pathLst>
                <a:path w="4437888" h="731520">
                  <a:moveTo>
                    <a:pt x="0" y="0"/>
                  </a:moveTo>
                  <a:lnTo>
                    <a:pt x="4437888" y="0"/>
                  </a:lnTo>
                  <a:lnTo>
                    <a:pt x="4437888" y="731520"/>
                  </a:lnTo>
                  <a:lnTo>
                    <a:pt x="0" y="731520"/>
                  </a:lnTo>
                  <a:close/>
                </a:path>
              </a:pathLst>
            </a:custGeom>
            <a:blipFill>
              <a:blip r:embed="rId4">
                <a:alphaModFix amt="0"/>
              </a:blip>
              <a:stretch>
                <a:fillRect t="-68209" b="-68209"/>
              </a:stretch>
            </a:blipFill>
          </p:spPr>
        </p:sp>
        <p:sp>
          <p:nvSpPr>
            <p:cNvPr id="13" name="TextBox 13"/>
            <p:cNvSpPr txBox="1"/>
            <p:nvPr/>
          </p:nvSpPr>
          <p:spPr>
            <a:xfrm>
              <a:off x="0" y="-66675"/>
              <a:ext cx="4437888" cy="798195"/>
            </a:xfrm>
            <a:prstGeom prst="rect">
              <a:avLst/>
            </a:prstGeom>
          </p:spPr>
          <p:txBody>
            <a:bodyPr lIns="0" tIns="0" rIns="0" bIns="0" rtlCol="0" anchor="ctr"/>
            <a:lstStyle/>
            <a:p>
              <a:pPr algn="ctr">
                <a:lnSpc>
                  <a:spcPts val="3359"/>
                </a:lnSpc>
              </a:pPr>
              <a:r>
                <a:rPr lang="en-US" sz="2799">
                  <a:solidFill>
                    <a:srgbClr val="1A231C"/>
                  </a:solidFill>
                  <a:latin typeface="Calibri (MS)"/>
                  <a:ea typeface="Calibri (MS)"/>
                  <a:cs typeface="Calibri (MS)"/>
                  <a:sym typeface="Calibri (MS)"/>
                </a:rPr>
                <a:t>             can fix you</a:t>
              </a:r>
            </a:p>
          </p:txBody>
        </p:sp>
      </p:grpSp>
      <p:grpSp>
        <p:nvGrpSpPr>
          <p:cNvPr id="14" name="Group 14"/>
          <p:cNvGrpSpPr/>
          <p:nvPr/>
        </p:nvGrpSpPr>
        <p:grpSpPr>
          <a:xfrm>
            <a:off x="7943522" y="9214857"/>
            <a:ext cx="1308336" cy="675295"/>
            <a:chOff x="0" y="0"/>
            <a:chExt cx="1744448" cy="900394"/>
          </a:xfrm>
        </p:grpSpPr>
        <p:sp>
          <p:nvSpPr>
            <p:cNvPr id="15" name="Freeform 15"/>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5EC"/>
        </a:solidFill>
        <a:effectLst/>
      </p:bgPr>
    </p:bg>
    <p:spTree>
      <p:nvGrpSpPr>
        <p:cNvPr id="1" name=""/>
        <p:cNvGrpSpPr/>
        <p:nvPr/>
      </p:nvGrpSpPr>
      <p:grpSpPr>
        <a:xfrm>
          <a:off x="0" y="0"/>
          <a:ext cx="0" cy="0"/>
          <a:chOff x="0" y="0"/>
          <a:chExt cx="0" cy="0"/>
        </a:xfrm>
      </p:grpSpPr>
      <p:sp>
        <p:nvSpPr>
          <p:cNvPr id="2" name="TextBox 2"/>
          <p:cNvSpPr txBox="1"/>
          <p:nvPr/>
        </p:nvSpPr>
        <p:spPr>
          <a:xfrm>
            <a:off x="914400" y="977265"/>
            <a:ext cx="16459200" cy="895350"/>
          </a:xfrm>
          <a:prstGeom prst="rect">
            <a:avLst/>
          </a:prstGeom>
        </p:spPr>
        <p:txBody>
          <a:bodyPr lIns="0" tIns="0" rIns="0" bIns="0" rtlCol="0" anchor="t">
            <a:spAutoFit/>
          </a:bodyPr>
          <a:lstStyle/>
          <a:p>
            <a:pPr algn="l">
              <a:lnSpc>
                <a:spcPts val="6839"/>
              </a:lnSpc>
            </a:pPr>
            <a:r>
              <a:rPr lang="en-US" sz="5699" b="1">
                <a:solidFill>
                  <a:srgbClr val="1A231C"/>
                </a:solidFill>
                <a:latin typeface="Arial Bold"/>
                <a:ea typeface="Arial Bold"/>
                <a:cs typeface="Arial Bold"/>
                <a:sym typeface="Arial Bold"/>
              </a:rPr>
              <a:t>A breach is a balance-sheet event</a:t>
            </a:r>
          </a:p>
        </p:txBody>
      </p:sp>
      <p:grpSp>
        <p:nvGrpSpPr>
          <p:cNvPr id="3" name="Group 3"/>
          <p:cNvGrpSpPr/>
          <p:nvPr/>
        </p:nvGrpSpPr>
        <p:grpSpPr>
          <a:xfrm>
            <a:off x="914400" y="9363456"/>
            <a:ext cx="14996160" cy="548640"/>
            <a:chOff x="0" y="0"/>
            <a:chExt cx="19994880" cy="731520"/>
          </a:xfrm>
        </p:grpSpPr>
        <p:sp>
          <p:nvSpPr>
            <p:cNvPr id="4" name="Freeform 4"/>
            <p:cNvSpPr/>
            <p:nvPr/>
          </p:nvSpPr>
          <p:spPr>
            <a:xfrm>
              <a:off x="0" y="0"/>
              <a:ext cx="19994880" cy="731520"/>
            </a:xfrm>
            <a:custGeom>
              <a:avLst/>
              <a:gdLst/>
              <a:ahLst/>
              <a:cxnLst/>
              <a:rect l="l" t="t" r="r" b="b"/>
              <a:pathLst>
                <a:path w="19994880" h="731520">
                  <a:moveTo>
                    <a:pt x="0" y="0"/>
                  </a:moveTo>
                  <a:lnTo>
                    <a:pt x="19994880" y="0"/>
                  </a:lnTo>
                  <a:lnTo>
                    <a:pt x="19994880" y="731520"/>
                  </a:lnTo>
                  <a:lnTo>
                    <a:pt x="0" y="731520"/>
                  </a:lnTo>
                  <a:close/>
                </a:path>
              </a:pathLst>
            </a:custGeom>
            <a:blipFill>
              <a:blip r:embed="rId3">
                <a:alphaModFix amt="0"/>
              </a:blip>
              <a:stretch>
                <a:fillRect t="-482591" b="-482591"/>
              </a:stretch>
            </a:blipFill>
          </p:spPr>
        </p:sp>
        <p:sp>
          <p:nvSpPr>
            <p:cNvPr id="5" name="TextBox 5"/>
            <p:cNvSpPr txBox="1"/>
            <p:nvPr/>
          </p:nvSpPr>
          <p:spPr>
            <a:xfrm>
              <a:off x="0" y="-38100"/>
              <a:ext cx="19994880" cy="769620"/>
            </a:xfrm>
            <a:prstGeom prst="rect">
              <a:avLst/>
            </a:prstGeom>
          </p:spPr>
          <p:txBody>
            <a:bodyPr lIns="0" tIns="0" rIns="0" bIns="0" rtlCol="0" anchor="ctr"/>
            <a:lstStyle/>
            <a:p>
              <a:pPr algn="l">
                <a:lnSpc>
                  <a:spcPts val="2160"/>
                </a:lnSpc>
              </a:pPr>
              <a:r>
                <a:rPr lang="en-US" sz="1800">
                  <a:solidFill>
                    <a:srgbClr val="5F6B62"/>
                  </a:solidFill>
                  <a:latin typeface="Calibri (MS)"/>
                  <a:ea typeface="Calibri (MS)"/>
                  <a:cs typeface="Calibri (MS)"/>
                  <a:sym typeface="Calibri (MS)"/>
                </a:rPr>
                <a:t>IBM Cost of a Data Breach 2026 (India, Mar 2025 to Feb 2026 breaches). Verizon 2026 DBIR (22,000+ confirmed breaches).</a:t>
              </a:r>
            </a:p>
          </p:txBody>
        </p:sp>
      </p:grpSp>
      <p:grpSp>
        <p:nvGrpSpPr>
          <p:cNvPr id="6" name="Group 6"/>
          <p:cNvGrpSpPr/>
          <p:nvPr/>
        </p:nvGrpSpPr>
        <p:grpSpPr>
          <a:xfrm>
            <a:off x="904875" y="2459355"/>
            <a:ext cx="8065770" cy="6511290"/>
            <a:chOff x="0" y="0"/>
            <a:chExt cx="10754360" cy="8681720"/>
          </a:xfrm>
        </p:grpSpPr>
        <p:sp>
          <p:nvSpPr>
            <p:cNvPr id="7" name="Freeform 7"/>
            <p:cNvSpPr/>
            <p:nvPr/>
          </p:nvSpPr>
          <p:spPr>
            <a:xfrm>
              <a:off x="0" y="0"/>
              <a:ext cx="10754360" cy="8681720"/>
            </a:xfrm>
            <a:custGeom>
              <a:avLst/>
              <a:gdLst/>
              <a:ahLst/>
              <a:cxnLst/>
              <a:rect l="l" t="t" r="r" b="b"/>
              <a:pathLst>
                <a:path w="10754360" h="8681720">
                  <a:moveTo>
                    <a:pt x="0" y="244602"/>
                  </a:moveTo>
                  <a:cubicBezTo>
                    <a:pt x="0" y="109474"/>
                    <a:pt x="109474" y="0"/>
                    <a:pt x="244602" y="0"/>
                  </a:cubicBezTo>
                  <a:lnTo>
                    <a:pt x="10509758" y="0"/>
                  </a:lnTo>
                  <a:cubicBezTo>
                    <a:pt x="10644886" y="0"/>
                    <a:pt x="10754360" y="109474"/>
                    <a:pt x="10754360" y="244602"/>
                  </a:cubicBezTo>
                  <a:lnTo>
                    <a:pt x="10754360" y="8437118"/>
                  </a:lnTo>
                  <a:cubicBezTo>
                    <a:pt x="10754360" y="8572247"/>
                    <a:pt x="10644886" y="8681720"/>
                    <a:pt x="10509758" y="8681720"/>
                  </a:cubicBezTo>
                  <a:lnTo>
                    <a:pt x="244602" y="8681720"/>
                  </a:lnTo>
                  <a:cubicBezTo>
                    <a:pt x="109474" y="8681720"/>
                    <a:pt x="0" y="8572246"/>
                    <a:pt x="0" y="8437118"/>
                  </a:cubicBezTo>
                  <a:close/>
                </a:path>
              </a:pathLst>
            </a:custGeom>
            <a:solidFill>
              <a:srgbClr val="FFFFFF"/>
            </a:solidFill>
            <a:ln w="19050" cap="sq">
              <a:solidFill>
                <a:srgbClr val="DDE3D8"/>
              </a:solidFill>
              <a:prstDash val="solid"/>
              <a:miter/>
            </a:ln>
          </p:spPr>
        </p:sp>
      </p:grpSp>
      <p:grpSp>
        <p:nvGrpSpPr>
          <p:cNvPr id="8" name="Group 8"/>
          <p:cNvGrpSpPr/>
          <p:nvPr/>
        </p:nvGrpSpPr>
        <p:grpSpPr>
          <a:xfrm>
            <a:off x="1371600" y="2743200"/>
            <a:ext cx="7132320" cy="548640"/>
            <a:chOff x="0" y="0"/>
            <a:chExt cx="9509760" cy="731520"/>
          </a:xfrm>
        </p:grpSpPr>
        <p:sp>
          <p:nvSpPr>
            <p:cNvPr id="9" name="Freeform 9"/>
            <p:cNvSpPr/>
            <p:nvPr/>
          </p:nvSpPr>
          <p:spPr>
            <a:xfrm>
              <a:off x="0" y="0"/>
              <a:ext cx="9509760" cy="731520"/>
            </a:xfrm>
            <a:custGeom>
              <a:avLst/>
              <a:gdLst/>
              <a:ahLst/>
              <a:cxnLst/>
              <a:rect l="l" t="t" r="r" b="b"/>
              <a:pathLst>
                <a:path w="9509760" h="731520">
                  <a:moveTo>
                    <a:pt x="0" y="0"/>
                  </a:moveTo>
                  <a:lnTo>
                    <a:pt x="9509760" y="0"/>
                  </a:lnTo>
                  <a:lnTo>
                    <a:pt x="9509760" y="731520"/>
                  </a:lnTo>
                  <a:lnTo>
                    <a:pt x="0" y="731520"/>
                  </a:lnTo>
                  <a:close/>
                </a:path>
              </a:pathLst>
            </a:custGeom>
            <a:blipFill>
              <a:blip r:embed="rId3">
                <a:alphaModFix amt="0"/>
              </a:blip>
              <a:stretch>
                <a:fillRect t="-203305" b="-203305"/>
              </a:stretch>
            </a:blipFill>
          </p:spPr>
        </p:sp>
        <p:sp>
          <p:nvSpPr>
            <p:cNvPr id="10" name="TextBox 10"/>
            <p:cNvSpPr txBox="1"/>
            <p:nvPr/>
          </p:nvSpPr>
          <p:spPr>
            <a:xfrm>
              <a:off x="0" y="-38100"/>
              <a:ext cx="9509760" cy="769620"/>
            </a:xfrm>
            <a:prstGeom prst="rect">
              <a:avLst/>
            </a:prstGeom>
          </p:spPr>
          <p:txBody>
            <a:bodyPr lIns="0" tIns="0" rIns="0" bIns="0" rtlCol="0" anchor="ctr"/>
            <a:lstStyle/>
            <a:p>
              <a:pPr algn="l">
                <a:lnSpc>
                  <a:spcPts val="2879"/>
                </a:lnSpc>
              </a:pPr>
              <a:r>
                <a:rPr lang="en-US" sz="2400" b="1">
                  <a:solidFill>
                    <a:srgbClr val="1A231C"/>
                  </a:solidFill>
                  <a:latin typeface="Calibri (MS) Bold"/>
                  <a:ea typeface="Calibri (MS) Bold"/>
                  <a:cs typeface="Calibri (MS) Bold"/>
                  <a:sym typeface="Calibri (MS) Bold"/>
                </a:rPr>
                <a:t>Average cost of one breach in India</a:t>
              </a:r>
            </a:p>
          </p:txBody>
        </p:sp>
      </p:grpSp>
      <p:grpSp>
        <p:nvGrpSpPr>
          <p:cNvPr id="11" name="Group 11"/>
          <p:cNvGrpSpPr/>
          <p:nvPr/>
        </p:nvGrpSpPr>
        <p:grpSpPr>
          <a:xfrm>
            <a:off x="1371600" y="3255264"/>
            <a:ext cx="7132320" cy="457200"/>
            <a:chOff x="0" y="0"/>
            <a:chExt cx="9509760" cy="609600"/>
          </a:xfrm>
        </p:grpSpPr>
        <p:sp>
          <p:nvSpPr>
            <p:cNvPr id="12" name="Freeform 12"/>
            <p:cNvSpPr/>
            <p:nvPr/>
          </p:nvSpPr>
          <p:spPr>
            <a:xfrm>
              <a:off x="0" y="0"/>
              <a:ext cx="9509760" cy="609600"/>
            </a:xfrm>
            <a:custGeom>
              <a:avLst/>
              <a:gdLst/>
              <a:ahLst/>
              <a:cxnLst/>
              <a:rect l="l" t="t" r="r" b="b"/>
              <a:pathLst>
                <a:path w="9509760" h="609600">
                  <a:moveTo>
                    <a:pt x="0" y="0"/>
                  </a:moveTo>
                  <a:lnTo>
                    <a:pt x="9509760" y="0"/>
                  </a:lnTo>
                  <a:lnTo>
                    <a:pt x="9509760" y="609600"/>
                  </a:lnTo>
                  <a:lnTo>
                    <a:pt x="0" y="609600"/>
                  </a:lnTo>
                  <a:close/>
                </a:path>
              </a:pathLst>
            </a:custGeom>
            <a:blipFill>
              <a:blip r:embed="rId3">
                <a:alphaModFix amt="0"/>
              </a:blip>
              <a:stretch>
                <a:fillRect t="-253966" b="-253966"/>
              </a:stretch>
            </a:blipFill>
          </p:spPr>
        </p:sp>
        <p:sp>
          <p:nvSpPr>
            <p:cNvPr id="13" name="TextBox 13"/>
            <p:cNvSpPr txBox="1"/>
            <p:nvPr/>
          </p:nvSpPr>
          <p:spPr>
            <a:xfrm>
              <a:off x="0" y="-38100"/>
              <a:ext cx="9509760" cy="647700"/>
            </a:xfrm>
            <a:prstGeom prst="rect">
              <a:avLst/>
            </a:prstGeom>
          </p:spPr>
          <p:txBody>
            <a:bodyPr lIns="0" tIns="0" rIns="0" bIns="0" rtlCol="0" anchor="ctr"/>
            <a:lstStyle/>
            <a:p>
              <a:pPr algn="l">
                <a:lnSpc>
                  <a:spcPts val="2400"/>
                </a:lnSpc>
              </a:pPr>
              <a:r>
                <a:rPr lang="en-US" sz="2000">
                  <a:solidFill>
                    <a:srgbClr val="5F6B62"/>
                  </a:solidFill>
                  <a:latin typeface="Calibri (MS)"/>
                  <a:ea typeface="Calibri (MS)"/>
                  <a:cs typeface="Calibri (MS)"/>
                  <a:sym typeface="Calibri (MS)"/>
                </a:rPr>
                <a:t>₹ crore, up 15.9% in a year</a:t>
              </a:r>
            </a:p>
          </p:txBody>
        </p:sp>
      </p:grpSp>
      <p:pic>
        <p:nvPicPr>
          <p:cNvPr id="14" name="Picture 14"/>
          <p:cNvPicPr>
            <a:picLocks noChangeAspect="1"/>
          </p:cNvPicPr>
          <p:nvPr/>
        </p:nvPicPr>
        <p:blipFill>
          <a:blip r:embed="rId4"/>
          <a:stretch>
            <a:fillRect/>
          </a:stretch>
        </p:blipFill>
        <p:spPr>
          <a:xfrm>
            <a:off x="197919" y="2894023"/>
            <a:ext cx="9094343" cy="6505173"/>
          </a:xfrm>
          <a:prstGeom prst="rect">
            <a:avLst/>
          </a:prstGeom>
        </p:spPr>
      </p:pic>
      <p:grpSp>
        <p:nvGrpSpPr>
          <p:cNvPr id="15" name="Group 15"/>
          <p:cNvGrpSpPr/>
          <p:nvPr/>
        </p:nvGrpSpPr>
        <p:grpSpPr>
          <a:xfrm>
            <a:off x="9500235" y="2459355"/>
            <a:ext cx="7882890" cy="1994154"/>
            <a:chOff x="0" y="0"/>
            <a:chExt cx="10510520" cy="2658872"/>
          </a:xfrm>
        </p:grpSpPr>
        <p:sp>
          <p:nvSpPr>
            <p:cNvPr id="16" name="Freeform 16"/>
            <p:cNvSpPr/>
            <p:nvPr/>
          </p:nvSpPr>
          <p:spPr>
            <a:xfrm>
              <a:off x="0" y="0"/>
              <a:ext cx="10510520" cy="2658872"/>
            </a:xfrm>
            <a:custGeom>
              <a:avLst/>
              <a:gdLst/>
              <a:ahLst/>
              <a:cxnLst/>
              <a:rect l="l" t="t" r="r" b="b"/>
              <a:pathLst>
                <a:path w="10510520" h="2658872">
                  <a:moveTo>
                    <a:pt x="0" y="246126"/>
                  </a:moveTo>
                  <a:cubicBezTo>
                    <a:pt x="0" y="110236"/>
                    <a:pt x="110236" y="0"/>
                    <a:pt x="246126" y="0"/>
                  </a:cubicBezTo>
                  <a:lnTo>
                    <a:pt x="10264394" y="0"/>
                  </a:lnTo>
                  <a:cubicBezTo>
                    <a:pt x="10400411" y="0"/>
                    <a:pt x="10510520" y="110236"/>
                    <a:pt x="10510520" y="246126"/>
                  </a:cubicBezTo>
                  <a:lnTo>
                    <a:pt x="10510520" y="2412746"/>
                  </a:lnTo>
                  <a:cubicBezTo>
                    <a:pt x="10510520" y="2548763"/>
                    <a:pt x="10400284" y="2658872"/>
                    <a:pt x="10264394" y="2658872"/>
                  </a:cubicBezTo>
                  <a:lnTo>
                    <a:pt x="246126" y="2658872"/>
                  </a:lnTo>
                  <a:cubicBezTo>
                    <a:pt x="110236" y="2658872"/>
                    <a:pt x="0" y="2548636"/>
                    <a:pt x="0" y="2412746"/>
                  </a:cubicBezTo>
                  <a:close/>
                </a:path>
              </a:pathLst>
            </a:custGeom>
            <a:solidFill>
              <a:srgbClr val="FFFFFF"/>
            </a:solidFill>
            <a:ln w="19050" cap="sq">
              <a:solidFill>
                <a:srgbClr val="DDE3D8"/>
              </a:solidFill>
              <a:prstDash val="solid"/>
              <a:miter/>
            </a:ln>
          </p:spPr>
        </p:sp>
      </p:grpSp>
      <p:grpSp>
        <p:nvGrpSpPr>
          <p:cNvPr id="17" name="Group 17"/>
          <p:cNvGrpSpPr/>
          <p:nvPr/>
        </p:nvGrpSpPr>
        <p:grpSpPr>
          <a:xfrm>
            <a:off x="9912096" y="2688336"/>
            <a:ext cx="7132320" cy="822960"/>
            <a:chOff x="0" y="0"/>
            <a:chExt cx="9509760" cy="1097280"/>
          </a:xfrm>
        </p:grpSpPr>
        <p:sp>
          <p:nvSpPr>
            <p:cNvPr id="18" name="Freeform 18"/>
            <p:cNvSpPr/>
            <p:nvPr/>
          </p:nvSpPr>
          <p:spPr>
            <a:xfrm>
              <a:off x="0" y="0"/>
              <a:ext cx="9509760" cy="1097280"/>
            </a:xfrm>
            <a:custGeom>
              <a:avLst/>
              <a:gdLst/>
              <a:ahLst/>
              <a:cxnLst/>
              <a:rect l="l" t="t" r="r" b="b"/>
              <a:pathLst>
                <a:path w="9509760" h="1097280">
                  <a:moveTo>
                    <a:pt x="0" y="0"/>
                  </a:moveTo>
                  <a:lnTo>
                    <a:pt x="9509760" y="0"/>
                  </a:lnTo>
                  <a:lnTo>
                    <a:pt x="9509760" y="1097280"/>
                  </a:lnTo>
                  <a:lnTo>
                    <a:pt x="0" y="1097280"/>
                  </a:lnTo>
                  <a:close/>
                </a:path>
              </a:pathLst>
            </a:custGeom>
            <a:blipFill>
              <a:blip r:embed="rId3">
                <a:alphaModFix amt="0"/>
              </a:blip>
              <a:stretch>
                <a:fillRect t="-118870" b="-118870"/>
              </a:stretch>
            </a:blipFill>
          </p:spPr>
        </p:sp>
        <p:sp>
          <p:nvSpPr>
            <p:cNvPr id="19" name="TextBox 19"/>
            <p:cNvSpPr txBox="1"/>
            <p:nvPr/>
          </p:nvSpPr>
          <p:spPr>
            <a:xfrm>
              <a:off x="0" y="-19050"/>
              <a:ext cx="9509760" cy="1116330"/>
            </a:xfrm>
            <a:prstGeom prst="rect">
              <a:avLst/>
            </a:prstGeom>
          </p:spPr>
          <p:txBody>
            <a:bodyPr lIns="0" tIns="0" rIns="0" bIns="0" rtlCol="0" anchor="ctr"/>
            <a:lstStyle/>
            <a:p>
              <a:pPr algn="l">
                <a:lnSpc>
                  <a:spcPts val="5759"/>
                </a:lnSpc>
              </a:pPr>
              <a:r>
                <a:rPr lang="en-US" sz="4800" b="1">
                  <a:solidFill>
                    <a:srgbClr val="B23A2E"/>
                  </a:solidFill>
                  <a:latin typeface="Arial Bold"/>
                  <a:ea typeface="Arial Bold"/>
                  <a:cs typeface="Arial Bold"/>
                  <a:sym typeface="Arial Bold"/>
                </a:rPr>
                <a:t>31%</a:t>
              </a:r>
            </a:p>
          </p:txBody>
        </p:sp>
      </p:grpSp>
      <p:sp>
        <p:nvSpPr>
          <p:cNvPr id="20" name="TextBox 20"/>
          <p:cNvSpPr txBox="1"/>
          <p:nvPr/>
        </p:nvSpPr>
        <p:spPr>
          <a:xfrm>
            <a:off x="9912096" y="3463671"/>
            <a:ext cx="7132320" cy="815721"/>
          </a:xfrm>
          <a:prstGeom prst="rect">
            <a:avLst/>
          </a:prstGeom>
        </p:spPr>
        <p:txBody>
          <a:bodyPr lIns="0" tIns="0" rIns="0" bIns="0" rtlCol="0" anchor="t">
            <a:spAutoFit/>
          </a:bodyPr>
          <a:lstStyle/>
          <a:p>
            <a:pPr algn="l">
              <a:lnSpc>
                <a:spcPts val="2639"/>
              </a:lnSpc>
            </a:pPr>
            <a:r>
              <a:rPr lang="en-US" sz="2199">
                <a:solidFill>
                  <a:srgbClr val="5F6B62"/>
                </a:solidFill>
                <a:latin typeface="Calibri (MS)"/>
                <a:ea typeface="Calibri (MS)"/>
                <a:cs typeface="Calibri (MS)"/>
                <a:sym typeface="Calibri (MS)"/>
              </a:rPr>
              <a:t>of breaches now begin with an exploited vulnerability, the number one way in</a:t>
            </a:r>
          </a:p>
        </p:txBody>
      </p:sp>
      <p:grpSp>
        <p:nvGrpSpPr>
          <p:cNvPr id="21" name="Group 21"/>
          <p:cNvGrpSpPr/>
          <p:nvPr/>
        </p:nvGrpSpPr>
        <p:grpSpPr>
          <a:xfrm>
            <a:off x="9500235" y="4690491"/>
            <a:ext cx="7882890" cy="1994154"/>
            <a:chOff x="0" y="0"/>
            <a:chExt cx="10510520" cy="2658872"/>
          </a:xfrm>
        </p:grpSpPr>
        <p:sp>
          <p:nvSpPr>
            <p:cNvPr id="22" name="Freeform 22"/>
            <p:cNvSpPr/>
            <p:nvPr/>
          </p:nvSpPr>
          <p:spPr>
            <a:xfrm>
              <a:off x="0" y="0"/>
              <a:ext cx="10510520" cy="2658872"/>
            </a:xfrm>
            <a:custGeom>
              <a:avLst/>
              <a:gdLst/>
              <a:ahLst/>
              <a:cxnLst/>
              <a:rect l="l" t="t" r="r" b="b"/>
              <a:pathLst>
                <a:path w="10510520" h="2658872">
                  <a:moveTo>
                    <a:pt x="0" y="246126"/>
                  </a:moveTo>
                  <a:cubicBezTo>
                    <a:pt x="0" y="110236"/>
                    <a:pt x="110236" y="0"/>
                    <a:pt x="246126" y="0"/>
                  </a:cubicBezTo>
                  <a:lnTo>
                    <a:pt x="10264394" y="0"/>
                  </a:lnTo>
                  <a:cubicBezTo>
                    <a:pt x="10400411" y="0"/>
                    <a:pt x="10510520" y="110236"/>
                    <a:pt x="10510520" y="246126"/>
                  </a:cubicBezTo>
                  <a:lnTo>
                    <a:pt x="10510520" y="2412746"/>
                  </a:lnTo>
                  <a:cubicBezTo>
                    <a:pt x="10510520" y="2548763"/>
                    <a:pt x="10400284" y="2658872"/>
                    <a:pt x="10264394" y="2658872"/>
                  </a:cubicBezTo>
                  <a:lnTo>
                    <a:pt x="246126" y="2658872"/>
                  </a:lnTo>
                  <a:cubicBezTo>
                    <a:pt x="110236" y="2658872"/>
                    <a:pt x="0" y="2548636"/>
                    <a:pt x="0" y="2412746"/>
                  </a:cubicBezTo>
                  <a:close/>
                </a:path>
              </a:pathLst>
            </a:custGeom>
            <a:solidFill>
              <a:srgbClr val="FFFFFF"/>
            </a:solidFill>
            <a:ln w="19050" cap="sq">
              <a:solidFill>
                <a:srgbClr val="DDE3D8"/>
              </a:solidFill>
              <a:prstDash val="solid"/>
              <a:miter/>
            </a:ln>
          </p:spPr>
        </p:sp>
      </p:grpSp>
      <p:grpSp>
        <p:nvGrpSpPr>
          <p:cNvPr id="23" name="Group 23"/>
          <p:cNvGrpSpPr/>
          <p:nvPr/>
        </p:nvGrpSpPr>
        <p:grpSpPr>
          <a:xfrm>
            <a:off x="9912096" y="4919472"/>
            <a:ext cx="7132320" cy="822960"/>
            <a:chOff x="0" y="0"/>
            <a:chExt cx="9509760" cy="1097280"/>
          </a:xfrm>
        </p:grpSpPr>
        <p:sp>
          <p:nvSpPr>
            <p:cNvPr id="24" name="Freeform 24"/>
            <p:cNvSpPr/>
            <p:nvPr/>
          </p:nvSpPr>
          <p:spPr>
            <a:xfrm>
              <a:off x="0" y="0"/>
              <a:ext cx="9509760" cy="1097280"/>
            </a:xfrm>
            <a:custGeom>
              <a:avLst/>
              <a:gdLst/>
              <a:ahLst/>
              <a:cxnLst/>
              <a:rect l="l" t="t" r="r" b="b"/>
              <a:pathLst>
                <a:path w="9509760" h="1097280">
                  <a:moveTo>
                    <a:pt x="0" y="0"/>
                  </a:moveTo>
                  <a:lnTo>
                    <a:pt x="9509760" y="0"/>
                  </a:lnTo>
                  <a:lnTo>
                    <a:pt x="9509760" y="1097280"/>
                  </a:lnTo>
                  <a:lnTo>
                    <a:pt x="0" y="1097280"/>
                  </a:lnTo>
                  <a:close/>
                </a:path>
              </a:pathLst>
            </a:custGeom>
            <a:blipFill>
              <a:blip r:embed="rId3">
                <a:alphaModFix amt="0"/>
              </a:blip>
              <a:stretch>
                <a:fillRect t="-118870" b="-118870"/>
              </a:stretch>
            </a:blipFill>
          </p:spPr>
        </p:sp>
        <p:sp>
          <p:nvSpPr>
            <p:cNvPr id="25" name="TextBox 25"/>
            <p:cNvSpPr txBox="1"/>
            <p:nvPr/>
          </p:nvSpPr>
          <p:spPr>
            <a:xfrm>
              <a:off x="0" y="-19050"/>
              <a:ext cx="9509760" cy="1116330"/>
            </a:xfrm>
            <a:prstGeom prst="rect">
              <a:avLst/>
            </a:prstGeom>
          </p:spPr>
          <p:txBody>
            <a:bodyPr lIns="0" tIns="0" rIns="0" bIns="0" rtlCol="0" anchor="ctr"/>
            <a:lstStyle/>
            <a:p>
              <a:pPr algn="l">
                <a:lnSpc>
                  <a:spcPts val="5759"/>
                </a:lnSpc>
              </a:pPr>
              <a:r>
                <a:rPr lang="en-US" sz="4800" b="1">
                  <a:solidFill>
                    <a:srgbClr val="B23A2E"/>
                  </a:solidFill>
                  <a:latin typeface="Arial Bold"/>
                  <a:ea typeface="Arial Bold"/>
                  <a:cs typeface="Arial Bold"/>
                  <a:sym typeface="Arial Bold"/>
                </a:rPr>
                <a:t>39,500</a:t>
              </a:r>
            </a:p>
          </p:txBody>
        </p:sp>
      </p:grpSp>
      <p:sp>
        <p:nvSpPr>
          <p:cNvPr id="26" name="TextBox 26"/>
          <p:cNvSpPr txBox="1"/>
          <p:nvPr/>
        </p:nvSpPr>
        <p:spPr>
          <a:xfrm>
            <a:off x="9912096" y="5694807"/>
            <a:ext cx="7132320" cy="815721"/>
          </a:xfrm>
          <a:prstGeom prst="rect">
            <a:avLst/>
          </a:prstGeom>
        </p:spPr>
        <p:txBody>
          <a:bodyPr lIns="0" tIns="0" rIns="0" bIns="0" rtlCol="0" anchor="t">
            <a:spAutoFit/>
          </a:bodyPr>
          <a:lstStyle/>
          <a:p>
            <a:pPr algn="l">
              <a:lnSpc>
                <a:spcPts val="2639"/>
              </a:lnSpc>
            </a:pPr>
            <a:r>
              <a:rPr lang="en-US" sz="2199">
                <a:solidFill>
                  <a:srgbClr val="5F6B62"/>
                </a:solidFill>
                <a:latin typeface="Calibri (MS)"/>
                <a:ea typeface="Calibri (MS)"/>
                <a:cs typeface="Calibri (MS)"/>
                <a:sym typeface="Calibri (MS)"/>
              </a:rPr>
              <a:t>records exposed in an average Indian breach, up from 38,200</a:t>
            </a:r>
          </a:p>
        </p:txBody>
      </p:sp>
      <p:grpSp>
        <p:nvGrpSpPr>
          <p:cNvPr id="27" name="Group 27"/>
          <p:cNvGrpSpPr/>
          <p:nvPr/>
        </p:nvGrpSpPr>
        <p:grpSpPr>
          <a:xfrm>
            <a:off x="9500235" y="6921627"/>
            <a:ext cx="7882890" cy="1994154"/>
            <a:chOff x="0" y="0"/>
            <a:chExt cx="10510520" cy="2658872"/>
          </a:xfrm>
        </p:grpSpPr>
        <p:sp>
          <p:nvSpPr>
            <p:cNvPr id="28" name="Freeform 28"/>
            <p:cNvSpPr/>
            <p:nvPr/>
          </p:nvSpPr>
          <p:spPr>
            <a:xfrm>
              <a:off x="0" y="0"/>
              <a:ext cx="10510520" cy="2658872"/>
            </a:xfrm>
            <a:custGeom>
              <a:avLst/>
              <a:gdLst/>
              <a:ahLst/>
              <a:cxnLst/>
              <a:rect l="l" t="t" r="r" b="b"/>
              <a:pathLst>
                <a:path w="10510520" h="2658872">
                  <a:moveTo>
                    <a:pt x="0" y="246126"/>
                  </a:moveTo>
                  <a:cubicBezTo>
                    <a:pt x="0" y="110236"/>
                    <a:pt x="110236" y="0"/>
                    <a:pt x="246126" y="0"/>
                  </a:cubicBezTo>
                  <a:lnTo>
                    <a:pt x="10264394" y="0"/>
                  </a:lnTo>
                  <a:cubicBezTo>
                    <a:pt x="10400411" y="0"/>
                    <a:pt x="10510520" y="110236"/>
                    <a:pt x="10510520" y="246126"/>
                  </a:cubicBezTo>
                  <a:lnTo>
                    <a:pt x="10510520" y="2412746"/>
                  </a:lnTo>
                  <a:cubicBezTo>
                    <a:pt x="10510520" y="2548763"/>
                    <a:pt x="10400284" y="2658872"/>
                    <a:pt x="10264394" y="2658872"/>
                  </a:cubicBezTo>
                  <a:lnTo>
                    <a:pt x="246126" y="2658872"/>
                  </a:lnTo>
                  <a:cubicBezTo>
                    <a:pt x="110236" y="2658872"/>
                    <a:pt x="0" y="2548636"/>
                    <a:pt x="0" y="2412746"/>
                  </a:cubicBezTo>
                  <a:close/>
                </a:path>
              </a:pathLst>
            </a:custGeom>
            <a:solidFill>
              <a:srgbClr val="FFFFFF"/>
            </a:solidFill>
            <a:ln w="19050" cap="sq">
              <a:solidFill>
                <a:srgbClr val="DDE3D8"/>
              </a:solidFill>
              <a:prstDash val="solid"/>
              <a:miter/>
            </a:ln>
          </p:spPr>
        </p:sp>
      </p:grpSp>
      <p:grpSp>
        <p:nvGrpSpPr>
          <p:cNvPr id="29" name="Group 29"/>
          <p:cNvGrpSpPr/>
          <p:nvPr/>
        </p:nvGrpSpPr>
        <p:grpSpPr>
          <a:xfrm>
            <a:off x="9912096" y="7150608"/>
            <a:ext cx="7132320" cy="822960"/>
            <a:chOff x="0" y="0"/>
            <a:chExt cx="9509760" cy="1097280"/>
          </a:xfrm>
        </p:grpSpPr>
        <p:sp>
          <p:nvSpPr>
            <p:cNvPr id="30" name="Freeform 30"/>
            <p:cNvSpPr/>
            <p:nvPr/>
          </p:nvSpPr>
          <p:spPr>
            <a:xfrm>
              <a:off x="0" y="0"/>
              <a:ext cx="9509760" cy="1097280"/>
            </a:xfrm>
            <a:custGeom>
              <a:avLst/>
              <a:gdLst/>
              <a:ahLst/>
              <a:cxnLst/>
              <a:rect l="l" t="t" r="r" b="b"/>
              <a:pathLst>
                <a:path w="9509760" h="1097280">
                  <a:moveTo>
                    <a:pt x="0" y="0"/>
                  </a:moveTo>
                  <a:lnTo>
                    <a:pt x="9509760" y="0"/>
                  </a:lnTo>
                  <a:lnTo>
                    <a:pt x="9509760" y="1097280"/>
                  </a:lnTo>
                  <a:lnTo>
                    <a:pt x="0" y="1097280"/>
                  </a:lnTo>
                  <a:close/>
                </a:path>
              </a:pathLst>
            </a:custGeom>
            <a:blipFill>
              <a:blip r:embed="rId3">
                <a:alphaModFix amt="0"/>
              </a:blip>
              <a:stretch>
                <a:fillRect t="-118870" b="-118870"/>
              </a:stretch>
            </a:blipFill>
          </p:spPr>
        </p:sp>
        <p:sp>
          <p:nvSpPr>
            <p:cNvPr id="31" name="TextBox 31"/>
            <p:cNvSpPr txBox="1"/>
            <p:nvPr/>
          </p:nvSpPr>
          <p:spPr>
            <a:xfrm>
              <a:off x="0" y="-19050"/>
              <a:ext cx="9509760" cy="1116330"/>
            </a:xfrm>
            <a:prstGeom prst="rect">
              <a:avLst/>
            </a:prstGeom>
          </p:spPr>
          <p:txBody>
            <a:bodyPr lIns="0" tIns="0" rIns="0" bIns="0" rtlCol="0" anchor="ctr"/>
            <a:lstStyle/>
            <a:p>
              <a:pPr algn="l">
                <a:lnSpc>
                  <a:spcPts val="5759"/>
                </a:lnSpc>
              </a:pPr>
              <a:r>
                <a:rPr lang="en-US" sz="4800" b="1">
                  <a:solidFill>
                    <a:srgbClr val="2F6B3A"/>
                  </a:solidFill>
                  <a:latin typeface="Arial Bold"/>
                  <a:ea typeface="Arial Bold"/>
                  <a:cs typeface="Arial Bold"/>
                  <a:sym typeface="Arial Bold"/>
                </a:rPr>
                <a:t>₹2.47 cr</a:t>
              </a:r>
            </a:p>
          </p:txBody>
        </p:sp>
      </p:grpSp>
      <p:sp>
        <p:nvSpPr>
          <p:cNvPr id="32" name="TextBox 32"/>
          <p:cNvSpPr txBox="1"/>
          <p:nvPr/>
        </p:nvSpPr>
        <p:spPr>
          <a:xfrm>
            <a:off x="9912096" y="7925943"/>
            <a:ext cx="7132320" cy="815721"/>
          </a:xfrm>
          <a:prstGeom prst="rect">
            <a:avLst/>
          </a:prstGeom>
        </p:spPr>
        <p:txBody>
          <a:bodyPr lIns="0" tIns="0" rIns="0" bIns="0" rtlCol="0" anchor="t">
            <a:spAutoFit/>
          </a:bodyPr>
          <a:lstStyle/>
          <a:p>
            <a:pPr algn="l">
              <a:lnSpc>
                <a:spcPts val="2639"/>
              </a:lnSpc>
            </a:pPr>
            <a:r>
              <a:rPr lang="en-US" sz="2199">
                <a:solidFill>
                  <a:srgbClr val="5F6B62"/>
                </a:solidFill>
                <a:latin typeface="Calibri (MS)"/>
                <a:ea typeface="Calibri (MS)"/>
                <a:cs typeface="Calibri (MS)"/>
                <a:sym typeface="Calibri (MS)"/>
              </a:rPr>
              <a:t>average saved by organisations that test offensively, the top cost reducer</a:t>
            </a:r>
          </a:p>
        </p:txBody>
      </p:sp>
      <p:sp>
        <p:nvSpPr>
          <p:cNvPr id="33" name="TextBox 33"/>
          <p:cNvSpPr txBox="1"/>
          <p:nvPr/>
        </p:nvSpPr>
        <p:spPr>
          <a:xfrm>
            <a:off x="16733520" y="9371076"/>
            <a:ext cx="548640" cy="495300"/>
          </a:xfrm>
          <a:prstGeom prst="rect">
            <a:avLst/>
          </a:prstGeom>
        </p:spPr>
        <p:txBody>
          <a:bodyPr lIns="0" tIns="0" rIns="0" bIns="0" rtlCol="0" anchor="t">
            <a:spAutoFit/>
          </a:bodyPr>
          <a:lstStyle/>
          <a:p>
            <a:pPr algn="r">
              <a:lnSpc>
                <a:spcPts val="2160"/>
              </a:lnSpc>
            </a:pPr>
            <a:r>
              <a:rPr lang="en-US" sz="1800">
                <a:solidFill>
                  <a:srgbClr val="5F6B62"/>
                </a:solidFill>
                <a:latin typeface="Calibri (MS)"/>
                <a:ea typeface="Calibri (MS)"/>
                <a:cs typeface="Calibri (MS)"/>
                <a:sym typeface="Calibri (MS)"/>
              </a:rPr>
              <a:t>4</a:t>
            </a:r>
          </a:p>
        </p:txBody>
      </p:sp>
      <p:grpSp>
        <p:nvGrpSpPr>
          <p:cNvPr id="34" name="Group 34"/>
          <p:cNvGrpSpPr/>
          <p:nvPr/>
        </p:nvGrpSpPr>
        <p:grpSpPr>
          <a:xfrm>
            <a:off x="15882384" y="802604"/>
            <a:ext cx="1308336" cy="675295"/>
            <a:chOff x="0" y="0"/>
            <a:chExt cx="1744448" cy="900394"/>
          </a:xfrm>
        </p:grpSpPr>
        <p:sp>
          <p:nvSpPr>
            <p:cNvPr id="35" name="Freeform 35"/>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6" name="TextBox 36"/>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5EC"/>
        </a:solidFill>
        <a:effectLst/>
      </p:bgPr>
    </p:bg>
    <p:spTree>
      <p:nvGrpSpPr>
        <p:cNvPr id="1" name=""/>
        <p:cNvGrpSpPr/>
        <p:nvPr/>
      </p:nvGrpSpPr>
      <p:grpSpPr>
        <a:xfrm>
          <a:off x="0" y="0"/>
          <a:ext cx="0" cy="0"/>
          <a:chOff x="0" y="0"/>
          <a:chExt cx="0" cy="0"/>
        </a:xfrm>
      </p:grpSpPr>
      <p:sp>
        <p:nvSpPr>
          <p:cNvPr id="2" name="TextBox 2"/>
          <p:cNvSpPr txBox="1"/>
          <p:nvPr/>
        </p:nvSpPr>
        <p:spPr>
          <a:xfrm>
            <a:off x="914400" y="986790"/>
            <a:ext cx="16459200" cy="1116330"/>
          </a:xfrm>
          <a:prstGeom prst="rect">
            <a:avLst/>
          </a:prstGeom>
        </p:spPr>
        <p:txBody>
          <a:bodyPr lIns="0" tIns="0" rIns="0" bIns="0" rtlCol="0" anchor="t">
            <a:spAutoFit/>
          </a:bodyPr>
          <a:lstStyle/>
          <a:p>
            <a:pPr algn="l">
              <a:lnSpc>
                <a:spcPts val="6239"/>
              </a:lnSpc>
            </a:pPr>
            <a:r>
              <a:rPr lang="en-US" sz="5199" b="1">
                <a:solidFill>
                  <a:srgbClr val="1A231C"/>
                </a:solidFill>
                <a:latin typeface="Arial Bold"/>
                <a:ea typeface="Arial Bold"/>
                <a:cs typeface="Arial Bold"/>
                <a:sym typeface="Arial Bold"/>
              </a:rPr>
              <a:t>Every alert turns into unplanned engineering work</a:t>
            </a:r>
          </a:p>
        </p:txBody>
      </p:sp>
      <p:grpSp>
        <p:nvGrpSpPr>
          <p:cNvPr id="3" name="Group 3"/>
          <p:cNvGrpSpPr/>
          <p:nvPr/>
        </p:nvGrpSpPr>
        <p:grpSpPr>
          <a:xfrm>
            <a:off x="914400" y="9363456"/>
            <a:ext cx="14996160" cy="548640"/>
            <a:chOff x="0" y="0"/>
            <a:chExt cx="19994880" cy="731520"/>
          </a:xfrm>
        </p:grpSpPr>
        <p:sp>
          <p:nvSpPr>
            <p:cNvPr id="4" name="Freeform 4"/>
            <p:cNvSpPr/>
            <p:nvPr/>
          </p:nvSpPr>
          <p:spPr>
            <a:xfrm>
              <a:off x="0" y="0"/>
              <a:ext cx="19994880" cy="731520"/>
            </a:xfrm>
            <a:custGeom>
              <a:avLst/>
              <a:gdLst/>
              <a:ahLst/>
              <a:cxnLst/>
              <a:rect l="l" t="t" r="r" b="b"/>
              <a:pathLst>
                <a:path w="19994880" h="731520">
                  <a:moveTo>
                    <a:pt x="0" y="0"/>
                  </a:moveTo>
                  <a:lnTo>
                    <a:pt x="19994880" y="0"/>
                  </a:lnTo>
                  <a:lnTo>
                    <a:pt x="19994880" y="731520"/>
                  </a:lnTo>
                  <a:lnTo>
                    <a:pt x="0" y="731520"/>
                  </a:lnTo>
                  <a:close/>
                </a:path>
              </a:pathLst>
            </a:custGeom>
            <a:blipFill>
              <a:blip r:embed="rId3">
                <a:alphaModFix amt="0"/>
              </a:blip>
              <a:stretch>
                <a:fillRect t="-482591" b="-482591"/>
              </a:stretch>
            </a:blipFill>
          </p:spPr>
        </p:sp>
        <p:sp>
          <p:nvSpPr>
            <p:cNvPr id="5" name="TextBox 5"/>
            <p:cNvSpPr txBox="1"/>
            <p:nvPr/>
          </p:nvSpPr>
          <p:spPr>
            <a:xfrm>
              <a:off x="0" y="-38100"/>
              <a:ext cx="19994880" cy="769620"/>
            </a:xfrm>
            <a:prstGeom prst="rect">
              <a:avLst/>
            </a:prstGeom>
          </p:spPr>
          <p:txBody>
            <a:bodyPr lIns="0" tIns="0" rIns="0" bIns="0" rtlCol="0" anchor="ctr"/>
            <a:lstStyle/>
            <a:p>
              <a:pPr algn="l">
                <a:lnSpc>
                  <a:spcPts val="2160"/>
                </a:lnSpc>
              </a:pPr>
              <a:r>
                <a:rPr lang="en-US" sz="1800">
                  <a:solidFill>
                    <a:srgbClr val="5F6B62"/>
                  </a:solidFill>
                  <a:latin typeface="Calibri (MS)"/>
                  <a:ea typeface="Calibri (MS)"/>
                  <a:cs typeface="Calibri (MS)"/>
                  <a:sym typeface="Calibri (MS)"/>
                </a:rPr>
                <a:t>Workflow pain is a hypothesis that still needs customer validation.</a:t>
              </a:r>
            </a:p>
          </p:txBody>
        </p:sp>
      </p:grpSp>
      <p:grpSp>
        <p:nvGrpSpPr>
          <p:cNvPr id="6" name="Group 6"/>
          <p:cNvGrpSpPr/>
          <p:nvPr/>
        </p:nvGrpSpPr>
        <p:grpSpPr>
          <a:xfrm>
            <a:off x="904875" y="2642235"/>
            <a:ext cx="3859530" cy="3676650"/>
            <a:chOff x="0" y="0"/>
            <a:chExt cx="5146040" cy="4902200"/>
          </a:xfrm>
        </p:grpSpPr>
        <p:sp>
          <p:nvSpPr>
            <p:cNvPr id="7" name="Freeform 7"/>
            <p:cNvSpPr/>
            <p:nvPr/>
          </p:nvSpPr>
          <p:spPr>
            <a:xfrm>
              <a:off x="0" y="0"/>
              <a:ext cx="5146040" cy="4902200"/>
            </a:xfrm>
            <a:custGeom>
              <a:avLst/>
              <a:gdLst/>
              <a:ahLst/>
              <a:cxnLst/>
              <a:rect l="l" t="t" r="r" b="b"/>
              <a:pathLst>
                <a:path w="5146040" h="4902200">
                  <a:moveTo>
                    <a:pt x="0" y="245110"/>
                  </a:moveTo>
                  <a:cubicBezTo>
                    <a:pt x="0" y="109728"/>
                    <a:pt x="109728" y="0"/>
                    <a:pt x="245110" y="0"/>
                  </a:cubicBezTo>
                  <a:lnTo>
                    <a:pt x="4900930" y="0"/>
                  </a:lnTo>
                  <a:cubicBezTo>
                    <a:pt x="5036312" y="0"/>
                    <a:pt x="5146040" y="109728"/>
                    <a:pt x="5146040" y="245110"/>
                  </a:cubicBezTo>
                  <a:lnTo>
                    <a:pt x="5146040" y="4657090"/>
                  </a:lnTo>
                  <a:cubicBezTo>
                    <a:pt x="5146040" y="4792472"/>
                    <a:pt x="5036312" y="4902200"/>
                    <a:pt x="4900930" y="4902200"/>
                  </a:cubicBezTo>
                  <a:lnTo>
                    <a:pt x="245110" y="4902200"/>
                  </a:lnTo>
                  <a:cubicBezTo>
                    <a:pt x="109728" y="4902200"/>
                    <a:pt x="0" y="4792472"/>
                    <a:pt x="0" y="4657090"/>
                  </a:cubicBezTo>
                  <a:close/>
                </a:path>
              </a:pathLst>
            </a:custGeom>
            <a:solidFill>
              <a:srgbClr val="FFFFFF"/>
            </a:solidFill>
            <a:ln w="19050" cap="sq">
              <a:solidFill>
                <a:srgbClr val="DDE3D8"/>
              </a:solidFill>
              <a:prstDash val="solid"/>
              <a:miter/>
            </a:ln>
          </p:spPr>
        </p:sp>
      </p:grpSp>
      <p:grpSp>
        <p:nvGrpSpPr>
          <p:cNvPr id="8" name="Group 8"/>
          <p:cNvGrpSpPr/>
          <p:nvPr/>
        </p:nvGrpSpPr>
        <p:grpSpPr>
          <a:xfrm>
            <a:off x="1304039" y="3096263"/>
            <a:ext cx="1031243" cy="1031243"/>
            <a:chOff x="0" y="0"/>
            <a:chExt cx="1374991" cy="1374991"/>
          </a:xfrm>
        </p:grpSpPr>
        <p:sp>
          <p:nvSpPr>
            <p:cNvPr id="9" name="Freeform 9"/>
            <p:cNvSpPr/>
            <p:nvPr/>
          </p:nvSpPr>
          <p:spPr>
            <a:xfrm>
              <a:off x="0" y="0"/>
              <a:ext cx="1374902" cy="1374902"/>
            </a:xfrm>
            <a:custGeom>
              <a:avLst/>
              <a:gdLst/>
              <a:ahLst/>
              <a:cxnLst/>
              <a:rect l="l" t="t" r="r" b="b"/>
              <a:pathLst>
                <a:path w="1374902" h="1374902">
                  <a:moveTo>
                    <a:pt x="0" y="687451"/>
                  </a:moveTo>
                  <a:cubicBezTo>
                    <a:pt x="0" y="307848"/>
                    <a:pt x="307848" y="0"/>
                    <a:pt x="687451" y="0"/>
                  </a:cubicBezTo>
                  <a:cubicBezTo>
                    <a:pt x="1067054" y="0"/>
                    <a:pt x="1374902" y="307848"/>
                    <a:pt x="1374902" y="687451"/>
                  </a:cubicBezTo>
                  <a:cubicBezTo>
                    <a:pt x="1374902" y="1067054"/>
                    <a:pt x="1067054" y="1374902"/>
                    <a:pt x="687451" y="1374902"/>
                  </a:cubicBezTo>
                  <a:cubicBezTo>
                    <a:pt x="307848" y="1374902"/>
                    <a:pt x="0" y="1067181"/>
                    <a:pt x="0" y="687451"/>
                  </a:cubicBezTo>
                  <a:close/>
                </a:path>
              </a:pathLst>
            </a:custGeom>
            <a:solidFill>
              <a:srgbClr val="F2F5EC"/>
            </a:solidFill>
            <a:ln w="25400" cap="sq">
              <a:solidFill>
                <a:srgbClr val="F2F5EC"/>
              </a:solidFill>
              <a:prstDash val="solid"/>
              <a:miter/>
            </a:ln>
          </p:spPr>
        </p:sp>
      </p:grpSp>
      <p:grpSp>
        <p:nvGrpSpPr>
          <p:cNvPr id="10" name="Group 10"/>
          <p:cNvGrpSpPr/>
          <p:nvPr/>
        </p:nvGrpSpPr>
        <p:grpSpPr>
          <a:xfrm>
            <a:off x="1558138" y="3350362"/>
            <a:ext cx="523037" cy="523037"/>
            <a:chOff x="0" y="0"/>
            <a:chExt cx="697382" cy="697382"/>
          </a:xfrm>
        </p:grpSpPr>
        <p:sp>
          <p:nvSpPr>
            <p:cNvPr id="11" name="Freeform 11" descr="preencoded.png"/>
            <p:cNvSpPr/>
            <p:nvPr/>
          </p:nvSpPr>
          <p:spPr>
            <a:xfrm>
              <a:off x="0" y="0"/>
              <a:ext cx="697357" cy="697357"/>
            </a:xfrm>
            <a:custGeom>
              <a:avLst/>
              <a:gdLst/>
              <a:ahLst/>
              <a:cxnLst/>
              <a:rect l="l" t="t" r="r" b="b"/>
              <a:pathLst>
                <a:path w="697357" h="697357">
                  <a:moveTo>
                    <a:pt x="0" y="0"/>
                  </a:moveTo>
                  <a:lnTo>
                    <a:pt x="697357" y="0"/>
                  </a:lnTo>
                  <a:lnTo>
                    <a:pt x="697357" y="697357"/>
                  </a:lnTo>
                  <a:lnTo>
                    <a:pt x="0" y="697357"/>
                  </a:lnTo>
                  <a:lnTo>
                    <a:pt x="0" y="0"/>
                  </a:lnTo>
                  <a:close/>
                </a:path>
              </a:pathLst>
            </a:custGeom>
            <a:blipFill>
              <a:blip r:embed="rId4"/>
              <a:stretch>
                <a:fillRect r="-3" b="-3"/>
              </a:stretch>
            </a:blipFill>
          </p:spPr>
        </p:sp>
      </p:grpSp>
      <p:grpSp>
        <p:nvGrpSpPr>
          <p:cNvPr id="12" name="Group 12"/>
          <p:cNvGrpSpPr/>
          <p:nvPr/>
        </p:nvGrpSpPr>
        <p:grpSpPr>
          <a:xfrm>
            <a:off x="3474720" y="3200400"/>
            <a:ext cx="914400" cy="548640"/>
            <a:chOff x="0" y="0"/>
            <a:chExt cx="1219200" cy="731520"/>
          </a:xfrm>
        </p:grpSpPr>
        <p:sp>
          <p:nvSpPr>
            <p:cNvPr id="13" name="Freeform 13"/>
            <p:cNvSpPr/>
            <p:nvPr/>
          </p:nvSpPr>
          <p:spPr>
            <a:xfrm>
              <a:off x="0" y="0"/>
              <a:ext cx="1219200" cy="731520"/>
            </a:xfrm>
            <a:custGeom>
              <a:avLst/>
              <a:gdLst/>
              <a:ahLst/>
              <a:cxnLst/>
              <a:rect l="l" t="t" r="r" b="b"/>
              <a:pathLst>
                <a:path w="1219200" h="731520">
                  <a:moveTo>
                    <a:pt x="0" y="0"/>
                  </a:moveTo>
                  <a:lnTo>
                    <a:pt x="1219200" y="0"/>
                  </a:lnTo>
                  <a:lnTo>
                    <a:pt x="1219200" y="731520"/>
                  </a:lnTo>
                  <a:lnTo>
                    <a:pt x="0" y="731520"/>
                  </a:lnTo>
                  <a:close/>
                </a:path>
              </a:pathLst>
            </a:custGeom>
            <a:blipFill>
              <a:blip r:embed="rId3">
                <a:alphaModFix amt="0"/>
              </a:blip>
              <a:stretch>
                <a:fillRect l="-26982" r="-26982"/>
              </a:stretch>
            </a:blipFill>
          </p:spPr>
        </p:sp>
        <p:sp>
          <p:nvSpPr>
            <p:cNvPr id="14" name="TextBox 14"/>
            <p:cNvSpPr txBox="1"/>
            <p:nvPr/>
          </p:nvSpPr>
          <p:spPr>
            <a:xfrm>
              <a:off x="0" y="-47625"/>
              <a:ext cx="1219200" cy="779145"/>
            </a:xfrm>
            <a:prstGeom prst="rect">
              <a:avLst/>
            </a:prstGeom>
          </p:spPr>
          <p:txBody>
            <a:bodyPr lIns="0" tIns="0" rIns="0" bIns="0" rtlCol="0" anchor="ctr"/>
            <a:lstStyle/>
            <a:p>
              <a:pPr algn="r">
                <a:lnSpc>
                  <a:spcPts val="2639"/>
                </a:lnSpc>
              </a:pPr>
              <a:r>
                <a:rPr lang="en-US" sz="2199" b="1">
                  <a:solidFill>
                    <a:srgbClr val="5F6B62"/>
                  </a:solidFill>
                  <a:latin typeface="Calibri (MS) Bold"/>
                  <a:ea typeface="Calibri (MS) Bold"/>
                  <a:cs typeface="Calibri (MS) Bold"/>
                  <a:sym typeface="Calibri (MS) Bold"/>
                </a:rPr>
                <a:t>01</a:t>
              </a:r>
            </a:p>
          </p:txBody>
        </p:sp>
      </p:grpSp>
      <p:grpSp>
        <p:nvGrpSpPr>
          <p:cNvPr id="15" name="Group 15"/>
          <p:cNvGrpSpPr/>
          <p:nvPr/>
        </p:nvGrpSpPr>
        <p:grpSpPr>
          <a:xfrm>
            <a:off x="1316736" y="4480560"/>
            <a:ext cx="3108960" cy="585216"/>
            <a:chOff x="0" y="0"/>
            <a:chExt cx="4145280" cy="780288"/>
          </a:xfrm>
        </p:grpSpPr>
        <p:sp>
          <p:nvSpPr>
            <p:cNvPr id="16" name="Freeform 16"/>
            <p:cNvSpPr/>
            <p:nvPr/>
          </p:nvSpPr>
          <p:spPr>
            <a:xfrm>
              <a:off x="0" y="0"/>
              <a:ext cx="4145280" cy="780288"/>
            </a:xfrm>
            <a:custGeom>
              <a:avLst/>
              <a:gdLst/>
              <a:ahLst/>
              <a:cxnLst/>
              <a:rect l="l" t="t" r="r" b="b"/>
              <a:pathLst>
                <a:path w="4145280" h="780288">
                  <a:moveTo>
                    <a:pt x="0" y="0"/>
                  </a:moveTo>
                  <a:lnTo>
                    <a:pt x="4145280" y="0"/>
                  </a:lnTo>
                  <a:lnTo>
                    <a:pt x="4145280" y="780288"/>
                  </a:lnTo>
                  <a:lnTo>
                    <a:pt x="0" y="780288"/>
                  </a:lnTo>
                  <a:close/>
                </a:path>
              </a:pathLst>
            </a:custGeom>
            <a:blipFill>
              <a:blip r:embed="rId3">
                <a:alphaModFix amt="0"/>
              </a:blip>
              <a:stretch>
                <a:fillRect t="-53514" b="-53514"/>
              </a:stretch>
            </a:blipFill>
          </p:spPr>
        </p:sp>
        <p:sp>
          <p:nvSpPr>
            <p:cNvPr id="17" name="TextBox 17"/>
            <p:cNvSpPr txBox="1"/>
            <p:nvPr/>
          </p:nvSpPr>
          <p:spPr>
            <a:xfrm>
              <a:off x="0" y="-19050"/>
              <a:ext cx="4145280" cy="799338"/>
            </a:xfrm>
            <a:prstGeom prst="rect">
              <a:avLst/>
            </a:prstGeom>
          </p:spPr>
          <p:txBody>
            <a:bodyPr lIns="0" tIns="0" rIns="0" bIns="0" rtlCol="0" anchor="ctr"/>
            <a:lstStyle/>
            <a:p>
              <a:pPr algn="l">
                <a:lnSpc>
                  <a:spcPts val="3600"/>
                </a:lnSpc>
              </a:pPr>
              <a:r>
                <a:rPr lang="en-US" sz="3000" b="1">
                  <a:solidFill>
                    <a:srgbClr val="1A231C"/>
                  </a:solidFill>
                  <a:latin typeface="Arial Bold"/>
                  <a:ea typeface="Arial Bold"/>
                  <a:cs typeface="Arial Bold"/>
                  <a:sym typeface="Arial Bold"/>
                </a:rPr>
                <a:t>Triage</a:t>
              </a:r>
            </a:p>
          </p:txBody>
        </p:sp>
      </p:grpSp>
      <p:sp>
        <p:nvSpPr>
          <p:cNvPr id="18" name="TextBox 18"/>
          <p:cNvSpPr txBox="1"/>
          <p:nvPr/>
        </p:nvSpPr>
        <p:spPr>
          <a:xfrm>
            <a:off x="1316736" y="5073015"/>
            <a:ext cx="3108960" cy="1053465"/>
          </a:xfrm>
          <a:prstGeom prst="rect">
            <a:avLst/>
          </a:prstGeom>
        </p:spPr>
        <p:txBody>
          <a:bodyPr lIns="0" tIns="0" rIns="0" bIns="0" rtlCol="0" anchor="t">
            <a:spAutoFit/>
          </a:bodyPr>
          <a:lstStyle/>
          <a:p>
            <a:pPr algn="l">
              <a:lnSpc>
                <a:spcPts val="2760"/>
              </a:lnSpc>
            </a:pPr>
            <a:r>
              <a:rPr lang="en-US" sz="2300">
                <a:solidFill>
                  <a:srgbClr val="5F6B62"/>
                </a:solidFill>
                <a:latin typeface="Calibri (MS)"/>
                <a:ea typeface="Calibri (MS)"/>
                <a:cs typeface="Calibri (MS)"/>
                <a:sym typeface="Calibri (MS)"/>
              </a:rPr>
              <a:t>Does this affect our app?</a:t>
            </a:r>
          </a:p>
        </p:txBody>
      </p:sp>
      <p:grpSp>
        <p:nvGrpSpPr>
          <p:cNvPr id="19" name="Group 19"/>
          <p:cNvGrpSpPr/>
          <p:nvPr/>
        </p:nvGrpSpPr>
        <p:grpSpPr>
          <a:xfrm>
            <a:off x="4791456" y="4297680"/>
            <a:ext cx="292608" cy="292608"/>
            <a:chOff x="0" y="0"/>
            <a:chExt cx="390144" cy="390144"/>
          </a:xfrm>
        </p:grpSpPr>
        <p:sp>
          <p:nvSpPr>
            <p:cNvPr id="20" name="Freeform 20" descr="preencoded.png"/>
            <p:cNvSpPr/>
            <p:nvPr/>
          </p:nvSpPr>
          <p:spPr>
            <a:xfrm>
              <a:off x="0" y="0"/>
              <a:ext cx="390144" cy="390144"/>
            </a:xfrm>
            <a:custGeom>
              <a:avLst/>
              <a:gdLst/>
              <a:ahLst/>
              <a:cxnLst/>
              <a:rect l="l" t="t" r="r" b="b"/>
              <a:pathLst>
                <a:path w="390144" h="390144">
                  <a:moveTo>
                    <a:pt x="0" y="0"/>
                  </a:moveTo>
                  <a:lnTo>
                    <a:pt x="390144" y="0"/>
                  </a:lnTo>
                  <a:lnTo>
                    <a:pt x="390144" y="390144"/>
                  </a:lnTo>
                  <a:lnTo>
                    <a:pt x="0" y="390144"/>
                  </a:lnTo>
                  <a:lnTo>
                    <a:pt x="0" y="0"/>
                  </a:lnTo>
                  <a:close/>
                </a:path>
              </a:pathLst>
            </a:custGeom>
            <a:blipFill>
              <a:blip r:embed="rId5"/>
              <a:stretch>
                <a:fillRect/>
              </a:stretch>
            </a:blipFill>
          </p:spPr>
        </p:sp>
      </p:grpSp>
      <p:grpSp>
        <p:nvGrpSpPr>
          <p:cNvPr id="21" name="Group 21"/>
          <p:cNvGrpSpPr/>
          <p:nvPr/>
        </p:nvGrpSpPr>
        <p:grpSpPr>
          <a:xfrm>
            <a:off x="5111115" y="2642235"/>
            <a:ext cx="3859530" cy="3676650"/>
            <a:chOff x="0" y="0"/>
            <a:chExt cx="5146040" cy="4902200"/>
          </a:xfrm>
        </p:grpSpPr>
        <p:sp>
          <p:nvSpPr>
            <p:cNvPr id="22" name="Freeform 22"/>
            <p:cNvSpPr/>
            <p:nvPr/>
          </p:nvSpPr>
          <p:spPr>
            <a:xfrm>
              <a:off x="0" y="0"/>
              <a:ext cx="5146040" cy="4902200"/>
            </a:xfrm>
            <a:custGeom>
              <a:avLst/>
              <a:gdLst/>
              <a:ahLst/>
              <a:cxnLst/>
              <a:rect l="l" t="t" r="r" b="b"/>
              <a:pathLst>
                <a:path w="5146040" h="4902200">
                  <a:moveTo>
                    <a:pt x="0" y="245110"/>
                  </a:moveTo>
                  <a:cubicBezTo>
                    <a:pt x="0" y="109728"/>
                    <a:pt x="109728" y="0"/>
                    <a:pt x="245110" y="0"/>
                  </a:cubicBezTo>
                  <a:lnTo>
                    <a:pt x="4900930" y="0"/>
                  </a:lnTo>
                  <a:cubicBezTo>
                    <a:pt x="5036312" y="0"/>
                    <a:pt x="5146040" y="109728"/>
                    <a:pt x="5146040" y="245110"/>
                  </a:cubicBezTo>
                  <a:lnTo>
                    <a:pt x="5146040" y="4657090"/>
                  </a:lnTo>
                  <a:cubicBezTo>
                    <a:pt x="5146040" y="4792472"/>
                    <a:pt x="5036312" y="4902200"/>
                    <a:pt x="4900930" y="4902200"/>
                  </a:cubicBezTo>
                  <a:lnTo>
                    <a:pt x="245110" y="4902200"/>
                  </a:lnTo>
                  <a:cubicBezTo>
                    <a:pt x="109728" y="4902200"/>
                    <a:pt x="0" y="4792472"/>
                    <a:pt x="0" y="4657090"/>
                  </a:cubicBezTo>
                  <a:close/>
                </a:path>
              </a:pathLst>
            </a:custGeom>
            <a:solidFill>
              <a:srgbClr val="FFFFFF"/>
            </a:solidFill>
            <a:ln w="19050" cap="sq">
              <a:solidFill>
                <a:srgbClr val="DDE3D8"/>
              </a:solidFill>
              <a:prstDash val="solid"/>
              <a:miter/>
            </a:ln>
          </p:spPr>
        </p:sp>
      </p:grpSp>
      <p:grpSp>
        <p:nvGrpSpPr>
          <p:cNvPr id="23" name="Group 23"/>
          <p:cNvGrpSpPr/>
          <p:nvPr/>
        </p:nvGrpSpPr>
        <p:grpSpPr>
          <a:xfrm>
            <a:off x="5510279" y="3096263"/>
            <a:ext cx="1031243" cy="1031243"/>
            <a:chOff x="0" y="0"/>
            <a:chExt cx="1374991" cy="1374991"/>
          </a:xfrm>
        </p:grpSpPr>
        <p:sp>
          <p:nvSpPr>
            <p:cNvPr id="24" name="Freeform 24"/>
            <p:cNvSpPr/>
            <p:nvPr/>
          </p:nvSpPr>
          <p:spPr>
            <a:xfrm>
              <a:off x="0" y="0"/>
              <a:ext cx="1374902" cy="1374902"/>
            </a:xfrm>
            <a:custGeom>
              <a:avLst/>
              <a:gdLst/>
              <a:ahLst/>
              <a:cxnLst/>
              <a:rect l="l" t="t" r="r" b="b"/>
              <a:pathLst>
                <a:path w="1374902" h="1374902">
                  <a:moveTo>
                    <a:pt x="0" y="687451"/>
                  </a:moveTo>
                  <a:cubicBezTo>
                    <a:pt x="0" y="307848"/>
                    <a:pt x="307848" y="0"/>
                    <a:pt x="687451" y="0"/>
                  </a:cubicBezTo>
                  <a:cubicBezTo>
                    <a:pt x="1067054" y="0"/>
                    <a:pt x="1374902" y="307848"/>
                    <a:pt x="1374902" y="687451"/>
                  </a:cubicBezTo>
                  <a:cubicBezTo>
                    <a:pt x="1374902" y="1067054"/>
                    <a:pt x="1067054" y="1374902"/>
                    <a:pt x="687451" y="1374902"/>
                  </a:cubicBezTo>
                  <a:cubicBezTo>
                    <a:pt x="307848" y="1374902"/>
                    <a:pt x="0" y="1067181"/>
                    <a:pt x="0" y="687451"/>
                  </a:cubicBezTo>
                  <a:close/>
                </a:path>
              </a:pathLst>
            </a:custGeom>
            <a:solidFill>
              <a:srgbClr val="F2F5EC"/>
            </a:solidFill>
            <a:ln w="25400" cap="sq">
              <a:solidFill>
                <a:srgbClr val="F2F5EC"/>
              </a:solidFill>
              <a:prstDash val="solid"/>
              <a:miter/>
            </a:ln>
          </p:spPr>
        </p:sp>
      </p:grpSp>
      <p:grpSp>
        <p:nvGrpSpPr>
          <p:cNvPr id="25" name="Group 25"/>
          <p:cNvGrpSpPr/>
          <p:nvPr/>
        </p:nvGrpSpPr>
        <p:grpSpPr>
          <a:xfrm>
            <a:off x="5764378" y="3350362"/>
            <a:ext cx="523037" cy="523037"/>
            <a:chOff x="0" y="0"/>
            <a:chExt cx="697382" cy="697382"/>
          </a:xfrm>
        </p:grpSpPr>
        <p:sp>
          <p:nvSpPr>
            <p:cNvPr id="26" name="Freeform 26" descr="preencoded.png"/>
            <p:cNvSpPr/>
            <p:nvPr/>
          </p:nvSpPr>
          <p:spPr>
            <a:xfrm>
              <a:off x="0" y="0"/>
              <a:ext cx="697357" cy="697357"/>
            </a:xfrm>
            <a:custGeom>
              <a:avLst/>
              <a:gdLst/>
              <a:ahLst/>
              <a:cxnLst/>
              <a:rect l="l" t="t" r="r" b="b"/>
              <a:pathLst>
                <a:path w="697357" h="697357">
                  <a:moveTo>
                    <a:pt x="0" y="0"/>
                  </a:moveTo>
                  <a:lnTo>
                    <a:pt x="697357" y="0"/>
                  </a:lnTo>
                  <a:lnTo>
                    <a:pt x="697357" y="697357"/>
                  </a:lnTo>
                  <a:lnTo>
                    <a:pt x="0" y="697357"/>
                  </a:lnTo>
                  <a:lnTo>
                    <a:pt x="0" y="0"/>
                  </a:lnTo>
                  <a:close/>
                </a:path>
              </a:pathLst>
            </a:custGeom>
            <a:blipFill>
              <a:blip r:embed="rId6"/>
              <a:stretch>
                <a:fillRect r="-3" b="-3"/>
              </a:stretch>
            </a:blipFill>
          </p:spPr>
        </p:sp>
      </p:grpSp>
      <p:grpSp>
        <p:nvGrpSpPr>
          <p:cNvPr id="27" name="Group 27"/>
          <p:cNvGrpSpPr/>
          <p:nvPr/>
        </p:nvGrpSpPr>
        <p:grpSpPr>
          <a:xfrm>
            <a:off x="7680960" y="3200400"/>
            <a:ext cx="914400" cy="548640"/>
            <a:chOff x="0" y="0"/>
            <a:chExt cx="1219200" cy="731520"/>
          </a:xfrm>
        </p:grpSpPr>
        <p:sp>
          <p:nvSpPr>
            <p:cNvPr id="28" name="Freeform 28"/>
            <p:cNvSpPr/>
            <p:nvPr/>
          </p:nvSpPr>
          <p:spPr>
            <a:xfrm>
              <a:off x="0" y="0"/>
              <a:ext cx="1219200" cy="731520"/>
            </a:xfrm>
            <a:custGeom>
              <a:avLst/>
              <a:gdLst/>
              <a:ahLst/>
              <a:cxnLst/>
              <a:rect l="l" t="t" r="r" b="b"/>
              <a:pathLst>
                <a:path w="1219200" h="731520">
                  <a:moveTo>
                    <a:pt x="0" y="0"/>
                  </a:moveTo>
                  <a:lnTo>
                    <a:pt x="1219200" y="0"/>
                  </a:lnTo>
                  <a:lnTo>
                    <a:pt x="1219200" y="731520"/>
                  </a:lnTo>
                  <a:lnTo>
                    <a:pt x="0" y="731520"/>
                  </a:lnTo>
                  <a:close/>
                </a:path>
              </a:pathLst>
            </a:custGeom>
            <a:blipFill>
              <a:blip r:embed="rId3">
                <a:alphaModFix amt="0"/>
              </a:blip>
              <a:stretch>
                <a:fillRect l="-26982" r="-26982"/>
              </a:stretch>
            </a:blipFill>
          </p:spPr>
        </p:sp>
        <p:sp>
          <p:nvSpPr>
            <p:cNvPr id="29" name="TextBox 29"/>
            <p:cNvSpPr txBox="1"/>
            <p:nvPr/>
          </p:nvSpPr>
          <p:spPr>
            <a:xfrm>
              <a:off x="0" y="-47625"/>
              <a:ext cx="1219200" cy="779145"/>
            </a:xfrm>
            <a:prstGeom prst="rect">
              <a:avLst/>
            </a:prstGeom>
          </p:spPr>
          <p:txBody>
            <a:bodyPr lIns="0" tIns="0" rIns="0" bIns="0" rtlCol="0" anchor="ctr"/>
            <a:lstStyle/>
            <a:p>
              <a:pPr algn="r">
                <a:lnSpc>
                  <a:spcPts val="2639"/>
                </a:lnSpc>
              </a:pPr>
              <a:r>
                <a:rPr lang="en-US" sz="2199" b="1">
                  <a:solidFill>
                    <a:srgbClr val="5F6B62"/>
                  </a:solidFill>
                  <a:latin typeface="Calibri (MS) Bold"/>
                  <a:ea typeface="Calibri (MS) Bold"/>
                  <a:cs typeface="Calibri (MS) Bold"/>
                  <a:sym typeface="Calibri (MS) Bold"/>
                </a:rPr>
                <a:t>02</a:t>
              </a:r>
            </a:p>
          </p:txBody>
        </p:sp>
      </p:grpSp>
      <p:grpSp>
        <p:nvGrpSpPr>
          <p:cNvPr id="30" name="Group 30"/>
          <p:cNvGrpSpPr/>
          <p:nvPr/>
        </p:nvGrpSpPr>
        <p:grpSpPr>
          <a:xfrm>
            <a:off x="5522976" y="4480560"/>
            <a:ext cx="3108960" cy="585216"/>
            <a:chOff x="0" y="0"/>
            <a:chExt cx="4145280" cy="780288"/>
          </a:xfrm>
        </p:grpSpPr>
        <p:sp>
          <p:nvSpPr>
            <p:cNvPr id="31" name="Freeform 31"/>
            <p:cNvSpPr/>
            <p:nvPr/>
          </p:nvSpPr>
          <p:spPr>
            <a:xfrm>
              <a:off x="0" y="0"/>
              <a:ext cx="4145280" cy="780288"/>
            </a:xfrm>
            <a:custGeom>
              <a:avLst/>
              <a:gdLst/>
              <a:ahLst/>
              <a:cxnLst/>
              <a:rect l="l" t="t" r="r" b="b"/>
              <a:pathLst>
                <a:path w="4145280" h="780288">
                  <a:moveTo>
                    <a:pt x="0" y="0"/>
                  </a:moveTo>
                  <a:lnTo>
                    <a:pt x="4145280" y="0"/>
                  </a:lnTo>
                  <a:lnTo>
                    <a:pt x="4145280" y="780288"/>
                  </a:lnTo>
                  <a:lnTo>
                    <a:pt x="0" y="780288"/>
                  </a:lnTo>
                  <a:close/>
                </a:path>
              </a:pathLst>
            </a:custGeom>
            <a:blipFill>
              <a:blip r:embed="rId3">
                <a:alphaModFix amt="0"/>
              </a:blip>
              <a:stretch>
                <a:fillRect t="-53514" b="-53514"/>
              </a:stretch>
            </a:blipFill>
          </p:spPr>
        </p:sp>
        <p:sp>
          <p:nvSpPr>
            <p:cNvPr id="32" name="TextBox 32"/>
            <p:cNvSpPr txBox="1"/>
            <p:nvPr/>
          </p:nvSpPr>
          <p:spPr>
            <a:xfrm>
              <a:off x="0" y="-19050"/>
              <a:ext cx="4145280" cy="799338"/>
            </a:xfrm>
            <a:prstGeom prst="rect">
              <a:avLst/>
            </a:prstGeom>
          </p:spPr>
          <p:txBody>
            <a:bodyPr lIns="0" tIns="0" rIns="0" bIns="0" rtlCol="0" anchor="ctr"/>
            <a:lstStyle/>
            <a:p>
              <a:pPr algn="l">
                <a:lnSpc>
                  <a:spcPts val="3600"/>
                </a:lnSpc>
              </a:pPr>
              <a:r>
                <a:rPr lang="en-US" sz="3000" b="1">
                  <a:solidFill>
                    <a:srgbClr val="1A231C"/>
                  </a:solidFill>
                  <a:latin typeface="Arial Bold"/>
                  <a:ea typeface="Arial Bold"/>
                  <a:cs typeface="Arial Bold"/>
                  <a:sym typeface="Arial Bold"/>
                </a:rPr>
                <a:t>Reproduce</a:t>
              </a:r>
            </a:p>
          </p:txBody>
        </p:sp>
      </p:grpSp>
      <p:sp>
        <p:nvSpPr>
          <p:cNvPr id="33" name="TextBox 33"/>
          <p:cNvSpPr txBox="1"/>
          <p:nvPr/>
        </p:nvSpPr>
        <p:spPr>
          <a:xfrm>
            <a:off x="5522976" y="5073015"/>
            <a:ext cx="3108960" cy="1053465"/>
          </a:xfrm>
          <a:prstGeom prst="rect">
            <a:avLst/>
          </a:prstGeom>
        </p:spPr>
        <p:txBody>
          <a:bodyPr lIns="0" tIns="0" rIns="0" bIns="0" rtlCol="0" anchor="t">
            <a:spAutoFit/>
          </a:bodyPr>
          <a:lstStyle/>
          <a:p>
            <a:pPr algn="l">
              <a:lnSpc>
                <a:spcPts val="2760"/>
              </a:lnSpc>
            </a:pPr>
            <a:r>
              <a:rPr lang="en-US" sz="2300">
                <a:solidFill>
                  <a:srgbClr val="5F6B62"/>
                </a:solidFill>
                <a:latin typeface="Calibri (MS)"/>
                <a:ea typeface="Calibri (MS)"/>
                <a:cs typeface="Calibri (MS)"/>
                <a:sym typeface="Calibri (MS)"/>
              </a:rPr>
              <a:t>Can we show the failure?</a:t>
            </a:r>
          </a:p>
        </p:txBody>
      </p:sp>
      <p:grpSp>
        <p:nvGrpSpPr>
          <p:cNvPr id="34" name="Group 34"/>
          <p:cNvGrpSpPr/>
          <p:nvPr/>
        </p:nvGrpSpPr>
        <p:grpSpPr>
          <a:xfrm>
            <a:off x="8997696" y="4297680"/>
            <a:ext cx="292608" cy="292608"/>
            <a:chOff x="0" y="0"/>
            <a:chExt cx="390144" cy="390144"/>
          </a:xfrm>
        </p:grpSpPr>
        <p:sp>
          <p:nvSpPr>
            <p:cNvPr id="35" name="Freeform 35" descr="preencoded.png"/>
            <p:cNvSpPr/>
            <p:nvPr/>
          </p:nvSpPr>
          <p:spPr>
            <a:xfrm>
              <a:off x="0" y="0"/>
              <a:ext cx="390144" cy="390144"/>
            </a:xfrm>
            <a:custGeom>
              <a:avLst/>
              <a:gdLst/>
              <a:ahLst/>
              <a:cxnLst/>
              <a:rect l="l" t="t" r="r" b="b"/>
              <a:pathLst>
                <a:path w="390144" h="390144">
                  <a:moveTo>
                    <a:pt x="0" y="0"/>
                  </a:moveTo>
                  <a:lnTo>
                    <a:pt x="390144" y="0"/>
                  </a:lnTo>
                  <a:lnTo>
                    <a:pt x="390144" y="390144"/>
                  </a:lnTo>
                  <a:lnTo>
                    <a:pt x="0" y="390144"/>
                  </a:lnTo>
                  <a:lnTo>
                    <a:pt x="0" y="0"/>
                  </a:lnTo>
                  <a:close/>
                </a:path>
              </a:pathLst>
            </a:custGeom>
            <a:blipFill>
              <a:blip r:embed="rId5"/>
              <a:stretch>
                <a:fillRect/>
              </a:stretch>
            </a:blipFill>
          </p:spPr>
        </p:sp>
      </p:grpSp>
      <p:grpSp>
        <p:nvGrpSpPr>
          <p:cNvPr id="36" name="Group 36"/>
          <p:cNvGrpSpPr/>
          <p:nvPr/>
        </p:nvGrpSpPr>
        <p:grpSpPr>
          <a:xfrm>
            <a:off x="9317355" y="2642235"/>
            <a:ext cx="3859530" cy="3676650"/>
            <a:chOff x="0" y="0"/>
            <a:chExt cx="5146040" cy="4902200"/>
          </a:xfrm>
        </p:grpSpPr>
        <p:sp>
          <p:nvSpPr>
            <p:cNvPr id="37" name="Freeform 37"/>
            <p:cNvSpPr/>
            <p:nvPr/>
          </p:nvSpPr>
          <p:spPr>
            <a:xfrm>
              <a:off x="0" y="0"/>
              <a:ext cx="5146040" cy="4902200"/>
            </a:xfrm>
            <a:custGeom>
              <a:avLst/>
              <a:gdLst/>
              <a:ahLst/>
              <a:cxnLst/>
              <a:rect l="l" t="t" r="r" b="b"/>
              <a:pathLst>
                <a:path w="5146040" h="4902200">
                  <a:moveTo>
                    <a:pt x="0" y="245110"/>
                  </a:moveTo>
                  <a:cubicBezTo>
                    <a:pt x="0" y="109728"/>
                    <a:pt x="109728" y="0"/>
                    <a:pt x="245110" y="0"/>
                  </a:cubicBezTo>
                  <a:lnTo>
                    <a:pt x="4900930" y="0"/>
                  </a:lnTo>
                  <a:cubicBezTo>
                    <a:pt x="5036312" y="0"/>
                    <a:pt x="5146040" y="109728"/>
                    <a:pt x="5146040" y="245110"/>
                  </a:cubicBezTo>
                  <a:lnTo>
                    <a:pt x="5146040" y="4657090"/>
                  </a:lnTo>
                  <a:cubicBezTo>
                    <a:pt x="5146040" y="4792472"/>
                    <a:pt x="5036312" y="4902200"/>
                    <a:pt x="4900930" y="4902200"/>
                  </a:cubicBezTo>
                  <a:lnTo>
                    <a:pt x="245110" y="4902200"/>
                  </a:lnTo>
                  <a:cubicBezTo>
                    <a:pt x="109728" y="4902200"/>
                    <a:pt x="0" y="4792472"/>
                    <a:pt x="0" y="4657090"/>
                  </a:cubicBezTo>
                  <a:close/>
                </a:path>
              </a:pathLst>
            </a:custGeom>
            <a:solidFill>
              <a:srgbClr val="FFFFFF"/>
            </a:solidFill>
            <a:ln w="19050" cap="sq">
              <a:solidFill>
                <a:srgbClr val="DDE3D8"/>
              </a:solidFill>
              <a:prstDash val="solid"/>
              <a:miter/>
            </a:ln>
          </p:spPr>
        </p:sp>
      </p:grpSp>
      <p:grpSp>
        <p:nvGrpSpPr>
          <p:cNvPr id="38" name="Group 38"/>
          <p:cNvGrpSpPr/>
          <p:nvPr/>
        </p:nvGrpSpPr>
        <p:grpSpPr>
          <a:xfrm>
            <a:off x="9716519" y="3096263"/>
            <a:ext cx="1031243" cy="1031243"/>
            <a:chOff x="0" y="0"/>
            <a:chExt cx="1374991" cy="1374991"/>
          </a:xfrm>
        </p:grpSpPr>
        <p:sp>
          <p:nvSpPr>
            <p:cNvPr id="39" name="Freeform 39"/>
            <p:cNvSpPr/>
            <p:nvPr/>
          </p:nvSpPr>
          <p:spPr>
            <a:xfrm>
              <a:off x="0" y="0"/>
              <a:ext cx="1374902" cy="1374902"/>
            </a:xfrm>
            <a:custGeom>
              <a:avLst/>
              <a:gdLst/>
              <a:ahLst/>
              <a:cxnLst/>
              <a:rect l="l" t="t" r="r" b="b"/>
              <a:pathLst>
                <a:path w="1374902" h="1374902">
                  <a:moveTo>
                    <a:pt x="0" y="687451"/>
                  </a:moveTo>
                  <a:cubicBezTo>
                    <a:pt x="0" y="307848"/>
                    <a:pt x="307848" y="0"/>
                    <a:pt x="687451" y="0"/>
                  </a:cubicBezTo>
                  <a:cubicBezTo>
                    <a:pt x="1067054" y="0"/>
                    <a:pt x="1374902" y="307848"/>
                    <a:pt x="1374902" y="687451"/>
                  </a:cubicBezTo>
                  <a:cubicBezTo>
                    <a:pt x="1374902" y="1067054"/>
                    <a:pt x="1067054" y="1374902"/>
                    <a:pt x="687451" y="1374902"/>
                  </a:cubicBezTo>
                  <a:cubicBezTo>
                    <a:pt x="307848" y="1374902"/>
                    <a:pt x="0" y="1067181"/>
                    <a:pt x="0" y="687451"/>
                  </a:cubicBezTo>
                  <a:close/>
                </a:path>
              </a:pathLst>
            </a:custGeom>
            <a:solidFill>
              <a:srgbClr val="F2F5EC"/>
            </a:solidFill>
            <a:ln w="25400" cap="sq">
              <a:solidFill>
                <a:srgbClr val="F2F5EC"/>
              </a:solidFill>
              <a:prstDash val="solid"/>
              <a:miter/>
            </a:ln>
          </p:spPr>
        </p:sp>
      </p:grpSp>
      <p:grpSp>
        <p:nvGrpSpPr>
          <p:cNvPr id="40" name="Group 40"/>
          <p:cNvGrpSpPr/>
          <p:nvPr/>
        </p:nvGrpSpPr>
        <p:grpSpPr>
          <a:xfrm>
            <a:off x="9970618" y="3350362"/>
            <a:ext cx="523037" cy="523037"/>
            <a:chOff x="0" y="0"/>
            <a:chExt cx="697382" cy="697382"/>
          </a:xfrm>
        </p:grpSpPr>
        <p:sp>
          <p:nvSpPr>
            <p:cNvPr id="41" name="Freeform 41" descr="preencoded.png"/>
            <p:cNvSpPr/>
            <p:nvPr/>
          </p:nvSpPr>
          <p:spPr>
            <a:xfrm>
              <a:off x="0" y="0"/>
              <a:ext cx="697357" cy="697357"/>
            </a:xfrm>
            <a:custGeom>
              <a:avLst/>
              <a:gdLst/>
              <a:ahLst/>
              <a:cxnLst/>
              <a:rect l="l" t="t" r="r" b="b"/>
              <a:pathLst>
                <a:path w="697357" h="697357">
                  <a:moveTo>
                    <a:pt x="0" y="0"/>
                  </a:moveTo>
                  <a:lnTo>
                    <a:pt x="697357" y="0"/>
                  </a:lnTo>
                  <a:lnTo>
                    <a:pt x="697357" y="697357"/>
                  </a:lnTo>
                  <a:lnTo>
                    <a:pt x="0" y="697357"/>
                  </a:lnTo>
                  <a:lnTo>
                    <a:pt x="0" y="0"/>
                  </a:lnTo>
                  <a:close/>
                </a:path>
              </a:pathLst>
            </a:custGeom>
            <a:blipFill>
              <a:blip r:embed="rId7"/>
              <a:stretch>
                <a:fillRect r="-3" b="-3"/>
              </a:stretch>
            </a:blipFill>
          </p:spPr>
        </p:sp>
      </p:grpSp>
      <p:grpSp>
        <p:nvGrpSpPr>
          <p:cNvPr id="42" name="Group 42"/>
          <p:cNvGrpSpPr/>
          <p:nvPr/>
        </p:nvGrpSpPr>
        <p:grpSpPr>
          <a:xfrm>
            <a:off x="11887200" y="3200400"/>
            <a:ext cx="914400" cy="548640"/>
            <a:chOff x="0" y="0"/>
            <a:chExt cx="1219200" cy="731520"/>
          </a:xfrm>
        </p:grpSpPr>
        <p:sp>
          <p:nvSpPr>
            <p:cNvPr id="43" name="Freeform 43"/>
            <p:cNvSpPr/>
            <p:nvPr/>
          </p:nvSpPr>
          <p:spPr>
            <a:xfrm>
              <a:off x="0" y="0"/>
              <a:ext cx="1219200" cy="731520"/>
            </a:xfrm>
            <a:custGeom>
              <a:avLst/>
              <a:gdLst/>
              <a:ahLst/>
              <a:cxnLst/>
              <a:rect l="l" t="t" r="r" b="b"/>
              <a:pathLst>
                <a:path w="1219200" h="731520">
                  <a:moveTo>
                    <a:pt x="0" y="0"/>
                  </a:moveTo>
                  <a:lnTo>
                    <a:pt x="1219200" y="0"/>
                  </a:lnTo>
                  <a:lnTo>
                    <a:pt x="1219200" y="731520"/>
                  </a:lnTo>
                  <a:lnTo>
                    <a:pt x="0" y="731520"/>
                  </a:lnTo>
                  <a:close/>
                </a:path>
              </a:pathLst>
            </a:custGeom>
            <a:blipFill>
              <a:blip r:embed="rId3">
                <a:alphaModFix amt="0"/>
              </a:blip>
              <a:stretch>
                <a:fillRect l="-26982" r="-26982"/>
              </a:stretch>
            </a:blipFill>
          </p:spPr>
        </p:sp>
        <p:sp>
          <p:nvSpPr>
            <p:cNvPr id="44" name="TextBox 44"/>
            <p:cNvSpPr txBox="1"/>
            <p:nvPr/>
          </p:nvSpPr>
          <p:spPr>
            <a:xfrm>
              <a:off x="0" y="-47625"/>
              <a:ext cx="1219200" cy="779145"/>
            </a:xfrm>
            <a:prstGeom prst="rect">
              <a:avLst/>
            </a:prstGeom>
          </p:spPr>
          <p:txBody>
            <a:bodyPr lIns="0" tIns="0" rIns="0" bIns="0" rtlCol="0" anchor="ctr"/>
            <a:lstStyle/>
            <a:p>
              <a:pPr algn="r">
                <a:lnSpc>
                  <a:spcPts val="2639"/>
                </a:lnSpc>
              </a:pPr>
              <a:r>
                <a:rPr lang="en-US" sz="2199" b="1">
                  <a:solidFill>
                    <a:srgbClr val="5F6B62"/>
                  </a:solidFill>
                  <a:latin typeface="Calibri (MS) Bold"/>
                  <a:ea typeface="Calibri (MS) Bold"/>
                  <a:cs typeface="Calibri (MS) Bold"/>
                  <a:sym typeface="Calibri (MS) Bold"/>
                </a:rPr>
                <a:t>03</a:t>
              </a:r>
            </a:p>
          </p:txBody>
        </p:sp>
      </p:grpSp>
      <p:grpSp>
        <p:nvGrpSpPr>
          <p:cNvPr id="45" name="Group 45"/>
          <p:cNvGrpSpPr/>
          <p:nvPr/>
        </p:nvGrpSpPr>
        <p:grpSpPr>
          <a:xfrm>
            <a:off x="9729216" y="4480560"/>
            <a:ext cx="3108960" cy="585216"/>
            <a:chOff x="0" y="0"/>
            <a:chExt cx="4145280" cy="780288"/>
          </a:xfrm>
        </p:grpSpPr>
        <p:sp>
          <p:nvSpPr>
            <p:cNvPr id="46" name="Freeform 46"/>
            <p:cNvSpPr/>
            <p:nvPr/>
          </p:nvSpPr>
          <p:spPr>
            <a:xfrm>
              <a:off x="0" y="0"/>
              <a:ext cx="4145280" cy="780288"/>
            </a:xfrm>
            <a:custGeom>
              <a:avLst/>
              <a:gdLst/>
              <a:ahLst/>
              <a:cxnLst/>
              <a:rect l="l" t="t" r="r" b="b"/>
              <a:pathLst>
                <a:path w="4145280" h="780288">
                  <a:moveTo>
                    <a:pt x="0" y="0"/>
                  </a:moveTo>
                  <a:lnTo>
                    <a:pt x="4145280" y="0"/>
                  </a:lnTo>
                  <a:lnTo>
                    <a:pt x="4145280" y="780288"/>
                  </a:lnTo>
                  <a:lnTo>
                    <a:pt x="0" y="780288"/>
                  </a:lnTo>
                  <a:close/>
                </a:path>
              </a:pathLst>
            </a:custGeom>
            <a:blipFill>
              <a:blip r:embed="rId3">
                <a:alphaModFix amt="0"/>
              </a:blip>
              <a:stretch>
                <a:fillRect t="-53514" b="-53514"/>
              </a:stretch>
            </a:blipFill>
          </p:spPr>
        </p:sp>
        <p:sp>
          <p:nvSpPr>
            <p:cNvPr id="47" name="TextBox 47"/>
            <p:cNvSpPr txBox="1"/>
            <p:nvPr/>
          </p:nvSpPr>
          <p:spPr>
            <a:xfrm>
              <a:off x="0" y="-19050"/>
              <a:ext cx="4145280" cy="799338"/>
            </a:xfrm>
            <a:prstGeom prst="rect">
              <a:avLst/>
            </a:prstGeom>
          </p:spPr>
          <p:txBody>
            <a:bodyPr lIns="0" tIns="0" rIns="0" bIns="0" rtlCol="0" anchor="ctr"/>
            <a:lstStyle/>
            <a:p>
              <a:pPr algn="l">
                <a:lnSpc>
                  <a:spcPts val="3600"/>
                </a:lnSpc>
              </a:pPr>
              <a:r>
                <a:rPr lang="en-US" sz="3000" b="1">
                  <a:solidFill>
                    <a:srgbClr val="1A231C"/>
                  </a:solidFill>
                  <a:latin typeface="Arial Bold"/>
                  <a:ea typeface="Arial Bold"/>
                  <a:cs typeface="Arial Bold"/>
                  <a:sym typeface="Arial Bold"/>
                </a:rPr>
                <a:t>Repair</a:t>
              </a:r>
            </a:p>
          </p:txBody>
        </p:sp>
      </p:grpSp>
      <p:sp>
        <p:nvSpPr>
          <p:cNvPr id="48" name="TextBox 48"/>
          <p:cNvSpPr txBox="1"/>
          <p:nvPr/>
        </p:nvSpPr>
        <p:spPr>
          <a:xfrm>
            <a:off x="9729216" y="5073015"/>
            <a:ext cx="3108960" cy="1053465"/>
          </a:xfrm>
          <a:prstGeom prst="rect">
            <a:avLst/>
          </a:prstGeom>
        </p:spPr>
        <p:txBody>
          <a:bodyPr lIns="0" tIns="0" rIns="0" bIns="0" rtlCol="0" anchor="t">
            <a:spAutoFit/>
          </a:bodyPr>
          <a:lstStyle/>
          <a:p>
            <a:pPr algn="l">
              <a:lnSpc>
                <a:spcPts val="2760"/>
              </a:lnSpc>
            </a:pPr>
            <a:r>
              <a:rPr lang="en-US" sz="2300">
                <a:solidFill>
                  <a:srgbClr val="5F6B62"/>
                </a:solidFill>
                <a:latin typeface="Calibri (MS)"/>
                <a:ea typeface="Calibri (MS)"/>
                <a:cs typeface="Calibri (MS)"/>
                <a:sym typeface="Calibri (MS)"/>
              </a:rPr>
              <a:t>Will the fix break normal use?</a:t>
            </a:r>
          </a:p>
        </p:txBody>
      </p:sp>
      <p:grpSp>
        <p:nvGrpSpPr>
          <p:cNvPr id="49" name="Group 49"/>
          <p:cNvGrpSpPr/>
          <p:nvPr/>
        </p:nvGrpSpPr>
        <p:grpSpPr>
          <a:xfrm>
            <a:off x="13203936" y="4297680"/>
            <a:ext cx="292608" cy="292608"/>
            <a:chOff x="0" y="0"/>
            <a:chExt cx="390144" cy="390144"/>
          </a:xfrm>
        </p:grpSpPr>
        <p:sp>
          <p:nvSpPr>
            <p:cNvPr id="50" name="Freeform 50" descr="preencoded.png"/>
            <p:cNvSpPr/>
            <p:nvPr/>
          </p:nvSpPr>
          <p:spPr>
            <a:xfrm>
              <a:off x="0" y="0"/>
              <a:ext cx="390144" cy="390144"/>
            </a:xfrm>
            <a:custGeom>
              <a:avLst/>
              <a:gdLst/>
              <a:ahLst/>
              <a:cxnLst/>
              <a:rect l="l" t="t" r="r" b="b"/>
              <a:pathLst>
                <a:path w="390144" h="390144">
                  <a:moveTo>
                    <a:pt x="0" y="0"/>
                  </a:moveTo>
                  <a:lnTo>
                    <a:pt x="390144" y="0"/>
                  </a:lnTo>
                  <a:lnTo>
                    <a:pt x="390144" y="390144"/>
                  </a:lnTo>
                  <a:lnTo>
                    <a:pt x="0" y="390144"/>
                  </a:lnTo>
                  <a:lnTo>
                    <a:pt x="0" y="0"/>
                  </a:lnTo>
                  <a:close/>
                </a:path>
              </a:pathLst>
            </a:custGeom>
            <a:blipFill>
              <a:blip r:embed="rId5"/>
              <a:stretch>
                <a:fillRect/>
              </a:stretch>
            </a:blipFill>
          </p:spPr>
        </p:sp>
      </p:grpSp>
      <p:grpSp>
        <p:nvGrpSpPr>
          <p:cNvPr id="51" name="Group 51"/>
          <p:cNvGrpSpPr/>
          <p:nvPr/>
        </p:nvGrpSpPr>
        <p:grpSpPr>
          <a:xfrm>
            <a:off x="13523595" y="2642235"/>
            <a:ext cx="3859530" cy="3676650"/>
            <a:chOff x="0" y="0"/>
            <a:chExt cx="5146040" cy="4902200"/>
          </a:xfrm>
        </p:grpSpPr>
        <p:sp>
          <p:nvSpPr>
            <p:cNvPr id="52" name="Freeform 52"/>
            <p:cNvSpPr/>
            <p:nvPr/>
          </p:nvSpPr>
          <p:spPr>
            <a:xfrm>
              <a:off x="0" y="0"/>
              <a:ext cx="5146040" cy="4902200"/>
            </a:xfrm>
            <a:custGeom>
              <a:avLst/>
              <a:gdLst/>
              <a:ahLst/>
              <a:cxnLst/>
              <a:rect l="l" t="t" r="r" b="b"/>
              <a:pathLst>
                <a:path w="5146040" h="4902200">
                  <a:moveTo>
                    <a:pt x="0" y="245110"/>
                  </a:moveTo>
                  <a:cubicBezTo>
                    <a:pt x="0" y="109728"/>
                    <a:pt x="109728" y="0"/>
                    <a:pt x="245110" y="0"/>
                  </a:cubicBezTo>
                  <a:lnTo>
                    <a:pt x="4900930" y="0"/>
                  </a:lnTo>
                  <a:cubicBezTo>
                    <a:pt x="5036312" y="0"/>
                    <a:pt x="5146040" y="109728"/>
                    <a:pt x="5146040" y="245110"/>
                  </a:cubicBezTo>
                  <a:lnTo>
                    <a:pt x="5146040" y="4657090"/>
                  </a:lnTo>
                  <a:cubicBezTo>
                    <a:pt x="5146040" y="4792472"/>
                    <a:pt x="5036312" y="4902200"/>
                    <a:pt x="4900930" y="4902200"/>
                  </a:cubicBezTo>
                  <a:lnTo>
                    <a:pt x="245110" y="4902200"/>
                  </a:lnTo>
                  <a:cubicBezTo>
                    <a:pt x="109728" y="4902200"/>
                    <a:pt x="0" y="4792472"/>
                    <a:pt x="0" y="4657090"/>
                  </a:cubicBezTo>
                  <a:close/>
                </a:path>
              </a:pathLst>
            </a:custGeom>
            <a:solidFill>
              <a:srgbClr val="FFFFFF"/>
            </a:solidFill>
            <a:ln w="19050" cap="sq">
              <a:solidFill>
                <a:srgbClr val="DDE3D8"/>
              </a:solidFill>
              <a:prstDash val="solid"/>
              <a:miter/>
            </a:ln>
          </p:spPr>
        </p:sp>
      </p:grpSp>
      <p:grpSp>
        <p:nvGrpSpPr>
          <p:cNvPr id="53" name="Group 53"/>
          <p:cNvGrpSpPr/>
          <p:nvPr/>
        </p:nvGrpSpPr>
        <p:grpSpPr>
          <a:xfrm>
            <a:off x="13922759" y="3096263"/>
            <a:ext cx="1031243" cy="1031243"/>
            <a:chOff x="0" y="0"/>
            <a:chExt cx="1374991" cy="1374991"/>
          </a:xfrm>
        </p:grpSpPr>
        <p:sp>
          <p:nvSpPr>
            <p:cNvPr id="54" name="Freeform 54"/>
            <p:cNvSpPr/>
            <p:nvPr/>
          </p:nvSpPr>
          <p:spPr>
            <a:xfrm>
              <a:off x="0" y="0"/>
              <a:ext cx="1374902" cy="1374902"/>
            </a:xfrm>
            <a:custGeom>
              <a:avLst/>
              <a:gdLst/>
              <a:ahLst/>
              <a:cxnLst/>
              <a:rect l="l" t="t" r="r" b="b"/>
              <a:pathLst>
                <a:path w="1374902" h="1374902">
                  <a:moveTo>
                    <a:pt x="0" y="687451"/>
                  </a:moveTo>
                  <a:cubicBezTo>
                    <a:pt x="0" y="307848"/>
                    <a:pt x="307848" y="0"/>
                    <a:pt x="687451" y="0"/>
                  </a:cubicBezTo>
                  <a:cubicBezTo>
                    <a:pt x="1067054" y="0"/>
                    <a:pt x="1374902" y="307848"/>
                    <a:pt x="1374902" y="687451"/>
                  </a:cubicBezTo>
                  <a:cubicBezTo>
                    <a:pt x="1374902" y="1067054"/>
                    <a:pt x="1067054" y="1374902"/>
                    <a:pt x="687451" y="1374902"/>
                  </a:cubicBezTo>
                  <a:cubicBezTo>
                    <a:pt x="307848" y="1374902"/>
                    <a:pt x="0" y="1067181"/>
                    <a:pt x="0" y="687451"/>
                  </a:cubicBezTo>
                  <a:close/>
                </a:path>
              </a:pathLst>
            </a:custGeom>
            <a:solidFill>
              <a:srgbClr val="F2F5EC"/>
            </a:solidFill>
            <a:ln w="25400" cap="sq">
              <a:solidFill>
                <a:srgbClr val="F2F5EC"/>
              </a:solidFill>
              <a:prstDash val="solid"/>
              <a:miter/>
            </a:ln>
          </p:spPr>
        </p:sp>
      </p:grpSp>
      <p:grpSp>
        <p:nvGrpSpPr>
          <p:cNvPr id="55" name="Group 55"/>
          <p:cNvGrpSpPr/>
          <p:nvPr/>
        </p:nvGrpSpPr>
        <p:grpSpPr>
          <a:xfrm>
            <a:off x="14176858" y="3350362"/>
            <a:ext cx="523037" cy="523037"/>
            <a:chOff x="0" y="0"/>
            <a:chExt cx="697382" cy="697382"/>
          </a:xfrm>
        </p:grpSpPr>
        <p:sp>
          <p:nvSpPr>
            <p:cNvPr id="56" name="Freeform 56" descr="preencoded.png"/>
            <p:cNvSpPr/>
            <p:nvPr/>
          </p:nvSpPr>
          <p:spPr>
            <a:xfrm>
              <a:off x="0" y="0"/>
              <a:ext cx="697357" cy="697357"/>
            </a:xfrm>
            <a:custGeom>
              <a:avLst/>
              <a:gdLst/>
              <a:ahLst/>
              <a:cxnLst/>
              <a:rect l="l" t="t" r="r" b="b"/>
              <a:pathLst>
                <a:path w="697357" h="697357">
                  <a:moveTo>
                    <a:pt x="0" y="0"/>
                  </a:moveTo>
                  <a:lnTo>
                    <a:pt x="697357" y="0"/>
                  </a:lnTo>
                  <a:lnTo>
                    <a:pt x="697357" y="697357"/>
                  </a:lnTo>
                  <a:lnTo>
                    <a:pt x="0" y="697357"/>
                  </a:lnTo>
                  <a:lnTo>
                    <a:pt x="0" y="0"/>
                  </a:lnTo>
                  <a:close/>
                </a:path>
              </a:pathLst>
            </a:custGeom>
            <a:blipFill>
              <a:blip r:embed="rId8"/>
              <a:stretch>
                <a:fillRect r="-3" b="-3"/>
              </a:stretch>
            </a:blipFill>
          </p:spPr>
        </p:sp>
      </p:grpSp>
      <p:grpSp>
        <p:nvGrpSpPr>
          <p:cNvPr id="57" name="Group 57"/>
          <p:cNvGrpSpPr/>
          <p:nvPr/>
        </p:nvGrpSpPr>
        <p:grpSpPr>
          <a:xfrm>
            <a:off x="16093440" y="3200400"/>
            <a:ext cx="914400" cy="548640"/>
            <a:chOff x="0" y="0"/>
            <a:chExt cx="1219200" cy="731520"/>
          </a:xfrm>
        </p:grpSpPr>
        <p:sp>
          <p:nvSpPr>
            <p:cNvPr id="58" name="Freeform 58"/>
            <p:cNvSpPr/>
            <p:nvPr/>
          </p:nvSpPr>
          <p:spPr>
            <a:xfrm>
              <a:off x="0" y="0"/>
              <a:ext cx="1219200" cy="731520"/>
            </a:xfrm>
            <a:custGeom>
              <a:avLst/>
              <a:gdLst/>
              <a:ahLst/>
              <a:cxnLst/>
              <a:rect l="l" t="t" r="r" b="b"/>
              <a:pathLst>
                <a:path w="1219200" h="731520">
                  <a:moveTo>
                    <a:pt x="0" y="0"/>
                  </a:moveTo>
                  <a:lnTo>
                    <a:pt x="1219200" y="0"/>
                  </a:lnTo>
                  <a:lnTo>
                    <a:pt x="1219200" y="731520"/>
                  </a:lnTo>
                  <a:lnTo>
                    <a:pt x="0" y="731520"/>
                  </a:lnTo>
                  <a:close/>
                </a:path>
              </a:pathLst>
            </a:custGeom>
            <a:blipFill>
              <a:blip r:embed="rId3">
                <a:alphaModFix amt="0"/>
              </a:blip>
              <a:stretch>
                <a:fillRect l="-26982" r="-26982"/>
              </a:stretch>
            </a:blipFill>
          </p:spPr>
        </p:sp>
        <p:sp>
          <p:nvSpPr>
            <p:cNvPr id="59" name="TextBox 59"/>
            <p:cNvSpPr txBox="1"/>
            <p:nvPr/>
          </p:nvSpPr>
          <p:spPr>
            <a:xfrm>
              <a:off x="0" y="-47625"/>
              <a:ext cx="1219200" cy="779145"/>
            </a:xfrm>
            <a:prstGeom prst="rect">
              <a:avLst/>
            </a:prstGeom>
          </p:spPr>
          <p:txBody>
            <a:bodyPr lIns="0" tIns="0" rIns="0" bIns="0" rtlCol="0" anchor="ctr"/>
            <a:lstStyle/>
            <a:p>
              <a:pPr algn="r">
                <a:lnSpc>
                  <a:spcPts val="2639"/>
                </a:lnSpc>
              </a:pPr>
              <a:r>
                <a:rPr lang="en-US" sz="2199" b="1">
                  <a:solidFill>
                    <a:srgbClr val="5F6B62"/>
                  </a:solidFill>
                  <a:latin typeface="Calibri (MS) Bold"/>
                  <a:ea typeface="Calibri (MS) Bold"/>
                  <a:cs typeface="Calibri (MS) Bold"/>
                  <a:sym typeface="Calibri (MS) Bold"/>
                </a:rPr>
                <a:t>04</a:t>
              </a:r>
            </a:p>
          </p:txBody>
        </p:sp>
      </p:grpSp>
      <p:grpSp>
        <p:nvGrpSpPr>
          <p:cNvPr id="60" name="Group 60"/>
          <p:cNvGrpSpPr/>
          <p:nvPr/>
        </p:nvGrpSpPr>
        <p:grpSpPr>
          <a:xfrm>
            <a:off x="13935456" y="4480560"/>
            <a:ext cx="3108960" cy="585216"/>
            <a:chOff x="0" y="0"/>
            <a:chExt cx="4145280" cy="780288"/>
          </a:xfrm>
        </p:grpSpPr>
        <p:sp>
          <p:nvSpPr>
            <p:cNvPr id="61" name="Freeform 61"/>
            <p:cNvSpPr/>
            <p:nvPr/>
          </p:nvSpPr>
          <p:spPr>
            <a:xfrm>
              <a:off x="0" y="0"/>
              <a:ext cx="4145280" cy="780288"/>
            </a:xfrm>
            <a:custGeom>
              <a:avLst/>
              <a:gdLst/>
              <a:ahLst/>
              <a:cxnLst/>
              <a:rect l="l" t="t" r="r" b="b"/>
              <a:pathLst>
                <a:path w="4145280" h="780288">
                  <a:moveTo>
                    <a:pt x="0" y="0"/>
                  </a:moveTo>
                  <a:lnTo>
                    <a:pt x="4145280" y="0"/>
                  </a:lnTo>
                  <a:lnTo>
                    <a:pt x="4145280" y="780288"/>
                  </a:lnTo>
                  <a:lnTo>
                    <a:pt x="0" y="780288"/>
                  </a:lnTo>
                  <a:close/>
                </a:path>
              </a:pathLst>
            </a:custGeom>
            <a:blipFill>
              <a:blip r:embed="rId3">
                <a:alphaModFix amt="0"/>
              </a:blip>
              <a:stretch>
                <a:fillRect t="-53514" b="-53514"/>
              </a:stretch>
            </a:blipFill>
          </p:spPr>
        </p:sp>
        <p:sp>
          <p:nvSpPr>
            <p:cNvPr id="62" name="TextBox 62"/>
            <p:cNvSpPr txBox="1"/>
            <p:nvPr/>
          </p:nvSpPr>
          <p:spPr>
            <a:xfrm>
              <a:off x="0" y="-19050"/>
              <a:ext cx="4145280" cy="799338"/>
            </a:xfrm>
            <a:prstGeom prst="rect">
              <a:avLst/>
            </a:prstGeom>
          </p:spPr>
          <p:txBody>
            <a:bodyPr lIns="0" tIns="0" rIns="0" bIns="0" rtlCol="0" anchor="ctr"/>
            <a:lstStyle/>
            <a:p>
              <a:pPr algn="l">
                <a:lnSpc>
                  <a:spcPts val="3600"/>
                </a:lnSpc>
              </a:pPr>
              <a:r>
                <a:rPr lang="en-US" sz="3000" b="1">
                  <a:solidFill>
                    <a:srgbClr val="1A231C"/>
                  </a:solidFill>
                  <a:latin typeface="Arial Bold"/>
                  <a:ea typeface="Arial Bold"/>
                  <a:cs typeface="Arial Bold"/>
                  <a:sym typeface="Arial Bold"/>
                </a:rPr>
                <a:t>Review</a:t>
              </a:r>
            </a:p>
          </p:txBody>
        </p:sp>
      </p:grpSp>
      <p:sp>
        <p:nvSpPr>
          <p:cNvPr id="63" name="TextBox 63"/>
          <p:cNvSpPr txBox="1"/>
          <p:nvPr/>
        </p:nvSpPr>
        <p:spPr>
          <a:xfrm>
            <a:off x="13935456" y="5073015"/>
            <a:ext cx="3108960" cy="1053465"/>
          </a:xfrm>
          <a:prstGeom prst="rect">
            <a:avLst/>
          </a:prstGeom>
        </p:spPr>
        <p:txBody>
          <a:bodyPr lIns="0" tIns="0" rIns="0" bIns="0" rtlCol="0" anchor="t">
            <a:spAutoFit/>
          </a:bodyPr>
          <a:lstStyle/>
          <a:p>
            <a:pPr algn="l">
              <a:lnSpc>
                <a:spcPts val="2760"/>
              </a:lnSpc>
            </a:pPr>
            <a:r>
              <a:rPr lang="en-US" sz="2300">
                <a:solidFill>
                  <a:srgbClr val="5F6B62"/>
                </a:solidFill>
                <a:latin typeface="Calibri (MS)"/>
                <a:ea typeface="Calibri (MS)"/>
                <a:cs typeface="Calibri (MS)"/>
                <a:sym typeface="Calibri (MS)"/>
              </a:rPr>
              <a:t>What evidence can we trust?</a:t>
            </a:r>
          </a:p>
        </p:txBody>
      </p:sp>
      <p:grpSp>
        <p:nvGrpSpPr>
          <p:cNvPr id="64" name="Group 64"/>
          <p:cNvGrpSpPr/>
          <p:nvPr/>
        </p:nvGrpSpPr>
        <p:grpSpPr>
          <a:xfrm>
            <a:off x="904875" y="6848475"/>
            <a:ext cx="16478250" cy="1939290"/>
            <a:chOff x="0" y="0"/>
            <a:chExt cx="21971000" cy="2585720"/>
          </a:xfrm>
        </p:grpSpPr>
        <p:sp>
          <p:nvSpPr>
            <p:cNvPr id="65" name="Freeform 65"/>
            <p:cNvSpPr/>
            <p:nvPr/>
          </p:nvSpPr>
          <p:spPr>
            <a:xfrm>
              <a:off x="0" y="0"/>
              <a:ext cx="21971000" cy="2585720"/>
            </a:xfrm>
            <a:custGeom>
              <a:avLst/>
              <a:gdLst/>
              <a:ahLst/>
              <a:cxnLst/>
              <a:rect l="l" t="t" r="r" b="b"/>
              <a:pathLst>
                <a:path w="21971000" h="2585720">
                  <a:moveTo>
                    <a:pt x="0" y="246253"/>
                  </a:moveTo>
                  <a:cubicBezTo>
                    <a:pt x="0" y="110236"/>
                    <a:pt x="110236" y="0"/>
                    <a:pt x="246253" y="0"/>
                  </a:cubicBezTo>
                  <a:lnTo>
                    <a:pt x="21724747" y="0"/>
                  </a:lnTo>
                  <a:cubicBezTo>
                    <a:pt x="21860763" y="0"/>
                    <a:pt x="21971000" y="110236"/>
                    <a:pt x="21971000" y="246253"/>
                  </a:cubicBezTo>
                  <a:lnTo>
                    <a:pt x="21971000" y="2339467"/>
                  </a:lnTo>
                  <a:cubicBezTo>
                    <a:pt x="21971000" y="2475484"/>
                    <a:pt x="21860763" y="2585720"/>
                    <a:pt x="21724747" y="2585720"/>
                  </a:cubicBezTo>
                  <a:lnTo>
                    <a:pt x="246253" y="2585720"/>
                  </a:lnTo>
                  <a:cubicBezTo>
                    <a:pt x="110236" y="2585720"/>
                    <a:pt x="0" y="2475484"/>
                    <a:pt x="0" y="2339467"/>
                  </a:cubicBezTo>
                  <a:close/>
                </a:path>
              </a:pathLst>
            </a:custGeom>
            <a:solidFill>
              <a:srgbClr val="FFFFFF"/>
            </a:solidFill>
            <a:ln w="19050" cap="sq">
              <a:solidFill>
                <a:srgbClr val="DDE3D8"/>
              </a:solidFill>
              <a:prstDash val="solid"/>
              <a:miter/>
            </a:ln>
          </p:spPr>
        </p:sp>
      </p:grpSp>
      <p:grpSp>
        <p:nvGrpSpPr>
          <p:cNvPr id="66" name="Group 66"/>
          <p:cNvGrpSpPr/>
          <p:nvPr/>
        </p:nvGrpSpPr>
        <p:grpSpPr>
          <a:xfrm>
            <a:off x="1358903" y="7265927"/>
            <a:ext cx="1122683" cy="1122683"/>
            <a:chOff x="0" y="0"/>
            <a:chExt cx="1496911" cy="1496911"/>
          </a:xfrm>
        </p:grpSpPr>
        <p:sp>
          <p:nvSpPr>
            <p:cNvPr id="67" name="Freeform 67"/>
            <p:cNvSpPr/>
            <p:nvPr/>
          </p:nvSpPr>
          <p:spPr>
            <a:xfrm>
              <a:off x="0" y="0"/>
              <a:ext cx="1496822" cy="1496822"/>
            </a:xfrm>
            <a:custGeom>
              <a:avLst/>
              <a:gdLst/>
              <a:ahLst/>
              <a:cxnLst/>
              <a:rect l="l" t="t" r="r" b="b"/>
              <a:pathLst>
                <a:path w="1496822" h="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F8E3DF"/>
            </a:solidFill>
            <a:ln w="25400" cap="sq">
              <a:solidFill>
                <a:srgbClr val="F8E3DF"/>
              </a:solidFill>
              <a:prstDash val="solid"/>
              <a:miter/>
            </a:ln>
          </p:spPr>
        </p:sp>
      </p:grpSp>
      <p:grpSp>
        <p:nvGrpSpPr>
          <p:cNvPr id="68" name="Group 68"/>
          <p:cNvGrpSpPr/>
          <p:nvPr/>
        </p:nvGrpSpPr>
        <p:grpSpPr>
          <a:xfrm>
            <a:off x="1634947" y="7541971"/>
            <a:ext cx="570586" cy="570586"/>
            <a:chOff x="0" y="0"/>
            <a:chExt cx="760781" cy="760781"/>
          </a:xfrm>
        </p:grpSpPr>
        <p:sp>
          <p:nvSpPr>
            <p:cNvPr id="69" name="Freeform 69" descr="preencoded.png"/>
            <p:cNvSpPr/>
            <p:nvPr/>
          </p:nvSpPr>
          <p:spPr>
            <a:xfrm>
              <a:off x="0" y="0"/>
              <a:ext cx="760730" cy="760730"/>
            </a:xfrm>
            <a:custGeom>
              <a:avLst/>
              <a:gdLst/>
              <a:ahLst/>
              <a:cxnLst/>
              <a:rect l="l" t="t" r="r" b="b"/>
              <a:pathLst>
                <a:path w="760730" h="760730">
                  <a:moveTo>
                    <a:pt x="0" y="0"/>
                  </a:moveTo>
                  <a:lnTo>
                    <a:pt x="760730" y="0"/>
                  </a:lnTo>
                  <a:lnTo>
                    <a:pt x="760730" y="760730"/>
                  </a:lnTo>
                  <a:lnTo>
                    <a:pt x="0" y="760730"/>
                  </a:lnTo>
                  <a:lnTo>
                    <a:pt x="0" y="0"/>
                  </a:lnTo>
                  <a:close/>
                </a:path>
              </a:pathLst>
            </a:custGeom>
            <a:blipFill>
              <a:blip r:embed="rId9"/>
              <a:stretch>
                <a:fillRect r="-6" b="-6"/>
              </a:stretch>
            </a:blipFill>
          </p:spPr>
        </p:sp>
      </p:grpSp>
      <p:grpSp>
        <p:nvGrpSpPr>
          <p:cNvPr id="70" name="Group 70"/>
          <p:cNvGrpSpPr/>
          <p:nvPr/>
        </p:nvGrpSpPr>
        <p:grpSpPr>
          <a:xfrm>
            <a:off x="2834640" y="7309485"/>
            <a:ext cx="14081760" cy="548640"/>
            <a:chOff x="0" y="0"/>
            <a:chExt cx="18775680" cy="731520"/>
          </a:xfrm>
        </p:grpSpPr>
        <p:sp>
          <p:nvSpPr>
            <p:cNvPr id="71" name="Freeform 71"/>
            <p:cNvSpPr/>
            <p:nvPr/>
          </p:nvSpPr>
          <p:spPr>
            <a:xfrm>
              <a:off x="0" y="0"/>
              <a:ext cx="18775680" cy="731520"/>
            </a:xfrm>
            <a:custGeom>
              <a:avLst/>
              <a:gdLst/>
              <a:ahLst/>
              <a:cxnLst/>
              <a:rect l="l" t="t" r="r" b="b"/>
              <a:pathLst>
                <a:path w="18775680" h="731520">
                  <a:moveTo>
                    <a:pt x="0" y="0"/>
                  </a:moveTo>
                  <a:lnTo>
                    <a:pt x="18775680" y="0"/>
                  </a:lnTo>
                  <a:lnTo>
                    <a:pt x="18775680" y="731520"/>
                  </a:lnTo>
                  <a:lnTo>
                    <a:pt x="0" y="731520"/>
                  </a:lnTo>
                  <a:close/>
                </a:path>
              </a:pathLst>
            </a:custGeom>
            <a:blipFill>
              <a:blip r:embed="rId3">
                <a:alphaModFix amt="0"/>
              </a:blip>
              <a:stretch>
                <a:fillRect t="-450115" b="-450115"/>
              </a:stretch>
            </a:blipFill>
          </p:spPr>
        </p:sp>
        <p:sp>
          <p:nvSpPr>
            <p:cNvPr id="72" name="TextBox 72"/>
            <p:cNvSpPr txBox="1"/>
            <p:nvPr/>
          </p:nvSpPr>
          <p:spPr>
            <a:xfrm>
              <a:off x="0" y="-66675"/>
              <a:ext cx="18775680" cy="798195"/>
            </a:xfrm>
            <a:prstGeom prst="rect">
              <a:avLst/>
            </a:prstGeom>
          </p:spPr>
          <p:txBody>
            <a:bodyPr lIns="0" tIns="0" rIns="0" bIns="0" rtlCol="0" anchor="ctr"/>
            <a:lstStyle/>
            <a:p>
              <a:pPr algn="l">
                <a:lnSpc>
                  <a:spcPts val="3359"/>
                </a:lnSpc>
              </a:pPr>
              <a:r>
                <a:rPr lang="en-US" sz="2799" b="1">
                  <a:solidFill>
                    <a:srgbClr val="1A231C"/>
                  </a:solidFill>
                  <a:latin typeface="Calibri (MS) Bold"/>
                  <a:ea typeface="Calibri (MS) Bold"/>
                  <a:cs typeface="Calibri (MS) Bold"/>
                  <a:sym typeface="Calibri (MS) Bold"/>
                </a:rPr>
                <a:t>The business pays twice</a:t>
              </a:r>
            </a:p>
          </p:txBody>
        </p:sp>
      </p:grpSp>
      <p:sp>
        <p:nvSpPr>
          <p:cNvPr id="73" name="TextBox 73"/>
          <p:cNvSpPr txBox="1"/>
          <p:nvPr/>
        </p:nvSpPr>
        <p:spPr>
          <a:xfrm>
            <a:off x="2834640" y="7820025"/>
            <a:ext cx="14081760" cy="861060"/>
          </a:xfrm>
          <a:prstGeom prst="rect">
            <a:avLst/>
          </a:prstGeom>
        </p:spPr>
        <p:txBody>
          <a:bodyPr lIns="0" tIns="0" rIns="0" bIns="0" rtlCol="0" anchor="t">
            <a:spAutoFit/>
          </a:bodyPr>
          <a:lstStyle/>
          <a:p>
            <a:pPr algn="l">
              <a:lnSpc>
                <a:spcPts val="2879"/>
              </a:lnSpc>
            </a:pPr>
            <a:r>
              <a:rPr lang="en-US" sz="2400">
                <a:solidFill>
                  <a:srgbClr val="5F6B62"/>
                </a:solidFill>
                <a:latin typeface="Calibri (MS)"/>
                <a:ea typeface="Calibri (MS)"/>
                <a:cs typeface="Calibri (MS)"/>
                <a:sym typeface="Calibri (MS)"/>
              </a:rPr>
              <a:t>Developer hours on every alert that turns out to be noise, and breach cost on the one that slips through.</a:t>
            </a:r>
          </a:p>
        </p:txBody>
      </p:sp>
      <p:sp>
        <p:nvSpPr>
          <p:cNvPr id="74" name="TextBox 74"/>
          <p:cNvSpPr txBox="1"/>
          <p:nvPr/>
        </p:nvSpPr>
        <p:spPr>
          <a:xfrm>
            <a:off x="16733520" y="9371076"/>
            <a:ext cx="548640" cy="495300"/>
          </a:xfrm>
          <a:prstGeom prst="rect">
            <a:avLst/>
          </a:prstGeom>
        </p:spPr>
        <p:txBody>
          <a:bodyPr lIns="0" tIns="0" rIns="0" bIns="0" rtlCol="0" anchor="t">
            <a:spAutoFit/>
          </a:bodyPr>
          <a:lstStyle/>
          <a:p>
            <a:pPr algn="r">
              <a:lnSpc>
                <a:spcPts val="2160"/>
              </a:lnSpc>
            </a:pPr>
            <a:r>
              <a:rPr lang="en-US" sz="1800">
                <a:solidFill>
                  <a:srgbClr val="5F6B62"/>
                </a:solidFill>
                <a:latin typeface="Calibri (MS)"/>
                <a:ea typeface="Calibri (MS)"/>
                <a:cs typeface="Calibri (MS)"/>
                <a:sym typeface="Calibri (MS)"/>
              </a:rPr>
              <a:t>6</a:t>
            </a:r>
          </a:p>
        </p:txBody>
      </p:sp>
      <p:grpSp>
        <p:nvGrpSpPr>
          <p:cNvPr id="75" name="Group 75"/>
          <p:cNvGrpSpPr/>
          <p:nvPr/>
        </p:nvGrpSpPr>
        <p:grpSpPr>
          <a:xfrm>
            <a:off x="16550640" y="273395"/>
            <a:ext cx="1308336" cy="675295"/>
            <a:chOff x="0" y="0"/>
            <a:chExt cx="1744448" cy="900394"/>
          </a:xfrm>
        </p:grpSpPr>
        <p:sp>
          <p:nvSpPr>
            <p:cNvPr id="76" name="Freeform 76"/>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77" name="TextBox 77"/>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0" y="1158240"/>
            <a:ext cx="16459200" cy="1116330"/>
          </a:xfrm>
          <a:prstGeom prst="rect">
            <a:avLst/>
          </a:prstGeom>
        </p:spPr>
        <p:txBody>
          <a:bodyPr lIns="0" tIns="0" rIns="0" bIns="0" rtlCol="0" anchor="t">
            <a:spAutoFit/>
          </a:bodyPr>
          <a:lstStyle/>
          <a:p>
            <a:pPr algn="l">
              <a:lnSpc>
                <a:spcPts val="6239"/>
              </a:lnSpc>
            </a:pPr>
            <a:r>
              <a:rPr lang="en-US" sz="5199" b="1">
                <a:solidFill>
                  <a:srgbClr val="1A231C"/>
                </a:solidFill>
                <a:latin typeface="Arial Bold"/>
                <a:ea typeface="Arial Bold"/>
                <a:cs typeface="Arial Bold"/>
                <a:sym typeface="Arial Bold"/>
              </a:rPr>
              <a:t>Three agents, each allowed to do one thing</a:t>
            </a:r>
          </a:p>
        </p:txBody>
      </p:sp>
      <p:grpSp>
        <p:nvGrpSpPr>
          <p:cNvPr id="3" name="Group 3"/>
          <p:cNvGrpSpPr/>
          <p:nvPr/>
        </p:nvGrpSpPr>
        <p:grpSpPr>
          <a:xfrm>
            <a:off x="898522" y="2624452"/>
            <a:ext cx="5335267" cy="4695187"/>
            <a:chOff x="0" y="0"/>
            <a:chExt cx="7113689" cy="6260249"/>
          </a:xfrm>
        </p:grpSpPr>
        <p:sp>
          <p:nvSpPr>
            <p:cNvPr id="4" name="Freeform 4"/>
            <p:cNvSpPr/>
            <p:nvPr/>
          </p:nvSpPr>
          <p:spPr>
            <a:xfrm>
              <a:off x="0" y="0"/>
              <a:ext cx="7113651" cy="6260211"/>
            </a:xfrm>
            <a:custGeom>
              <a:avLst/>
              <a:gdLst/>
              <a:ahLst/>
              <a:cxnLst/>
              <a:rect l="l" t="t" r="r" b="b"/>
              <a:pathLst>
                <a:path w="7113651" h="6260211">
                  <a:moveTo>
                    <a:pt x="0" y="245491"/>
                  </a:moveTo>
                  <a:cubicBezTo>
                    <a:pt x="0" y="109982"/>
                    <a:pt x="109982" y="0"/>
                    <a:pt x="245491" y="0"/>
                  </a:cubicBezTo>
                  <a:lnTo>
                    <a:pt x="6868160" y="0"/>
                  </a:lnTo>
                  <a:cubicBezTo>
                    <a:pt x="7003796" y="0"/>
                    <a:pt x="7113651" y="109982"/>
                    <a:pt x="7113651" y="245491"/>
                  </a:cubicBezTo>
                  <a:lnTo>
                    <a:pt x="7113651" y="6014720"/>
                  </a:lnTo>
                  <a:cubicBezTo>
                    <a:pt x="7113651" y="6150356"/>
                    <a:pt x="7003669" y="6260211"/>
                    <a:pt x="6868160" y="6260211"/>
                  </a:cubicBezTo>
                  <a:lnTo>
                    <a:pt x="245491" y="6260211"/>
                  </a:lnTo>
                  <a:cubicBezTo>
                    <a:pt x="109982" y="6260211"/>
                    <a:pt x="0" y="6150356"/>
                    <a:pt x="0" y="6014720"/>
                  </a:cubicBezTo>
                  <a:close/>
                </a:path>
              </a:pathLst>
            </a:custGeom>
            <a:solidFill>
              <a:srgbClr val="FFFFFF"/>
            </a:solidFill>
            <a:ln w="31750" cap="sq">
              <a:solidFill>
                <a:srgbClr val="2F6B3A"/>
              </a:solidFill>
              <a:prstDash val="solid"/>
              <a:miter/>
            </a:ln>
          </p:spPr>
        </p:sp>
      </p:grpSp>
      <p:grpSp>
        <p:nvGrpSpPr>
          <p:cNvPr id="5" name="Group 5"/>
          <p:cNvGrpSpPr/>
          <p:nvPr/>
        </p:nvGrpSpPr>
        <p:grpSpPr>
          <a:xfrm>
            <a:off x="1304039" y="3029969"/>
            <a:ext cx="939803" cy="939803"/>
            <a:chOff x="0" y="0"/>
            <a:chExt cx="1253071" cy="1253071"/>
          </a:xfrm>
        </p:grpSpPr>
        <p:sp>
          <p:nvSpPr>
            <p:cNvPr id="6" name="Freeform 6"/>
            <p:cNvSpPr/>
            <p:nvPr/>
          </p:nvSpPr>
          <p:spPr>
            <a:xfrm>
              <a:off x="0" y="0"/>
              <a:ext cx="1253109" cy="1253109"/>
            </a:xfrm>
            <a:custGeom>
              <a:avLst/>
              <a:gdLst/>
              <a:ahLst/>
              <a:cxnLst/>
              <a:rect l="l" t="t" r="r" b="b"/>
              <a:pathLst>
                <a:path w="1253109" h="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D7EBAE"/>
            </a:solidFill>
            <a:ln w="25400" cap="sq">
              <a:solidFill>
                <a:srgbClr val="D7EBAE"/>
              </a:solidFill>
              <a:prstDash val="solid"/>
              <a:miter/>
            </a:ln>
          </p:spPr>
        </p:sp>
      </p:grpSp>
      <p:grpSp>
        <p:nvGrpSpPr>
          <p:cNvPr id="7" name="Group 7"/>
          <p:cNvGrpSpPr/>
          <p:nvPr/>
        </p:nvGrpSpPr>
        <p:grpSpPr>
          <a:xfrm>
            <a:off x="1536192" y="3262122"/>
            <a:ext cx="475488" cy="475488"/>
            <a:chOff x="0" y="0"/>
            <a:chExt cx="633984" cy="633984"/>
          </a:xfrm>
        </p:grpSpPr>
        <p:sp>
          <p:nvSpPr>
            <p:cNvPr id="8" name="Freeform 8" descr="preencoded.png"/>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3"/>
              <a:stretch>
                <a:fillRect/>
              </a:stretch>
            </a:blipFill>
          </p:spPr>
        </p:sp>
      </p:grpSp>
      <p:grpSp>
        <p:nvGrpSpPr>
          <p:cNvPr id="9" name="Group 9"/>
          <p:cNvGrpSpPr/>
          <p:nvPr/>
        </p:nvGrpSpPr>
        <p:grpSpPr>
          <a:xfrm>
            <a:off x="2468880" y="3188970"/>
            <a:ext cx="3291840" cy="548640"/>
            <a:chOff x="0" y="0"/>
            <a:chExt cx="4389120" cy="731520"/>
          </a:xfrm>
        </p:grpSpPr>
        <p:sp>
          <p:nvSpPr>
            <p:cNvPr id="10" name="Freeform 10"/>
            <p:cNvSpPr/>
            <p:nvPr/>
          </p:nvSpPr>
          <p:spPr>
            <a:xfrm>
              <a:off x="0" y="0"/>
              <a:ext cx="4389120" cy="731520"/>
            </a:xfrm>
            <a:custGeom>
              <a:avLst/>
              <a:gdLst/>
              <a:ahLst/>
              <a:cxnLst/>
              <a:rect l="l" t="t" r="r" b="b"/>
              <a:pathLst>
                <a:path w="4389120" h="731520">
                  <a:moveTo>
                    <a:pt x="0" y="0"/>
                  </a:moveTo>
                  <a:lnTo>
                    <a:pt x="4389120" y="0"/>
                  </a:lnTo>
                  <a:lnTo>
                    <a:pt x="4389120" y="731520"/>
                  </a:lnTo>
                  <a:lnTo>
                    <a:pt x="0" y="731520"/>
                  </a:lnTo>
                  <a:close/>
                </a:path>
              </a:pathLst>
            </a:custGeom>
            <a:blipFill>
              <a:blip r:embed="rId4">
                <a:alphaModFix amt="0"/>
              </a:blip>
              <a:stretch>
                <a:fillRect t="-66910" b="-66910"/>
              </a:stretch>
            </a:blipFill>
          </p:spPr>
        </p:sp>
        <p:sp>
          <p:nvSpPr>
            <p:cNvPr id="11" name="TextBox 11"/>
            <p:cNvSpPr txBox="1"/>
            <p:nvPr/>
          </p:nvSpPr>
          <p:spPr>
            <a:xfrm>
              <a:off x="0" y="-38100"/>
              <a:ext cx="4389120" cy="769620"/>
            </a:xfrm>
            <a:prstGeom prst="rect">
              <a:avLst/>
            </a:prstGeom>
          </p:spPr>
          <p:txBody>
            <a:bodyPr lIns="0" tIns="0" rIns="0" bIns="0" rtlCol="0" anchor="ctr"/>
            <a:lstStyle/>
            <a:p>
              <a:pPr algn="l">
                <a:lnSpc>
                  <a:spcPts val="2400"/>
                </a:lnSpc>
              </a:pPr>
              <a:r>
                <a:rPr lang="en-US" sz="2000" b="1">
                  <a:solidFill>
                    <a:srgbClr val="5F6B62"/>
                  </a:solidFill>
                  <a:latin typeface="Calibri (MS) Bold"/>
                  <a:ea typeface="Calibri (MS) Bold"/>
                  <a:cs typeface="Calibri (MS) Bold"/>
                  <a:sym typeface="Calibri (MS) Bold"/>
                </a:rPr>
                <a:t>Agent 1</a:t>
              </a:r>
            </a:p>
          </p:txBody>
        </p:sp>
      </p:grpSp>
      <p:grpSp>
        <p:nvGrpSpPr>
          <p:cNvPr id="12" name="Group 12"/>
          <p:cNvGrpSpPr/>
          <p:nvPr/>
        </p:nvGrpSpPr>
        <p:grpSpPr>
          <a:xfrm>
            <a:off x="1316736" y="4194810"/>
            <a:ext cx="4572000" cy="585216"/>
            <a:chOff x="0" y="0"/>
            <a:chExt cx="6096000" cy="780288"/>
          </a:xfrm>
        </p:grpSpPr>
        <p:sp>
          <p:nvSpPr>
            <p:cNvPr id="13" name="Freeform 13"/>
            <p:cNvSpPr/>
            <p:nvPr/>
          </p:nvSpPr>
          <p:spPr>
            <a:xfrm>
              <a:off x="0" y="0"/>
              <a:ext cx="6096000" cy="780288"/>
            </a:xfrm>
            <a:custGeom>
              <a:avLst/>
              <a:gdLst/>
              <a:ahLst/>
              <a:cxnLst/>
              <a:rect l="l" t="t" r="r" b="b"/>
              <a:pathLst>
                <a:path w="6096000" h="780288">
                  <a:moveTo>
                    <a:pt x="0" y="0"/>
                  </a:moveTo>
                  <a:lnTo>
                    <a:pt x="6096000" y="0"/>
                  </a:lnTo>
                  <a:lnTo>
                    <a:pt x="6096000" y="780288"/>
                  </a:lnTo>
                  <a:lnTo>
                    <a:pt x="0" y="780288"/>
                  </a:lnTo>
                  <a:close/>
                </a:path>
              </a:pathLst>
            </a:custGeom>
            <a:blipFill>
              <a:blip r:embed="rId4">
                <a:alphaModFix amt="0"/>
              </a:blip>
              <a:stretch>
                <a:fillRect t="-102226" b="-102226"/>
              </a:stretch>
            </a:blipFill>
          </p:spPr>
        </p:sp>
        <p:sp>
          <p:nvSpPr>
            <p:cNvPr id="14" name="TextBox 14"/>
            <p:cNvSpPr txBox="1"/>
            <p:nvPr/>
          </p:nvSpPr>
          <p:spPr>
            <a:xfrm>
              <a:off x="0" y="-19050"/>
              <a:ext cx="6096000" cy="799338"/>
            </a:xfrm>
            <a:prstGeom prst="rect">
              <a:avLst/>
            </a:prstGeom>
          </p:spPr>
          <p:txBody>
            <a:bodyPr lIns="0" tIns="0" rIns="0" bIns="0" rtlCol="0" anchor="ctr"/>
            <a:lstStyle/>
            <a:p>
              <a:pPr algn="l">
                <a:lnSpc>
                  <a:spcPts val="3240"/>
                </a:lnSpc>
              </a:pPr>
              <a:r>
                <a:rPr lang="en-US" sz="2700" b="1">
                  <a:solidFill>
                    <a:srgbClr val="1A231C"/>
                  </a:solidFill>
                  <a:latin typeface="Arial Bold"/>
                  <a:ea typeface="Arial Bold"/>
                  <a:cs typeface="Arial Bold"/>
                  <a:sym typeface="Arial Bold"/>
                </a:rPr>
                <a:t>Supply Chain Agent</a:t>
              </a:r>
            </a:p>
          </p:txBody>
        </p:sp>
      </p:grpSp>
      <p:grpSp>
        <p:nvGrpSpPr>
          <p:cNvPr id="15" name="Group 15"/>
          <p:cNvGrpSpPr/>
          <p:nvPr/>
        </p:nvGrpSpPr>
        <p:grpSpPr>
          <a:xfrm>
            <a:off x="1316736" y="4780026"/>
            <a:ext cx="4572000" cy="512064"/>
            <a:chOff x="0" y="0"/>
            <a:chExt cx="6096000" cy="682752"/>
          </a:xfrm>
        </p:grpSpPr>
        <p:sp>
          <p:nvSpPr>
            <p:cNvPr id="16" name="Freeform 16"/>
            <p:cNvSpPr/>
            <p:nvPr/>
          </p:nvSpPr>
          <p:spPr>
            <a:xfrm>
              <a:off x="0" y="0"/>
              <a:ext cx="6096000" cy="682752"/>
            </a:xfrm>
            <a:custGeom>
              <a:avLst/>
              <a:gdLst/>
              <a:ahLst/>
              <a:cxnLst/>
              <a:rect l="l" t="t" r="r" b="b"/>
              <a:pathLst>
                <a:path w="6096000" h="682752">
                  <a:moveTo>
                    <a:pt x="0" y="0"/>
                  </a:moveTo>
                  <a:lnTo>
                    <a:pt x="6096000" y="0"/>
                  </a:lnTo>
                  <a:lnTo>
                    <a:pt x="6096000" y="682752"/>
                  </a:lnTo>
                  <a:lnTo>
                    <a:pt x="0" y="682752"/>
                  </a:lnTo>
                  <a:close/>
                </a:path>
              </a:pathLst>
            </a:custGeom>
            <a:blipFill>
              <a:blip r:embed="rId4">
                <a:alphaModFix amt="0"/>
              </a:blip>
              <a:stretch>
                <a:fillRect t="-123973" b="-123973"/>
              </a:stretch>
            </a:blipFill>
          </p:spPr>
        </p:sp>
        <p:sp>
          <p:nvSpPr>
            <p:cNvPr id="17" name="TextBox 17"/>
            <p:cNvSpPr txBox="1"/>
            <p:nvPr/>
          </p:nvSpPr>
          <p:spPr>
            <a:xfrm>
              <a:off x="0" y="-47625"/>
              <a:ext cx="6096000" cy="730377"/>
            </a:xfrm>
            <a:prstGeom prst="rect">
              <a:avLst/>
            </a:prstGeom>
          </p:spPr>
          <p:txBody>
            <a:bodyPr lIns="0" tIns="0" rIns="0" bIns="0" rtlCol="0" anchor="ctr"/>
            <a:lstStyle/>
            <a:p>
              <a:pPr algn="l">
                <a:lnSpc>
                  <a:spcPts val="2639"/>
                </a:lnSpc>
              </a:pPr>
              <a:r>
                <a:rPr lang="en-US" sz="2199" b="1">
                  <a:solidFill>
                    <a:srgbClr val="2F6B3A"/>
                  </a:solidFill>
                  <a:latin typeface="Calibri (MS) Bold"/>
                  <a:ea typeface="Calibri (MS) Bold"/>
                  <a:cs typeface="Calibri (MS) Bold"/>
                  <a:sym typeface="Calibri (MS) Bold"/>
                </a:rPr>
                <a:t>Finds the upstream risk</a:t>
              </a:r>
            </a:p>
          </p:txBody>
        </p:sp>
      </p:grpSp>
      <p:sp>
        <p:nvSpPr>
          <p:cNvPr id="18" name="TextBox 18"/>
          <p:cNvSpPr txBox="1"/>
          <p:nvPr/>
        </p:nvSpPr>
        <p:spPr>
          <a:xfrm>
            <a:off x="1316736" y="5335905"/>
            <a:ext cx="4572000" cy="1144905"/>
          </a:xfrm>
          <a:prstGeom prst="rect">
            <a:avLst/>
          </a:prstGeom>
        </p:spPr>
        <p:txBody>
          <a:bodyPr lIns="0" tIns="0" rIns="0" bIns="0" rtlCol="0" anchor="t">
            <a:spAutoFit/>
          </a:bodyPr>
          <a:lstStyle/>
          <a:p>
            <a:pPr algn="l">
              <a:lnSpc>
                <a:spcPts val="2520"/>
              </a:lnSpc>
            </a:pPr>
            <a:r>
              <a:rPr lang="en-US" sz="2100">
                <a:solidFill>
                  <a:srgbClr val="5F6B62"/>
                </a:solidFill>
                <a:latin typeface="Calibri (MS)"/>
                <a:ea typeface="Calibri (MS)"/>
                <a:cs typeface="Calibri (MS)"/>
                <a:sym typeface="Calibri (MS)"/>
              </a:rPr>
              <a:t>Reads JPCERT/JVN feeds and repo inventory, writes a bilingual risk brief</a:t>
            </a:r>
          </a:p>
        </p:txBody>
      </p:sp>
      <p:grpSp>
        <p:nvGrpSpPr>
          <p:cNvPr id="19" name="Group 19"/>
          <p:cNvGrpSpPr/>
          <p:nvPr/>
        </p:nvGrpSpPr>
        <p:grpSpPr>
          <a:xfrm>
            <a:off x="1316736" y="6608826"/>
            <a:ext cx="365760" cy="365760"/>
            <a:chOff x="0" y="0"/>
            <a:chExt cx="487680" cy="487680"/>
          </a:xfrm>
        </p:grpSpPr>
        <p:sp>
          <p:nvSpPr>
            <p:cNvPr id="20" name="Freeform 20" descr="preencoded.png"/>
            <p:cNvSpPr/>
            <p:nvPr/>
          </p:nvSpPr>
          <p:spPr>
            <a:xfrm>
              <a:off x="0" y="0"/>
              <a:ext cx="487680" cy="487680"/>
            </a:xfrm>
            <a:custGeom>
              <a:avLst/>
              <a:gdLst/>
              <a:ahLst/>
              <a:cxnLst/>
              <a:rect l="l" t="t" r="r" b="b"/>
              <a:pathLst>
                <a:path w="487680" h="487680">
                  <a:moveTo>
                    <a:pt x="0" y="0"/>
                  </a:moveTo>
                  <a:lnTo>
                    <a:pt x="487680" y="0"/>
                  </a:lnTo>
                  <a:lnTo>
                    <a:pt x="487680" y="487680"/>
                  </a:lnTo>
                  <a:lnTo>
                    <a:pt x="0" y="487680"/>
                  </a:lnTo>
                  <a:lnTo>
                    <a:pt x="0" y="0"/>
                  </a:lnTo>
                  <a:close/>
                </a:path>
              </a:pathLst>
            </a:custGeom>
            <a:blipFill>
              <a:blip r:embed="rId5"/>
              <a:stretch>
                <a:fillRect/>
              </a:stretch>
            </a:blipFill>
          </p:spPr>
        </p:sp>
      </p:grpSp>
      <p:grpSp>
        <p:nvGrpSpPr>
          <p:cNvPr id="21" name="Group 21"/>
          <p:cNvGrpSpPr/>
          <p:nvPr/>
        </p:nvGrpSpPr>
        <p:grpSpPr>
          <a:xfrm>
            <a:off x="1828800" y="6517386"/>
            <a:ext cx="4023360" cy="548640"/>
            <a:chOff x="0" y="0"/>
            <a:chExt cx="5364480" cy="731520"/>
          </a:xfrm>
        </p:grpSpPr>
        <p:sp>
          <p:nvSpPr>
            <p:cNvPr id="22" name="Freeform 22"/>
            <p:cNvSpPr/>
            <p:nvPr/>
          </p:nvSpPr>
          <p:spPr>
            <a:xfrm>
              <a:off x="0" y="0"/>
              <a:ext cx="5364480" cy="731520"/>
            </a:xfrm>
            <a:custGeom>
              <a:avLst/>
              <a:gdLst/>
              <a:ahLst/>
              <a:cxnLst/>
              <a:rect l="l" t="t" r="r" b="b"/>
              <a:pathLst>
                <a:path w="5364480" h="731520">
                  <a:moveTo>
                    <a:pt x="0" y="0"/>
                  </a:moveTo>
                  <a:lnTo>
                    <a:pt x="5364480" y="0"/>
                  </a:lnTo>
                  <a:lnTo>
                    <a:pt x="5364480" y="731520"/>
                  </a:lnTo>
                  <a:lnTo>
                    <a:pt x="0" y="731520"/>
                  </a:lnTo>
                  <a:close/>
                </a:path>
              </a:pathLst>
            </a:custGeom>
            <a:blipFill>
              <a:blip r:embed="rId4">
                <a:alphaModFix amt="0"/>
              </a:blip>
              <a:stretch>
                <a:fillRect t="-92890" b="-92890"/>
              </a:stretch>
            </a:blipFill>
          </p:spPr>
        </p:sp>
        <p:sp>
          <p:nvSpPr>
            <p:cNvPr id="23" name="TextBox 23"/>
            <p:cNvSpPr txBox="1"/>
            <p:nvPr/>
          </p:nvSpPr>
          <p:spPr>
            <a:xfrm>
              <a:off x="0" y="-47625"/>
              <a:ext cx="5364480" cy="779145"/>
            </a:xfrm>
            <a:prstGeom prst="rect">
              <a:avLst/>
            </a:prstGeom>
          </p:spPr>
          <p:txBody>
            <a:bodyPr lIns="0" tIns="0" rIns="0" bIns="0" rtlCol="0" anchor="ctr"/>
            <a:lstStyle/>
            <a:p>
              <a:pPr algn="l">
                <a:lnSpc>
                  <a:spcPts val="2520"/>
                </a:lnSpc>
              </a:pPr>
              <a:r>
                <a:rPr lang="en-US" sz="2100" b="1">
                  <a:solidFill>
                    <a:srgbClr val="1A231C"/>
                  </a:solidFill>
                  <a:latin typeface="Calibri (MS) Bold"/>
                  <a:ea typeface="Calibri (MS) Bold"/>
                  <a:cs typeface="Calibri (MS) Bold"/>
                  <a:sym typeface="Calibri (MS) Bold"/>
                </a:rPr>
                <a:t>Cannot edit code</a:t>
              </a:r>
            </a:p>
          </p:txBody>
        </p:sp>
      </p:grpSp>
      <p:grpSp>
        <p:nvGrpSpPr>
          <p:cNvPr id="24" name="Group 24"/>
          <p:cNvGrpSpPr/>
          <p:nvPr/>
        </p:nvGrpSpPr>
        <p:grpSpPr>
          <a:xfrm>
            <a:off x="6567802" y="2624452"/>
            <a:ext cx="5335267" cy="4695187"/>
            <a:chOff x="0" y="0"/>
            <a:chExt cx="7113689" cy="6260249"/>
          </a:xfrm>
        </p:grpSpPr>
        <p:sp>
          <p:nvSpPr>
            <p:cNvPr id="25" name="Freeform 25"/>
            <p:cNvSpPr/>
            <p:nvPr/>
          </p:nvSpPr>
          <p:spPr>
            <a:xfrm>
              <a:off x="0" y="0"/>
              <a:ext cx="7113651" cy="6260211"/>
            </a:xfrm>
            <a:custGeom>
              <a:avLst/>
              <a:gdLst/>
              <a:ahLst/>
              <a:cxnLst/>
              <a:rect l="l" t="t" r="r" b="b"/>
              <a:pathLst>
                <a:path w="7113651" h="6260211">
                  <a:moveTo>
                    <a:pt x="0" y="245491"/>
                  </a:moveTo>
                  <a:cubicBezTo>
                    <a:pt x="0" y="109982"/>
                    <a:pt x="109982" y="0"/>
                    <a:pt x="245491" y="0"/>
                  </a:cubicBezTo>
                  <a:lnTo>
                    <a:pt x="6868160" y="0"/>
                  </a:lnTo>
                  <a:cubicBezTo>
                    <a:pt x="7003796" y="0"/>
                    <a:pt x="7113651" y="109982"/>
                    <a:pt x="7113651" y="245491"/>
                  </a:cubicBezTo>
                  <a:lnTo>
                    <a:pt x="7113651" y="6014720"/>
                  </a:lnTo>
                  <a:cubicBezTo>
                    <a:pt x="7113651" y="6150356"/>
                    <a:pt x="7003669" y="6260211"/>
                    <a:pt x="6868160" y="6260211"/>
                  </a:cubicBezTo>
                  <a:lnTo>
                    <a:pt x="245491" y="6260211"/>
                  </a:lnTo>
                  <a:cubicBezTo>
                    <a:pt x="109982" y="6260211"/>
                    <a:pt x="0" y="6150356"/>
                    <a:pt x="0" y="6014720"/>
                  </a:cubicBezTo>
                  <a:close/>
                </a:path>
              </a:pathLst>
            </a:custGeom>
            <a:solidFill>
              <a:srgbClr val="FFFFFF"/>
            </a:solidFill>
            <a:ln w="31750" cap="sq">
              <a:solidFill>
                <a:srgbClr val="2F6B3A"/>
              </a:solidFill>
              <a:prstDash val="solid"/>
              <a:miter/>
            </a:ln>
          </p:spPr>
        </p:sp>
      </p:grpSp>
      <p:grpSp>
        <p:nvGrpSpPr>
          <p:cNvPr id="26" name="Group 26"/>
          <p:cNvGrpSpPr/>
          <p:nvPr/>
        </p:nvGrpSpPr>
        <p:grpSpPr>
          <a:xfrm>
            <a:off x="6973319" y="3029969"/>
            <a:ext cx="939803" cy="939803"/>
            <a:chOff x="0" y="0"/>
            <a:chExt cx="1253071" cy="1253071"/>
          </a:xfrm>
        </p:grpSpPr>
        <p:sp>
          <p:nvSpPr>
            <p:cNvPr id="27" name="Freeform 27"/>
            <p:cNvSpPr/>
            <p:nvPr/>
          </p:nvSpPr>
          <p:spPr>
            <a:xfrm>
              <a:off x="0" y="0"/>
              <a:ext cx="1253109" cy="1253109"/>
            </a:xfrm>
            <a:custGeom>
              <a:avLst/>
              <a:gdLst/>
              <a:ahLst/>
              <a:cxnLst/>
              <a:rect l="l" t="t" r="r" b="b"/>
              <a:pathLst>
                <a:path w="1253109" h="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D7EBAE"/>
            </a:solidFill>
            <a:ln w="25400" cap="sq">
              <a:solidFill>
                <a:srgbClr val="D7EBAE"/>
              </a:solidFill>
              <a:prstDash val="solid"/>
              <a:miter/>
            </a:ln>
          </p:spPr>
        </p:sp>
      </p:grpSp>
      <p:grpSp>
        <p:nvGrpSpPr>
          <p:cNvPr id="28" name="Group 28"/>
          <p:cNvGrpSpPr/>
          <p:nvPr/>
        </p:nvGrpSpPr>
        <p:grpSpPr>
          <a:xfrm>
            <a:off x="7205472" y="3262122"/>
            <a:ext cx="475488" cy="475488"/>
            <a:chOff x="0" y="0"/>
            <a:chExt cx="633984" cy="633984"/>
          </a:xfrm>
        </p:grpSpPr>
        <p:sp>
          <p:nvSpPr>
            <p:cNvPr id="29" name="Freeform 29" descr="preencoded.png"/>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6"/>
              <a:stretch>
                <a:fillRect/>
              </a:stretch>
            </a:blipFill>
          </p:spPr>
        </p:sp>
      </p:grpSp>
      <p:grpSp>
        <p:nvGrpSpPr>
          <p:cNvPr id="30" name="Group 30"/>
          <p:cNvGrpSpPr/>
          <p:nvPr/>
        </p:nvGrpSpPr>
        <p:grpSpPr>
          <a:xfrm>
            <a:off x="8138160" y="3188970"/>
            <a:ext cx="3291840" cy="548640"/>
            <a:chOff x="0" y="0"/>
            <a:chExt cx="4389120" cy="731520"/>
          </a:xfrm>
        </p:grpSpPr>
        <p:sp>
          <p:nvSpPr>
            <p:cNvPr id="31" name="Freeform 31"/>
            <p:cNvSpPr/>
            <p:nvPr/>
          </p:nvSpPr>
          <p:spPr>
            <a:xfrm>
              <a:off x="0" y="0"/>
              <a:ext cx="4389120" cy="731520"/>
            </a:xfrm>
            <a:custGeom>
              <a:avLst/>
              <a:gdLst/>
              <a:ahLst/>
              <a:cxnLst/>
              <a:rect l="l" t="t" r="r" b="b"/>
              <a:pathLst>
                <a:path w="4389120" h="731520">
                  <a:moveTo>
                    <a:pt x="0" y="0"/>
                  </a:moveTo>
                  <a:lnTo>
                    <a:pt x="4389120" y="0"/>
                  </a:lnTo>
                  <a:lnTo>
                    <a:pt x="4389120" y="731520"/>
                  </a:lnTo>
                  <a:lnTo>
                    <a:pt x="0" y="731520"/>
                  </a:lnTo>
                  <a:close/>
                </a:path>
              </a:pathLst>
            </a:custGeom>
            <a:blipFill>
              <a:blip r:embed="rId4">
                <a:alphaModFix amt="0"/>
              </a:blip>
              <a:stretch>
                <a:fillRect t="-66910" b="-66910"/>
              </a:stretch>
            </a:blipFill>
          </p:spPr>
        </p:sp>
        <p:sp>
          <p:nvSpPr>
            <p:cNvPr id="32" name="TextBox 32"/>
            <p:cNvSpPr txBox="1"/>
            <p:nvPr/>
          </p:nvSpPr>
          <p:spPr>
            <a:xfrm>
              <a:off x="0" y="-38100"/>
              <a:ext cx="4389120" cy="769620"/>
            </a:xfrm>
            <a:prstGeom prst="rect">
              <a:avLst/>
            </a:prstGeom>
          </p:spPr>
          <p:txBody>
            <a:bodyPr lIns="0" tIns="0" rIns="0" bIns="0" rtlCol="0" anchor="ctr"/>
            <a:lstStyle/>
            <a:p>
              <a:pPr algn="l">
                <a:lnSpc>
                  <a:spcPts val="2400"/>
                </a:lnSpc>
              </a:pPr>
              <a:r>
                <a:rPr lang="en-US" sz="2000" b="1">
                  <a:solidFill>
                    <a:srgbClr val="5F6B62"/>
                  </a:solidFill>
                  <a:latin typeface="Calibri (MS) Bold"/>
                  <a:ea typeface="Calibri (MS) Bold"/>
                  <a:cs typeface="Calibri (MS) Bold"/>
                  <a:sym typeface="Calibri (MS) Bold"/>
                </a:rPr>
                <a:t>Agent 3</a:t>
              </a:r>
            </a:p>
          </p:txBody>
        </p:sp>
      </p:grpSp>
      <p:grpSp>
        <p:nvGrpSpPr>
          <p:cNvPr id="33" name="Group 33"/>
          <p:cNvGrpSpPr/>
          <p:nvPr/>
        </p:nvGrpSpPr>
        <p:grpSpPr>
          <a:xfrm>
            <a:off x="6986016" y="4194810"/>
            <a:ext cx="4572000" cy="585216"/>
            <a:chOff x="0" y="0"/>
            <a:chExt cx="6096000" cy="780288"/>
          </a:xfrm>
        </p:grpSpPr>
        <p:sp>
          <p:nvSpPr>
            <p:cNvPr id="34" name="Freeform 34"/>
            <p:cNvSpPr/>
            <p:nvPr/>
          </p:nvSpPr>
          <p:spPr>
            <a:xfrm>
              <a:off x="0" y="0"/>
              <a:ext cx="6096000" cy="780288"/>
            </a:xfrm>
            <a:custGeom>
              <a:avLst/>
              <a:gdLst/>
              <a:ahLst/>
              <a:cxnLst/>
              <a:rect l="l" t="t" r="r" b="b"/>
              <a:pathLst>
                <a:path w="6096000" h="780288">
                  <a:moveTo>
                    <a:pt x="0" y="0"/>
                  </a:moveTo>
                  <a:lnTo>
                    <a:pt x="6096000" y="0"/>
                  </a:lnTo>
                  <a:lnTo>
                    <a:pt x="6096000" y="780288"/>
                  </a:lnTo>
                  <a:lnTo>
                    <a:pt x="0" y="780288"/>
                  </a:lnTo>
                  <a:close/>
                </a:path>
              </a:pathLst>
            </a:custGeom>
            <a:blipFill>
              <a:blip r:embed="rId4">
                <a:alphaModFix amt="0"/>
              </a:blip>
              <a:stretch>
                <a:fillRect t="-102226" b="-102226"/>
              </a:stretch>
            </a:blipFill>
          </p:spPr>
        </p:sp>
        <p:sp>
          <p:nvSpPr>
            <p:cNvPr id="35" name="TextBox 35"/>
            <p:cNvSpPr txBox="1"/>
            <p:nvPr/>
          </p:nvSpPr>
          <p:spPr>
            <a:xfrm>
              <a:off x="0" y="-19050"/>
              <a:ext cx="6096000" cy="799338"/>
            </a:xfrm>
            <a:prstGeom prst="rect">
              <a:avLst/>
            </a:prstGeom>
          </p:spPr>
          <p:txBody>
            <a:bodyPr lIns="0" tIns="0" rIns="0" bIns="0" rtlCol="0" anchor="ctr"/>
            <a:lstStyle/>
            <a:p>
              <a:pPr algn="l">
                <a:lnSpc>
                  <a:spcPts val="3240"/>
                </a:lnSpc>
              </a:pPr>
              <a:r>
                <a:rPr lang="en-US" sz="2700" b="1">
                  <a:solidFill>
                    <a:srgbClr val="1A231C"/>
                  </a:solidFill>
                  <a:latin typeface="Arial Bold"/>
                  <a:ea typeface="Arial Bold"/>
                  <a:cs typeface="Arial Bold"/>
                  <a:sym typeface="Arial Bold"/>
                </a:rPr>
                <a:t>DevSec Agent</a:t>
              </a:r>
            </a:p>
          </p:txBody>
        </p:sp>
      </p:grpSp>
      <p:grpSp>
        <p:nvGrpSpPr>
          <p:cNvPr id="36" name="Group 36"/>
          <p:cNvGrpSpPr/>
          <p:nvPr/>
        </p:nvGrpSpPr>
        <p:grpSpPr>
          <a:xfrm>
            <a:off x="6986016" y="4780026"/>
            <a:ext cx="4572000" cy="512064"/>
            <a:chOff x="0" y="0"/>
            <a:chExt cx="6096000" cy="682752"/>
          </a:xfrm>
        </p:grpSpPr>
        <p:sp>
          <p:nvSpPr>
            <p:cNvPr id="37" name="Freeform 37"/>
            <p:cNvSpPr/>
            <p:nvPr/>
          </p:nvSpPr>
          <p:spPr>
            <a:xfrm>
              <a:off x="0" y="0"/>
              <a:ext cx="6096000" cy="682752"/>
            </a:xfrm>
            <a:custGeom>
              <a:avLst/>
              <a:gdLst/>
              <a:ahLst/>
              <a:cxnLst/>
              <a:rect l="l" t="t" r="r" b="b"/>
              <a:pathLst>
                <a:path w="6096000" h="682752">
                  <a:moveTo>
                    <a:pt x="0" y="0"/>
                  </a:moveTo>
                  <a:lnTo>
                    <a:pt x="6096000" y="0"/>
                  </a:lnTo>
                  <a:lnTo>
                    <a:pt x="6096000" y="682752"/>
                  </a:lnTo>
                  <a:lnTo>
                    <a:pt x="0" y="682752"/>
                  </a:lnTo>
                  <a:close/>
                </a:path>
              </a:pathLst>
            </a:custGeom>
            <a:blipFill>
              <a:blip r:embed="rId4">
                <a:alphaModFix amt="0"/>
              </a:blip>
              <a:stretch>
                <a:fillRect t="-123973" b="-123973"/>
              </a:stretch>
            </a:blipFill>
          </p:spPr>
        </p:sp>
        <p:sp>
          <p:nvSpPr>
            <p:cNvPr id="38" name="TextBox 38"/>
            <p:cNvSpPr txBox="1"/>
            <p:nvPr/>
          </p:nvSpPr>
          <p:spPr>
            <a:xfrm>
              <a:off x="0" y="-47625"/>
              <a:ext cx="6096000" cy="730377"/>
            </a:xfrm>
            <a:prstGeom prst="rect">
              <a:avLst/>
            </a:prstGeom>
          </p:spPr>
          <p:txBody>
            <a:bodyPr lIns="0" tIns="0" rIns="0" bIns="0" rtlCol="0" anchor="ctr"/>
            <a:lstStyle/>
            <a:p>
              <a:pPr algn="l">
                <a:lnSpc>
                  <a:spcPts val="2639"/>
                </a:lnSpc>
              </a:pPr>
              <a:r>
                <a:rPr lang="en-US" sz="2199" b="1">
                  <a:solidFill>
                    <a:srgbClr val="2F6B3A"/>
                  </a:solidFill>
                  <a:latin typeface="Calibri (MS) Bold"/>
                  <a:ea typeface="Calibri (MS) Bold"/>
                  <a:cs typeface="Calibri (MS) Bold"/>
                  <a:sym typeface="Calibri (MS) Bold"/>
                </a:rPr>
                <a:t>Freezes and runs the checks</a:t>
              </a:r>
            </a:p>
          </p:txBody>
        </p:sp>
      </p:grpSp>
      <p:sp>
        <p:nvSpPr>
          <p:cNvPr id="39" name="TextBox 39"/>
          <p:cNvSpPr txBox="1"/>
          <p:nvPr/>
        </p:nvSpPr>
        <p:spPr>
          <a:xfrm>
            <a:off x="6986016" y="5335905"/>
            <a:ext cx="4572000" cy="1144905"/>
          </a:xfrm>
          <a:prstGeom prst="rect">
            <a:avLst/>
          </a:prstGeom>
        </p:spPr>
        <p:txBody>
          <a:bodyPr lIns="0" tIns="0" rIns="0" bIns="0" rtlCol="0" anchor="t">
            <a:spAutoFit/>
          </a:bodyPr>
          <a:lstStyle/>
          <a:p>
            <a:pPr algn="l">
              <a:lnSpc>
                <a:spcPts val="2520"/>
              </a:lnSpc>
            </a:pPr>
            <a:r>
              <a:rPr lang="en-US" sz="2100">
                <a:solidFill>
                  <a:srgbClr val="5F6B62"/>
                </a:solidFill>
                <a:latin typeface="Calibri (MS)"/>
                <a:ea typeface="Calibri (MS)"/>
                <a:cs typeface="Calibri (MS)"/>
                <a:sym typeface="Calibri (MS)"/>
              </a:rPr>
              <a:t>Records the baseline, runs isolated tests, verifies the candidate</a:t>
            </a:r>
          </a:p>
        </p:txBody>
      </p:sp>
      <p:grpSp>
        <p:nvGrpSpPr>
          <p:cNvPr id="40" name="Group 40"/>
          <p:cNvGrpSpPr/>
          <p:nvPr/>
        </p:nvGrpSpPr>
        <p:grpSpPr>
          <a:xfrm>
            <a:off x="6986016" y="6608826"/>
            <a:ext cx="365760" cy="365760"/>
            <a:chOff x="0" y="0"/>
            <a:chExt cx="487680" cy="487680"/>
          </a:xfrm>
        </p:grpSpPr>
        <p:sp>
          <p:nvSpPr>
            <p:cNvPr id="41" name="Freeform 41" descr="preencoded.png"/>
            <p:cNvSpPr/>
            <p:nvPr/>
          </p:nvSpPr>
          <p:spPr>
            <a:xfrm>
              <a:off x="0" y="0"/>
              <a:ext cx="487680" cy="487680"/>
            </a:xfrm>
            <a:custGeom>
              <a:avLst/>
              <a:gdLst/>
              <a:ahLst/>
              <a:cxnLst/>
              <a:rect l="l" t="t" r="r" b="b"/>
              <a:pathLst>
                <a:path w="487680" h="487680">
                  <a:moveTo>
                    <a:pt x="0" y="0"/>
                  </a:moveTo>
                  <a:lnTo>
                    <a:pt x="487680" y="0"/>
                  </a:lnTo>
                  <a:lnTo>
                    <a:pt x="487680" y="487680"/>
                  </a:lnTo>
                  <a:lnTo>
                    <a:pt x="0" y="487680"/>
                  </a:lnTo>
                  <a:lnTo>
                    <a:pt x="0" y="0"/>
                  </a:lnTo>
                  <a:close/>
                </a:path>
              </a:pathLst>
            </a:custGeom>
            <a:blipFill>
              <a:blip r:embed="rId5"/>
              <a:stretch>
                <a:fillRect/>
              </a:stretch>
            </a:blipFill>
          </p:spPr>
        </p:sp>
      </p:grpSp>
      <p:grpSp>
        <p:nvGrpSpPr>
          <p:cNvPr id="42" name="Group 42"/>
          <p:cNvGrpSpPr/>
          <p:nvPr/>
        </p:nvGrpSpPr>
        <p:grpSpPr>
          <a:xfrm>
            <a:off x="7498080" y="6517386"/>
            <a:ext cx="4023360" cy="548640"/>
            <a:chOff x="0" y="0"/>
            <a:chExt cx="5364480" cy="731520"/>
          </a:xfrm>
        </p:grpSpPr>
        <p:sp>
          <p:nvSpPr>
            <p:cNvPr id="43" name="Freeform 43"/>
            <p:cNvSpPr/>
            <p:nvPr/>
          </p:nvSpPr>
          <p:spPr>
            <a:xfrm>
              <a:off x="0" y="0"/>
              <a:ext cx="5364480" cy="731520"/>
            </a:xfrm>
            <a:custGeom>
              <a:avLst/>
              <a:gdLst/>
              <a:ahLst/>
              <a:cxnLst/>
              <a:rect l="l" t="t" r="r" b="b"/>
              <a:pathLst>
                <a:path w="5364480" h="731520">
                  <a:moveTo>
                    <a:pt x="0" y="0"/>
                  </a:moveTo>
                  <a:lnTo>
                    <a:pt x="5364480" y="0"/>
                  </a:lnTo>
                  <a:lnTo>
                    <a:pt x="5364480" y="731520"/>
                  </a:lnTo>
                  <a:lnTo>
                    <a:pt x="0" y="731520"/>
                  </a:lnTo>
                  <a:close/>
                </a:path>
              </a:pathLst>
            </a:custGeom>
            <a:blipFill>
              <a:blip r:embed="rId4">
                <a:alphaModFix amt="0"/>
              </a:blip>
              <a:stretch>
                <a:fillRect t="-92890" b="-92890"/>
              </a:stretch>
            </a:blipFill>
          </p:spPr>
        </p:sp>
        <p:sp>
          <p:nvSpPr>
            <p:cNvPr id="44" name="TextBox 44"/>
            <p:cNvSpPr txBox="1"/>
            <p:nvPr/>
          </p:nvSpPr>
          <p:spPr>
            <a:xfrm>
              <a:off x="0" y="-47625"/>
              <a:ext cx="5364480" cy="779145"/>
            </a:xfrm>
            <a:prstGeom prst="rect">
              <a:avLst/>
            </a:prstGeom>
          </p:spPr>
          <p:txBody>
            <a:bodyPr lIns="0" tIns="0" rIns="0" bIns="0" rtlCol="0" anchor="ctr"/>
            <a:lstStyle/>
            <a:p>
              <a:pPr algn="l">
                <a:lnSpc>
                  <a:spcPts val="2520"/>
                </a:lnSpc>
              </a:pPr>
              <a:r>
                <a:rPr lang="en-US" sz="2100" b="1">
                  <a:solidFill>
                    <a:srgbClr val="1A231C"/>
                  </a:solidFill>
                  <a:latin typeface="Calibri (MS) Bold"/>
                  <a:ea typeface="Calibri (MS) Bold"/>
                  <a:cs typeface="Calibri (MS) Bold"/>
                  <a:sym typeface="Calibri (MS) Bold"/>
                </a:rPr>
                <a:t>Cannot write the fix</a:t>
              </a:r>
            </a:p>
          </p:txBody>
        </p:sp>
      </p:grpSp>
      <p:grpSp>
        <p:nvGrpSpPr>
          <p:cNvPr id="45" name="Group 45"/>
          <p:cNvGrpSpPr/>
          <p:nvPr/>
        </p:nvGrpSpPr>
        <p:grpSpPr>
          <a:xfrm>
            <a:off x="12237082" y="2624452"/>
            <a:ext cx="5335267" cy="4695187"/>
            <a:chOff x="0" y="0"/>
            <a:chExt cx="7113689" cy="6260249"/>
          </a:xfrm>
        </p:grpSpPr>
        <p:sp>
          <p:nvSpPr>
            <p:cNvPr id="46" name="Freeform 46"/>
            <p:cNvSpPr/>
            <p:nvPr/>
          </p:nvSpPr>
          <p:spPr>
            <a:xfrm>
              <a:off x="0" y="0"/>
              <a:ext cx="7113651" cy="6260211"/>
            </a:xfrm>
            <a:custGeom>
              <a:avLst/>
              <a:gdLst/>
              <a:ahLst/>
              <a:cxnLst/>
              <a:rect l="l" t="t" r="r" b="b"/>
              <a:pathLst>
                <a:path w="7113651" h="6260211">
                  <a:moveTo>
                    <a:pt x="0" y="245491"/>
                  </a:moveTo>
                  <a:cubicBezTo>
                    <a:pt x="0" y="109982"/>
                    <a:pt x="109982" y="0"/>
                    <a:pt x="245491" y="0"/>
                  </a:cubicBezTo>
                  <a:lnTo>
                    <a:pt x="6868160" y="0"/>
                  </a:lnTo>
                  <a:cubicBezTo>
                    <a:pt x="7003796" y="0"/>
                    <a:pt x="7113651" y="109982"/>
                    <a:pt x="7113651" y="245491"/>
                  </a:cubicBezTo>
                  <a:lnTo>
                    <a:pt x="7113651" y="6014720"/>
                  </a:lnTo>
                  <a:cubicBezTo>
                    <a:pt x="7113651" y="6150356"/>
                    <a:pt x="7003669" y="6260211"/>
                    <a:pt x="6868160" y="6260211"/>
                  </a:cubicBezTo>
                  <a:lnTo>
                    <a:pt x="245491" y="6260211"/>
                  </a:lnTo>
                  <a:cubicBezTo>
                    <a:pt x="109982" y="6260211"/>
                    <a:pt x="0" y="6150356"/>
                    <a:pt x="0" y="6014720"/>
                  </a:cubicBezTo>
                  <a:close/>
                </a:path>
              </a:pathLst>
            </a:custGeom>
            <a:solidFill>
              <a:srgbClr val="FFFFFF"/>
            </a:solidFill>
            <a:ln w="31750" cap="sq">
              <a:solidFill>
                <a:srgbClr val="2F6B3A"/>
              </a:solidFill>
              <a:prstDash val="solid"/>
              <a:miter/>
            </a:ln>
          </p:spPr>
        </p:sp>
      </p:grpSp>
      <p:grpSp>
        <p:nvGrpSpPr>
          <p:cNvPr id="47" name="Group 47"/>
          <p:cNvGrpSpPr/>
          <p:nvPr/>
        </p:nvGrpSpPr>
        <p:grpSpPr>
          <a:xfrm>
            <a:off x="12642599" y="3029969"/>
            <a:ext cx="939803" cy="939803"/>
            <a:chOff x="0" y="0"/>
            <a:chExt cx="1253071" cy="1253071"/>
          </a:xfrm>
        </p:grpSpPr>
        <p:sp>
          <p:nvSpPr>
            <p:cNvPr id="48" name="Freeform 48"/>
            <p:cNvSpPr/>
            <p:nvPr/>
          </p:nvSpPr>
          <p:spPr>
            <a:xfrm>
              <a:off x="0" y="0"/>
              <a:ext cx="1253109" cy="1253109"/>
            </a:xfrm>
            <a:custGeom>
              <a:avLst/>
              <a:gdLst/>
              <a:ahLst/>
              <a:cxnLst/>
              <a:rect l="l" t="t" r="r" b="b"/>
              <a:pathLst>
                <a:path w="1253109" h="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D7EBAE"/>
            </a:solidFill>
            <a:ln w="25400" cap="sq">
              <a:solidFill>
                <a:srgbClr val="D7EBAE"/>
              </a:solidFill>
              <a:prstDash val="solid"/>
              <a:miter/>
            </a:ln>
          </p:spPr>
        </p:sp>
      </p:grpSp>
      <p:grpSp>
        <p:nvGrpSpPr>
          <p:cNvPr id="49" name="Group 49"/>
          <p:cNvGrpSpPr/>
          <p:nvPr/>
        </p:nvGrpSpPr>
        <p:grpSpPr>
          <a:xfrm>
            <a:off x="12874752" y="3262122"/>
            <a:ext cx="475488" cy="475488"/>
            <a:chOff x="0" y="0"/>
            <a:chExt cx="633984" cy="633984"/>
          </a:xfrm>
        </p:grpSpPr>
        <p:sp>
          <p:nvSpPr>
            <p:cNvPr id="50" name="Freeform 50" descr="preencoded.png"/>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7"/>
              <a:stretch>
                <a:fillRect/>
              </a:stretch>
            </a:blipFill>
          </p:spPr>
        </p:sp>
      </p:grpSp>
      <p:grpSp>
        <p:nvGrpSpPr>
          <p:cNvPr id="51" name="Group 51"/>
          <p:cNvGrpSpPr/>
          <p:nvPr/>
        </p:nvGrpSpPr>
        <p:grpSpPr>
          <a:xfrm>
            <a:off x="13807440" y="3188970"/>
            <a:ext cx="3291840" cy="548640"/>
            <a:chOff x="0" y="0"/>
            <a:chExt cx="4389120" cy="731520"/>
          </a:xfrm>
        </p:grpSpPr>
        <p:sp>
          <p:nvSpPr>
            <p:cNvPr id="52" name="Freeform 52"/>
            <p:cNvSpPr/>
            <p:nvPr/>
          </p:nvSpPr>
          <p:spPr>
            <a:xfrm>
              <a:off x="0" y="0"/>
              <a:ext cx="4389120" cy="731520"/>
            </a:xfrm>
            <a:custGeom>
              <a:avLst/>
              <a:gdLst/>
              <a:ahLst/>
              <a:cxnLst/>
              <a:rect l="l" t="t" r="r" b="b"/>
              <a:pathLst>
                <a:path w="4389120" h="731520">
                  <a:moveTo>
                    <a:pt x="0" y="0"/>
                  </a:moveTo>
                  <a:lnTo>
                    <a:pt x="4389120" y="0"/>
                  </a:lnTo>
                  <a:lnTo>
                    <a:pt x="4389120" y="731520"/>
                  </a:lnTo>
                  <a:lnTo>
                    <a:pt x="0" y="731520"/>
                  </a:lnTo>
                  <a:close/>
                </a:path>
              </a:pathLst>
            </a:custGeom>
            <a:blipFill>
              <a:blip r:embed="rId4">
                <a:alphaModFix amt="0"/>
              </a:blip>
              <a:stretch>
                <a:fillRect t="-66910" b="-66910"/>
              </a:stretch>
            </a:blipFill>
          </p:spPr>
        </p:sp>
        <p:sp>
          <p:nvSpPr>
            <p:cNvPr id="53" name="TextBox 53"/>
            <p:cNvSpPr txBox="1"/>
            <p:nvPr/>
          </p:nvSpPr>
          <p:spPr>
            <a:xfrm>
              <a:off x="0" y="-38100"/>
              <a:ext cx="4389120" cy="769620"/>
            </a:xfrm>
            <a:prstGeom prst="rect">
              <a:avLst/>
            </a:prstGeom>
          </p:spPr>
          <p:txBody>
            <a:bodyPr lIns="0" tIns="0" rIns="0" bIns="0" rtlCol="0" anchor="ctr"/>
            <a:lstStyle/>
            <a:p>
              <a:pPr algn="l">
                <a:lnSpc>
                  <a:spcPts val="2400"/>
                </a:lnSpc>
              </a:pPr>
              <a:r>
                <a:rPr lang="en-US" sz="2000" b="1">
                  <a:solidFill>
                    <a:srgbClr val="5F6B62"/>
                  </a:solidFill>
                  <a:latin typeface="Calibri (MS) Bold"/>
                  <a:ea typeface="Calibri (MS) Bold"/>
                  <a:cs typeface="Calibri (MS) Bold"/>
                  <a:sym typeface="Calibri (MS) Bold"/>
                </a:rPr>
                <a:t>Agent 2</a:t>
              </a:r>
            </a:p>
          </p:txBody>
        </p:sp>
      </p:grpSp>
      <p:grpSp>
        <p:nvGrpSpPr>
          <p:cNvPr id="54" name="Group 54"/>
          <p:cNvGrpSpPr/>
          <p:nvPr/>
        </p:nvGrpSpPr>
        <p:grpSpPr>
          <a:xfrm>
            <a:off x="12655296" y="4194810"/>
            <a:ext cx="4572000" cy="585216"/>
            <a:chOff x="0" y="0"/>
            <a:chExt cx="6096000" cy="780288"/>
          </a:xfrm>
        </p:grpSpPr>
        <p:sp>
          <p:nvSpPr>
            <p:cNvPr id="55" name="Freeform 55"/>
            <p:cNvSpPr/>
            <p:nvPr/>
          </p:nvSpPr>
          <p:spPr>
            <a:xfrm>
              <a:off x="0" y="0"/>
              <a:ext cx="6096000" cy="780288"/>
            </a:xfrm>
            <a:custGeom>
              <a:avLst/>
              <a:gdLst/>
              <a:ahLst/>
              <a:cxnLst/>
              <a:rect l="l" t="t" r="r" b="b"/>
              <a:pathLst>
                <a:path w="6096000" h="780288">
                  <a:moveTo>
                    <a:pt x="0" y="0"/>
                  </a:moveTo>
                  <a:lnTo>
                    <a:pt x="6096000" y="0"/>
                  </a:lnTo>
                  <a:lnTo>
                    <a:pt x="6096000" y="780288"/>
                  </a:lnTo>
                  <a:lnTo>
                    <a:pt x="0" y="780288"/>
                  </a:lnTo>
                  <a:close/>
                </a:path>
              </a:pathLst>
            </a:custGeom>
            <a:blipFill>
              <a:blip r:embed="rId4">
                <a:alphaModFix amt="0"/>
              </a:blip>
              <a:stretch>
                <a:fillRect t="-102226" b="-102226"/>
              </a:stretch>
            </a:blipFill>
          </p:spPr>
        </p:sp>
        <p:sp>
          <p:nvSpPr>
            <p:cNvPr id="56" name="TextBox 56"/>
            <p:cNvSpPr txBox="1"/>
            <p:nvPr/>
          </p:nvSpPr>
          <p:spPr>
            <a:xfrm>
              <a:off x="0" y="-19050"/>
              <a:ext cx="6096000" cy="799338"/>
            </a:xfrm>
            <a:prstGeom prst="rect">
              <a:avLst/>
            </a:prstGeom>
          </p:spPr>
          <p:txBody>
            <a:bodyPr lIns="0" tIns="0" rIns="0" bIns="0" rtlCol="0" anchor="ctr"/>
            <a:lstStyle/>
            <a:p>
              <a:pPr algn="l">
                <a:lnSpc>
                  <a:spcPts val="3240"/>
                </a:lnSpc>
              </a:pPr>
              <a:r>
                <a:rPr lang="en-US" sz="2700" b="1">
                  <a:solidFill>
                    <a:srgbClr val="1A231C"/>
                  </a:solidFill>
                  <a:latin typeface="Arial Bold"/>
                  <a:ea typeface="Arial Bold"/>
                  <a:cs typeface="Arial Bold"/>
                  <a:sym typeface="Arial Bold"/>
                </a:rPr>
                <a:t>Remediation Agent</a:t>
              </a:r>
            </a:p>
          </p:txBody>
        </p:sp>
      </p:grpSp>
      <p:grpSp>
        <p:nvGrpSpPr>
          <p:cNvPr id="57" name="Group 57"/>
          <p:cNvGrpSpPr/>
          <p:nvPr/>
        </p:nvGrpSpPr>
        <p:grpSpPr>
          <a:xfrm>
            <a:off x="12655296" y="4780026"/>
            <a:ext cx="4572000" cy="512064"/>
            <a:chOff x="0" y="0"/>
            <a:chExt cx="6096000" cy="682752"/>
          </a:xfrm>
        </p:grpSpPr>
        <p:sp>
          <p:nvSpPr>
            <p:cNvPr id="58" name="Freeform 58"/>
            <p:cNvSpPr/>
            <p:nvPr/>
          </p:nvSpPr>
          <p:spPr>
            <a:xfrm>
              <a:off x="0" y="0"/>
              <a:ext cx="6096000" cy="682752"/>
            </a:xfrm>
            <a:custGeom>
              <a:avLst/>
              <a:gdLst/>
              <a:ahLst/>
              <a:cxnLst/>
              <a:rect l="l" t="t" r="r" b="b"/>
              <a:pathLst>
                <a:path w="6096000" h="682752">
                  <a:moveTo>
                    <a:pt x="0" y="0"/>
                  </a:moveTo>
                  <a:lnTo>
                    <a:pt x="6096000" y="0"/>
                  </a:lnTo>
                  <a:lnTo>
                    <a:pt x="6096000" y="682752"/>
                  </a:lnTo>
                  <a:lnTo>
                    <a:pt x="0" y="682752"/>
                  </a:lnTo>
                  <a:close/>
                </a:path>
              </a:pathLst>
            </a:custGeom>
            <a:blipFill>
              <a:blip r:embed="rId4">
                <a:alphaModFix amt="0"/>
              </a:blip>
              <a:stretch>
                <a:fillRect t="-123973" b="-123973"/>
              </a:stretch>
            </a:blipFill>
          </p:spPr>
        </p:sp>
        <p:sp>
          <p:nvSpPr>
            <p:cNvPr id="59" name="TextBox 59"/>
            <p:cNvSpPr txBox="1"/>
            <p:nvPr/>
          </p:nvSpPr>
          <p:spPr>
            <a:xfrm>
              <a:off x="0" y="-47625"/>
              <a:ext cx="6096000" cy="730377"/>
            </a:xfrm>
            <a:prstGeom prst="rect">
              <a:avLst/>
            </a:prstGeom>
          </p:spPr>
          <p:txBody>
            <a:bodyPr lIns="0" tIns="0" rIns="0" bIns="0" rtlCol="0" anchor="ctr"/>
            <a:lstStyle/>
            <a:p>
              <a:pPr algn="l">
                <a:lnSpc>
                  <a:spcPts val="2639"/>
                </a:lnSpc>
              </a:pPr>
              <a:r>
                <a:rPr lang="en-US" sz="2199" b="1">
                  <a:solidFill>
                    <a:srgbClr val="2F6B3A"/>
                  </a:solidFill>
                  <a:latin typeface="Calibri (MS) Bold"/>
                  <a:ea typeface="Calibri (MS) Bold"/>
                  <a:cs typeface="Calibri (MS) Bold"/>
                  <a:sym typeface="Calibri (MS) Bold"/>
                </a:rPr>
                <a:t>Proposes the repair</a:t>
              </a:r>
            </a:p>
          </p:txBody>
        </p:sp>
      </p:grpSp>
      <p:sp>
        <p:nvSpPr>
          <p:cNvPr id="60" name="TextBox 60"/>
          <p:cNvSpPr txBox="1"/>
          <p:nvPr/>
        </p:nvSpPr>
        <p:spPr>
          <a:xfrm>
            <a:off x="12655296" y="5335905"/>
            <a:ext cx="4572000" cy="1144905"/>
          </a:xfrm>
          <a:prstGeom prst="rect">
            <a:avLst/>
          </a:prstGeom>
        </p:spPr>
        <p:txBody>
          <a:bodyPr lIns="0" tIns="0" rIns="0" bIns="0" rtlCol="0" anchor="t">
            <a:spAutoFit/>
          </a:bodyPr>
          <a:lstStyle/>
          <a:p>
            <a:pPr algn="l">
              <a:lnSpc>
                <a:spcPts val="2520"/>
              </a:lnSpc>
            </a:pPr>
            <a:r>
              <a:rPr lang="en-US" sz="2100">
                <a:solidFill>
                  <a:srgbClr val="5F6B62"/>
                </a:solidFill>
                <a:latin typeface="Calibri (MS)"/>
                <a:ea typeface="Calibri (MS)"/>
                <a:cs typeface="Calibri (MS)"/>
                <a:sym typeface="Calibri (MS)"/>
              </a:rPr>
              <a:t>Writes a scoped candidate branch with rationale and rollback</a:t>
            </a:r>
          </a:p>
        </p:txBody>
      </p:sp>
      <p:grpSp>
        <p:nvGrpSpPr>
          <p:cNvPr id="61" name="Group 61"/>
          <p:cNvGrpSpPr/>
          <p:nvPr/>
        </p:nvGrpSpPr>
        <p:grpSpPr>
          <a:xfrm>
            <a:off x="12655296" y="6608826"/>
            <a:ext cx="365760" cy="365760"/>
            <a:chOff x="0" y="0"/>
            <a:chExt cx="487680" cy="487680"/>
          </a:xfrm>
        </p:grpSpPr>
        <p:sp>
          <p:nvSpPr>
            <p:cNvPr id="62" name="Freeform 62" descr="preencoded.png"/>
            <p:cNvSpPr/>
            <p:nvPr/>
          </p:nvSpPr>
          <p:spPr>
            <a:xfrm>
              <a:off x="0" y="0"/>
              <a:ext cx="487680" cy="487680"/>
            </a:xfrm>
            <a:custGeom>
              <a:avLst/>
              <a:gdLst/>
              <a:ahLst/>
              <a:cxnLst/>
              <a:rect l="l" t="t" r="r" b="b"/>
              <a:pathLst>
                <a:path w="487680" h="487680">
                  <a:moveTo>
                    <a:pt x="0" y="0"/>
                  </a:moveTo>
                  <a:lnTo>
                    <a:pt x="487680" y="0"/>
                  </a:lnTo>
                  <a:lnTo>
                    <a:pt x="487680" y="487680"/>
                  </a:lnTo>
                  <a:lnTo>
                    <a:pt x="0" y="487680"/>
                  </a:lnTo>
                  <a:lnTo>
                    <a:pt x="0" y="0"/>
                  </a:lnTo>
                  <a:close/>
                </a:path>
              </a:pathLst>
            </a:custGeom>
            <a:blipFill>
              <a:blip r:embed="rId5"/>
              <a:stretch>
                <a:fillRect/>
              </a:stretch>
            </a:blipFill>
          </p:spPr>
        </p:sp>
      </p:grpSp>
      <p:grpSp>
        <p:nvGrpSpPr>
          <p:cNvPr id="63" name="Group 63"/>
          <p:cNvGrpSpPr/>
          <p:nvPr/>
        </p:nvGrpSpPr>
        <p:grpSpPr>
          <a:xfrm>
            <a:off x="13167360" y="6517386"/>
            <a:ext cx="4023360" cy="548640"/>
            <a:chOff x="0" y="0"/>
            <a:chExt cx="5364480" cy="731520"/>
          </a:xfrm>
        </p:grpSpPr>
        <p:sp>
          <p:nvSpPr>
            <p:cNvPr id="64" name="Freeform 64"/>
            <p:cNvSpPr/>
            <p:nvPr/>
          </p:nvSpPr>
          <p:spPr>
            <a:xfrm>
              <a:off x="0" y="0"/>
              <a:ext cx="5364480" cy="731520"/>
            </a:xfrm>
            <a:custGeom>
              <a:avLst/>
              <a:gdLst/>
              <a:ahLst/>
              <a:cxnLst/>
              <a:rect l="l" t="t" r="r" b="b"/>
              <a:pathLst>
                <a:path w="5364480" h="731520">
                  <a:moveTo>
                    <a:pt x="0" y="0"/>
                  </a:moveTo>
                  <a:lnTo>
                    <a:pt x="5364480" y="0"/>
                  </a:lnTo>
                  <a:lnTo>
                    <a:pt x="5364480" y="731520"/>
                  </a:lnTo>
                  <a:lnTo>
                    <a:pt x="0" y="731520"/>
                  </a:lnTo>
                  <a:close/>
                </a:path>
              </a:pathLst>
            </a:custGeom>
            <a:blipFill>
              <a:blip r:embed="rId4">
                <a:alphaModFix amt="0"/>
              </a:blip>
              <a:stretch>
                <a:fillRect t="-92890" b="-92890"/>
              </a:stretch>
            </a:blipFill>
          </p:spPr>
        </p:sp>
        <p:sp>
          <p:nvSpPr>
            <p:cNvPr id="65" name="TextBox 65"/>
            <p:cNvSpPr txBox="1"/>
            <p:nvPr/>
          </p:nvSpPr>
          <p:spPr>
            <a:xfrm>
              <a:off x="0" y="-47625"/>
              <a:ext cx="5364480" cy="779145"/>
            </a:xfrm>
            <a:prstGeom prst="rect">
              <a:avLst/>
            </a:prstGeom>
          </p:spPr>
          <p:txBody>
            <a:bodyPr lIns="0" tIns="0" rIns="0" bIns="0" rtlCol="0" anchor="ctr"/>
            <a:lstStyle/>
            <a:p>
              <a:pPr algn="l">
                <a:lnSpc>
                  <a:spcPts val="2520"/>
                </a:lnSpc>
              </a:pPr>
              <a:r>
                <a:rPr lang="en-US" sz="2100" b="1">
                  <a:solidFill>
                    <a:srgbClr val="1A231C"/>
                  </a:solidFill>
                  <a:latin typeface="Calibri (MS) Bold"/>
                  <a:ea typeface="Calibri (MS) Bold"/>
                  <a:cs typeface="Calibri (MS) Bold"/>
                  <a:sym typeface="Calibri (MS) Bold"/>
                </a:rPr>
                <a:t>Cannot touch the tests or merge</a:t>
              </a:r>
            </a:p>
          </p:txBody>
        </p:sp>
      </p:grpSp>
      <p:grpSp>
        <p:nvGrpSpPr>
          <p:cNvPr id="66" name="Group 66"/>
          <p:cNvGrpSpPr/>
          <p:nvPr/>
        </p:nvGrpSpPr>
        <p:grpSpPr>
          <a:xfrm>
            <a:off x="904875" y="7660005"/>
            <a:ext cx="10900410" cy="1390650"/>
            <a:chOff x="0" y="0"/>
            <a:chExt cx="14533880" cy="1854200"/>
          </a:xfrm>
        </p:grpSpPr>
        <p:sp>
          <p:nvSpPr>
            <p:cNvPr id="67" name="Freeform 67"/>
            <p:cNvSpPr/>
            <p:nvPr/>
          </p:nvSpPr>
          <p:spPr>
            <a:xfrm>
              <a:off x="0" y="0"/>
              <a:ext cx="14533880" cy="1854200"/>
            </a:xfrm>
            <a:custGeom>
              <a:avLst/>
              <a:gdLst/>
              <a:ahLst/>
              <a:cxnLst/>
              <a:rect l="l" t="t" r="r" b="b"/>
              <a:pathLst>
                <a:path w="14533880" h="1854200">
                  <a:moveTo>
                    <a:pt x="0" y="247269"/>
                  </a:moveTo>
                  <a:cubicBezTo>
                    <a:pt x="0" y="110744"/>
                    <a:pt x="110744" y="0"/>
                    <a:pt x="247269" y="0"/>
                  </a:cubicBezTo>
                  <a:lnTo>
                    <a:pt x="14286612" y="0"/>
                  </a:lnTo>
                  <a:cubicBezTo>
                    <a:pt x="14423137" y="0"/>
                    <a:pt x="14533880" y="110744"/>
                    <a:pt x="14533880" y="247269"/>
                  </a:cubicBezTo>
                  <a:lnTo>
                    <a:pt x="14533880" y="1606931"/>
                  </a:lnTo>
                  <a:cubicBezTo>
                    <a:pt x="14533880" y="1743456"/>
                    <a:pt x="14423137" y="1854200"/>
                    <a:pt x="14286612" y="1854200"/>
                  </a:cubicBezTo>
                  <a:lnTo>
                    <a:pt x="247269" y="1854200"/>
                  </a:lnTo>
                  <a:cubicBezTo>
                    <a:pt x="110744" y="1854200"/>
                    <a:pt x="0" y="1743456"/>
                    <a:pt x="0" y="1606931"/>
                  </a:cubicBezTo>
                  <a:close/>
                </a:path>
              </a:pathLst>
            </a:custGeom>
            <a:solidFill>
              <a:srgbClr val="F2F5EC"/>
            </a:solidFill>
            <a:ln w="19050" cap="sq">
              <a:solidFill>
                <a:srgbClr val="F2F5EC"/>
              </a:solidFill>
              <a:prstDash val="solid"/>
              <a:miter/>
            </a:ln>
          </p:spPr>
        </p:sp>
      </p:grpSp>
      <p:grpSp>
        <p:nvGrpSpPr>
          <p:cNvPr id="68" name="Group 68"/>
          <p:cNvGrpSpPr/>
          <p:nvPr/>
        </p:nvGrpSpPr>
        <p:grpSpPr>
          <a:xfrm>
            <a:off x="1230887" y="7912865"/>
            <a:ext cx="866651" cy="866651"/>
            <a:chOff x="0" y="0"/>
            <a:chExt cx="1155535" cy="1155535"/>
          </a:xfrm>
        </p:grpSpPr>
        <p:sp>
          <p:nvSpPr>
            <p:cNvPr id="69" name="Freeform 69"/>
            <p:cNvSpPr/>
            <p:nvPr/>
          </p:nvSpPr>
          <p:spPr>
            <a:xfrm>
              <a:off x="0" y="0"/>
              <a:ext cx="1155573" cy="1155573"/>
            </a:xfrm>
            <a:custGeom>
              <a:avLst/>
              <a:gdLst/>
              <a:ahLst/>
              <a:cxnLst/>
              <a:rect l="l" t="t" r="r" b="b"/>
              <a:pathLst>
                <a:path w="1155573" h="1155573">
                  <a:moveTo>
                    <a:pt x="0" y="577723"/>
                  </a:moveTo>
                  <a:cubicBezTo>
                    <a:pt x="0" y="258699"/>
                    <a:pt x="258699" y="0"/>
                    <a:pt x="577723" y="0"/>
                  </a:cubicBezTo>
                  <a:cubicBezTo>
                    <a:pt x="896747" y="0"/>
                    <a:pt x="1155573" y="258699"/>
                    <a:pt x="1155573" y="577723"/>
                  </a:cubicBezTo>
                  <a:cubicBezTo>
                    <a:pt x="1155573" y="896747"/>
                    <a:pt x="896874" y="1155573"/>
                    <a:pt x="577723" y="1155573"/>
                  </a:cubicBezTo>
                  <a:cubicBezTo>
                    <a:pt x="258572" y="1155573"/>
                    <a:pt x="0" y="896874"/>
                    <a:pt x="0" y="577723"/>
                  </a:cubicBezTo>
                  <a:close/>
                </a:path>
              </a:pathLst>
            </a:custGeom>
            <a:solidFill>
              <a:srgbClr val="FFFFFF"/>
            </a:solidFill>
            <a:ln w="25400" cap="sq">
              <a:solidFill>
                <a:srgbClr val="FFFFFF"/>
              </a:solidFill>
              <a:prstDash val="solid"/>
              <a:miter/>
            </a:ln>
          </p:spPr>
        </p:sp>
      </p:grpSp>
      <p:grpSp>
        <p:nvGrpSpPr>
          <p:cNvPr id="70" name="Group 70"/>
          <p:cNvGrpSpPr/>
          <p:nvPr/>
        </p:nvGrpSpPr>
        <p:grpSpPr>
          <a:xfrm>
            <a:off x="1445485" y="8127463"/>
            <a:ext cx="437445" cy="437445"/>
            <a:chOff x="0" y="0"/>
            <a:chExt cx="583260" cy="583260"/>
          </a:xfrm>
        </p:grpSpPr>
        <p:sp>
          <p:nvSpPr>
            <p:cNvPr id="71" name="Freeform 71" descr="preencoded.png"/>
            <p:cNvSpPr/>
            <p:nvPr/>
          </p:nvSpPr>
          <p:spPr>
            <a:xfrm>
              <a:off x="0" y="0"/>
              <a:ext cx="583311" cy="583311"/>
            </a:xfrm>
            <a:custGeom>
              <a:avLst/>
              <a:gdLst/>
              <a:ahLst/>
              <a:cxnLst/>
              <a:rect l="l" t="t" r="r" b="b"/>
              <a:pathLst>
                <a:path w="583311" h="583311">
                  <a:moveTo>
                    <a:pt x="0" y="0"/>
                  </a:moveTo>
                  <a:lnTo>
                    <a:pt x="583311" y="0"/>
                  </a:lnTo>
                  <a:lnTo>
                    <a:pt x="583311" y="583311"/>
                  </a:lnTo>
                  <a:lnTo>
                    <a:pt x="0" y="583311"/>
                  </a:lnTo>
                  <a:lnTo>
                    <a:pt x="0" y="0"/>
                  </a:lnTo>
                  <a:close/>
                </a:path>
              </a:pathLst>
            </a:custGeom>
            <a:blipFill>
              <a:blip r:embed="rId8"/>
              <a:stretch>
                <a:fillRect r="8" b="8"/>
              </a:stretch>
            </a:blipFill>
          </p:spPr>
        </p:sp>
      </p:grpSp>
      <p:grpSp>
        <p:nvGrpSpPr>
          <p:cNvPr id="72" name="Group 72"/>
          <p:cNvGrpSpPr/>
          <p:nvPr/>
        </p:nvGrpSpPr>
        <p:grpSpPr>
          <a:xfrm>
            <a:off x="2340864" y="7797546"/>
            <a:ext cx="9144000" cy="548640"/>
            <a:chOff x="0" y="0"/>
            <a:chExt cx="12192000" cy="731520"/>
          </a:xfrm>
        </p:grpSpPr>
        <p:sp>
          <p:nvSpPr>
            <p:cNvPr id="73" name="Freeform 73"/>
            <p:cNvSpPr/>
            <p:nvPr/>
          </p:nvSpPr>
          <p:spPr>
            <a:xfrm>
              <a:off x="0" y="0"/>
              <a:ext cx="12192000" cy="731520"/>
            </a:xfrm>
            <a:custGeom>
              <a:avLst/>
              <a:gdLst/>
              <a:ahLst/>
              <a:cxnLst/>
              <a:rect l="l" t="t" r="r" b="b"/>
              <a:pathLst>
                <a:path w="12192000" h="731520">
                  <a:moveTo>
                    <a:pt x="0" y="0"/>
                  </a:moveTo>
                  <a:lnTo>
                    <a:pt x="12192000" y="0"/>
                  </a:lnTo>
                  <a:lnTo>
                    <a:pt x="12192000" y="731520"/>
                  </a:lnTo>
                  <a:lnTo>
                    <a:pt x="0" y="731520"/>
                  </a:lnTo>
                  <a:close/>
                </a:path>
              </a:pathLst>
            </a:custGeom>
            <a:blipFill>
              <a:blip r:embed="rId4">
                <a:alphaModFix amt="0"/>
              </a:blip>
              <a:stretch>
                <a:fillRect t="-274750" b="-274750"/>
              </a:stretch>
            </a:blipFill>
          </p:spPr>
        </p:sp>
        <p:sp>
          <p:nvSpPr>
            <p:cNvPr id="74" name="TextBox 74"/>
            <p:cNvSpPr txBox="1"/>
            <p:nvPr/>
          </p:nvSpPr>
          <p:spPr>
            <a:xfrm>
              <a:off x="0" y="-38100"/>
              <a:ext cx="12192000" cy="769620"/>
            </a:xfrm>
            <a:prstGeom prst="rect">
              <a:avLst/>
            </a:prstGeom>
          </p:spPr>
          <p:txBody>
            <a:bodyPr lIns="0" tIns="0" rIns="0" bIns="0" rtlCol="0" anchor="ctr"/>
            <a:lstStyle/>
            <a:p>
              <a:pPr algn="l">
                <a:lnSpc>
                  <a:spcPts val="2879"/>
                </a:lnSpc>
              </a:pPr>
              <a:r>
                <a:rPr lang="en-US" sz="2400" b="1">
                  <a:solidFill>
                    <a:srgbClr val="1A231C"/>
                  </a:solidFill>
                  <a:latin typeface="Calibri (MS) Bold"/>
                  <a:ea typeface="Calibri (MS) Bold"/>
                  <a:cs typeface="Calibri (MS) Bold"/>
                  <a:sym typeface="Calibri (MS) Bold"/>
                </a:rPr>
                <a:t>Controller: plain code, not a fourth agent</a:t>
              </a:r>
            </a:p>
          </p:txBody>
        </p:sp>
      </p:grpSp>
      <p:grpSp>
        <p:nvGrpSpPr>
          <p:cNvPr id="75" name="Group 75"/>
          <p:cNvGrpSpPr/>
          <p:nvPr/>
        </p:nvGrpSpPr>
        <p:grpSpPr>
          <a:xfrm>
            <a:off x="2340864" y="8309610"/>
            <a:ext cx="9144000" cy="548640"/>
            <a:chOff x="0" y="0"/>
            <a:chExt cx="12192000" cy="731520"/>
          </a:xfrm>
        </p:grpSpPr>
        <p:sp>
          <p:nvSpPr>
            <p:cNvPr id="76" name="Freeform 76"/>
            <p:cNvSpPr/>
            <p:nvPr/>
          </p:nvSpPr>
          <p:spPr>
            <a:xfrm>
              <a:off x="0" y="0"/>
              <a:ext cx="12192000" cy="731520"/>
            </a:xfrm>
            <a:custGeom>
              <a:avLst/>
              <a:gdLst/>
              <a:ahLst/>
              <a:cxnLst/>
              <a:rect l="l" t="t" r="r" b="b"/>
              <a:pathLst>
                <a:path w="12192000" h="731520">
                  <a:moveTo>
                    <a:pt x="0" y="0"/>
                  </a:moveTo>
                  <a:lnTo>
                    <a:pt x="12192000" y="0"/>
                  </a:lnTo>
                  <a:lnTo>
                    <a:pt x="12192000" y="731520"/>
                  </a:lnTo>
                  <a:lnTo>
                    <a:pt x="0" y="731520"/>
                  </a:lnTo>
                  <a:close/>
                </a:path>
              </a:pathLst>
            </a:custGeom>
            <a:blipFill>
              <a:blip r:embed="rId4">
                <a:alphaModFix amt="0"/>
              </a:blip>
              <a:stretch>
                <a:fillRect t="-274750" b="-274750"/>
              </a:stretch>
            </a:blipFill>
          </p:spPr>
        </p:sp>
        <p:sp>
          <p:nvSpPr>
            <p:cNvPr id="77" name="TextBox 77"/>
            <p:cNvSpPr txBox="1"/>
            <p:nvPr/>
          </p:nvSpPr>
          <p:spPr>
            <a:xfrm>
              <a:off x="0" y="-47625"/>
              <a:ext cx="12192000" cy="779145"/>
            </a:xfrm>
            <a:prstGeom prst="rect">
              <a:avLst/>
            </a:prstGeom>
          </p:spPr>
          <p:txBody>
            <a:bodyPr lIns="0" tIns="0" rIns="0" bIns="0" rtlCol="0" anchor="ctr"/>
            <a:lstStyle/>
            <a:p>
              <a:pPr algn="l">
                <a:lnSpc>
                  <a:spcPts val="2520"/>
                </a:lnSpc>
              </a:pPr>
              <a:r>
                <a:rPr lang="en-US" sz="2100">
                  <a:solidFill>
                    <a:srgbClr val="5F6B62"/>
                  </a:solidFill>
                  <a:latin typeface="Calibri (MS)"/>
                  <a:ea typeface="Calibri (MS)"/>
                  <a:cs typeface="Calibri (MS)"/>
                  <a:sym typeface="Calibri (MS)"/>
                </a:rPr>
                <a:t>Scope, budgets, retries, and who may promote a fix</a:t>
              </a:r>
            </a:p>
          </p:txBody>
        </p:sp>
      </p:grpSp>
      <p:grpSp>
        <p:nvGrpSpPr>
          <p:cNvPr id="78" name="Group 78"/>
          <p:cNvGrpSpPr/>
          <p:nvPr/>
        </p:nvGrpSpPr>
        <p:grpSpPr>
          <a:xfrm>
            <a:off x="12060555" y="7660005"/>
            <a:ext cx="5322570" cy="1390650"/>
            <a:chOff x="0" y="0"/>
            <a:chExt cx="7096760" cy="1854200"/>
          </a:xfrm>
        </p:grpSpPr>
        <p:sp>
          <p:nvSpPr>
            <p:cNvPr id="79" name="Freeform 79"/>
            <p:cNvSpPr/>
            <p:nvPr/>
          </p:nvSpPr>
          <p:spPr>
            <a:xfrm>
              <a:off x="0" y="0"/>
              <a:ext cx="7096760" cy="1854200"/>
            </a:xfrm>
            <a:custGeom>
              <a:avLst/>
              <a:gdLst/>
              <a:ahLst/>
              <a:cxnLst/>
              <a:rect l="l" t="t" r="r" b="b"/>
              <a:pathLst>
                <a:path w="7096760" h="1854200">
                  <a:moveTo>
                    <a:pt x="0" y="247269"/>
                  </a:moveTo>
                  <a:cubicBezTo>
                    <a:pt x="0" y="110744"/>
                    <a:pt x="110744" y="0"/>
                    <a:pt x="247269" y="0"/>
                  </a:cubicBezTo>
                  <a:lnTo>
                    <a:pt x="6849491" y="0"/>
                  </a:lnTo>
                  <a:cubicBezTo>
                    <a:pt x="6986016" y="0"/>
                    <a:pt x="7096760" y="110744"/>
                    <a:pt x="7096760" y="247269"/>
                  </a:cubicBezTo>
                  <a:lnTo>
                    <a:pt x="7096760" y="1606931"/>
                  </a:lnTo>
                  <a:cubicBezTo>
                    <a:pt x="7096760" y="1743456"/>
                    <a:pt x="6986016" y="1854200"/>
                    <a:pt x="6849491" y="1854200"/>
                  </a:cubicBezTo>
                  <a:lnTo>
                    <a:pt x="247269" y="1854200"/>
                  </a:lnTo>
                  <a:cubicBezTo>
                    <a:pt x="110744" y="1854200"/>
                    <a:pt x="0" y="1743456"/>
                    <a:pt x="0" y="1606931"/>
                  </a:cubicBezTo>
                  <a:close/>
                </a:path>
              </a:pathLst>
            </a:custGeom>
            <a:solidFill>
              <a:srgbClr val="D7EBAE"/>
            </a:solidFill>
            <a:ln w="19050" cap="sq">
              <a:solidFill>
                <a:srgbClr val="D7EBAE"/>
              </a:solidFill>
              <a:prstDash val="solid"/>
              <a:miter/>
            </a:ln>
          </p:spPr>
        </p:sp>
      </p:grpSp>
      <p:grpSp>
        <p:nvGrpSpPr>
          <p:cNvPr id="80" name="Group 80"/>
          <p:cNvGrpSpPr/>
          <p:nvPr/>
        </p:nvGrpSpPr>
        <p:grpSpPr>
          <a:xfrm>
            <a:off x="12386567" y="7912865"/>
            <a:ext cx="866651" cy="866651"/>
            <a:chOff x="0" y="0"/>
            <a:chExt cx="1155535" cy="1155535"/>
          </a:xfrm>
        </p:grpSpPr>
        <p:sp>
          <p:nvSpPr>
            <p:cNvPr id="81" name="Freeform 81"/>
            <p:cNvSpPr/>
            <p:nvPr/>
          </p:nvSpPr>
          <p:spPr>
            <a:xfrm>
              <a:off x="0" y="0"/>
              <a:ext cx="1155573" cy="1155573"/>
            </a:xfrm>
            <a:custGeom>
              <a:avLst/>
              <a:gdLst/>
              <a:ahLst/>
              <a:cxnLst/>
              <a:rect l="l" t="t" r="r" b="b"/>
              <a:pathLst>
                <a:path w="1155573" h="1155573">
                  <a:moveTo>
                    <a:pt x="0" y="577723"/>
                  </a:moveTo>
                  <a:cubicBezTo>
                    <a:pt x="0" y="258699"/>
                    <a:pt x="258699" y="0"/>
                    <a:pt x="577723" y="0"/>
                  </a:cubicBezTo>
                  <a:cubicBezTo>
                    <a:pt x="896747" y="0"/>
                    <a:pt x="1155573" y="258699"/>
                    <a:pt x="1155573" y="577723"/>
                  </a:cubicBezTo>
                  <a:cubicBezTo>
                    <a:pt x="1155573" y="896747"/>
                    <a:pt x="896874" y="1155573"/>
                    <a:pt x="577723" y="1155573"/>
                  </a:cubicBezTo>
                  <a:cubicBezTo>
                    <a:pt x="258572" y="1155573"/>
                    <a:pt x="0" y="896874"/>
                    <a:pt x="0" y="577723"/>
                  </a:cubicBezTo>
                  <a:close/>
                </a:path>
              </a:pathLst>
            </a:custGeom>
            <a:solidFill>
              <a:srgbClr val="FFFFFF"/>
            </a:solidFill>
            <a:ln w="25400" cap="sq">
              <a:solidFill>
                <a:srgbClr val="FFFFFF"/>
              </a:solidFill>
              <a:prstDash val="solid"/>
              <a:miter/>
            </a:ln>
          </p:spPr>
        </p:sp>
      </p:grpSp>
      <p:grpSp>
        <p:nvGrpSpPr>
          <p:cNvPr id="82" name="Group 82"/>
          <p:cNvGrpSpPr/>
          <p:nvPr/>
        </p:nvGrpSpPr>
        <p:grpSpPr>
          <a:xfrm>
            <a:off x="12601165" y="8127463"/>
            <a:ext cx="437445" cy="437445"/>
            <a:chOff x="0" y="0"/>
            <a:chExt cx="583260" cy="583260"/>
          </a:xfrm>
        </p:grpSpPr>
        <p:sp>
          <p:nvSpPr>
            <p:cNvPr id="83" name="Freeform 83" descr="preencoded.png"/>
            <p:cNvSpPr/>
            <p:nvPr/>
          </p:nvSpPr>
          <p:spPr>
            <a:xfrm>
              <a:off x="0" y="0"/>
              <a:ext cx="583311" cy="583311"/>
            </a:xfrm>
            <a:custGeom>
              <a:avLst/>
              <a:gdLst/>
              <a:ahLst/>
              <a:cxnLst/>
              <a:rect l="l" t="t" r="r" b="b"/>
              <a:pathLst>
                <a:path w="583311" h="583311">
                  <a:moveTo>
                    <a:pt x="0" y="0"/>
                  </a:moveTo>
                  <a:lnTo>
                    <a:pt x="583311" y="0"/>
                  </a:lnTo>
                  <a:lnTo>
                    <a:pt x="583311" y="583311"/>
                  </a:lnTo>
                  <a:lnTo>
                    <a:pt x="0" y="583311"/>
                  </a:lnTo>
                  <a:lnTo>
                    <a:pt x="0" y="0"/>
                  </a:lnTo>
                  <a:close/>
                </a:path>
              </a:pathLst>
            </a:custGeom>
            <a:blipFill>
              <a:blip r:embed="rId9"/>
              <a:stretch>
                <a:fillRect r="8" b="8"/>
              </a:stretch>
            </a:blipFill>
          </p:spPr>
        </p:sp>
      </p:grpSp>
      <p:grpSp>
        <p:nvGrpSpPr>
          <p:cNvPr id="84" name="Group 84"/>
          <p:cNvGrpSpPr/>
          <p:nvPr/>
        </p:nvGrpSpPr>
        <p:grpSpPr>
          <a:xfrm>
            <a:off x="13496544" y="7669530"/>
            <a:ext cx="3749040" cy="1371600"/>
            <a:chOff x="0" y="0"/>
            <a:chExt cx="4998720" cy="1828800"/>
          </a:xfrm>
        </p:grpSpPr>
        <p:sp>
          <p:nvSpPr>
            <p:cNvPr id="85" name="Freeform 85"/>
            <p:cNvSpPr/>
            <p:nvPr/>
          </p:nvSpPr>
          <p:spPr>
            <a:xfrm>
              <a:off x="0" y="0"/>
              <a:ext cx="4998720" cy="1828800"/>
            </a:xfrm>
            <a:custGeom>
              <a:avLst/>
              <a:gdLst/>
              <a:ahLst/>
              <a:cxnLst/>
              <a:rect l="l" t="t" r="r" b="b"/>
              <a:pathLst>
                <a:path w="4998720" h="1828800">
                  <a:moveTo>
                    <a:pt x="0" y="0"/>
                  </a:moveTo>
                  <a:lnTo>
                    <a:pt x="4998720" y="0"/>
                  </a:lnTo>
                  <a:lnTo>
                    <a:pt x="4998720" y="1828800"/>
                  </a:lnTo>
                  <a:lnTo>
                    <a:pt x="0" y="1828800"/>
                  </a:lnTo>
                  <a:close/>
                </a:path>
              </a:pathLst>
            </a:custGeom>
            <a:blipFill>
              <a:blip r:embed="rId4">
                <a:alphaModFix amt="0"/>
              </a:blip>
              <a:stretch>
                <a:fillRect t="-3259" b="-3259"/>
              </a:stretch>
            </a:blipFill>
          </p:spPr>
        </p:sp>
        <p:sp>
          <p:nvSpPr>
            <p:cNvPr id="86" name="TextBox 86"/>
            <p:cNvSpPr txBox="1"/>
            <p:nvPr/>
          </p:nvSpPr>
          <p:spPr>
            <a:xfrm>
              <a:off x="0" y="-38100"/>
              <a:ext cx="4998720" cy="1866900"/>
            </a:xfrm>
            <a:prstGeom prst="rect">
              <a:avLst/>
            </a:prstGeom>
          </p:spPr>
          <p:txBody>
            <a:bodyPr lIns="0" tIns="0" rIns="0" bIns="0" rtlCol="0" anchor="ctr"/>
            <a:lstStyle/>
            <a:p>
              <a:pPr algn="l">
                <a:lnSpc>
                  <a:spcPts val="2879"/>
                </a:lnSpc>
              </a:pPr>
              <a:r>
                <a:rPr lang="en-US" sz="2400" b="1">
                  <a:solidFill>
                    <a:srgbClr val="2F6B3A"/>
                  </a:solidFill>
                  <a:latin typeface="Calibri (MS) Bold"/>
                  <a:ea typeface="Calibri (MS) Bold"/>
                  <a:cs typeface="Calibri (MS) Bold"/>
                  <a:sym typeface="Calibri (MS) Bold"/>
                </a:rPr>
                <a:t>A human owns the merge</a:t>
              </a:r>
            </a:p>
          </p:txBody>
        </p:sp>
      </p:grpSp>
      <p:grpSp>
        <p:nvGrpSpPr>
          <p:cNvPr id="87" name="Group 87"/>
          <p:cNvGrpSpPr/>
          <p:nvPr/>
        </p:nvGrpSpPr>
        <p:grpSpPr>
          <a:xfrm>
            <a:off x="16353672" y="524855"/>
            <a:ext cx="1308336" cy="675295"/>
            <a:chOff x="0" y="0"/>
            <a:chExt cx="1744448" cy="900394"/>
          </a:xfrm>
        </p:grpSpPr>
        <p:sp>
          <p:nvSpPr>
            <p:cNvPr id="88" name="Freeform 88"/>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89" name="TextBox 89"/>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5EC"/>
        </a:solidFill>
        <a:effectLst/>
      </p:bgPr>
    </p:bg>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t="13785"/>
          <a:stretch>
            <a:fillRect/>
          </a:stretch>
        </p:blipFill>
        <p:spPr>
          <a:xfrm>
            <a:off x="0" y="901065"/>
            <a:ext cx="18288000" cy="8868870"/>
          </a:xfrm>
          <a:prstGeom prst="rect">
            <a:avLst/>
          </a:prstGeom>
        </p:spPr>
      </p:pic>
      <p:grpSp>
        <p:nvGrpSpPr>
          <p:cNvPr id="3" name="Group 3"/>
          <p:cNvGrpSpPr/>
          <p:nvPr/>
        </p:nvGrpSpPr>
        <p:grpSpPr>
          <a:xfrm>
            <a:off x="16550640" y="273395"/>
            <a:ext cx="1308336" cy="675295"/>
            <a:chOff x="0" y="0"/>
            <a:chExt cx="1744448" cy="900394"/>
          </a:xfrm>
        </p:grpSpPr>
        <p:sp>
          <p:nvSpPr>
            <p:cNvPr id="4" name="Freeform 4"/>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5EC"/>
        </a:solidFill>
        <a:effectLst/>
      </p:bgPr>
    </p:bg>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t="10000"/>
          <a:stretch>
            <a:fillRect/>
          </a:stretch>
        </p:blipFill>
        <p:spPr>
          <a:xfrm>
            <a:off x="1028700" y="1028700"/>
            <a:ext cx="16242632" cy="9258300"/>
          </a:xfrm>
          <a:prstGeom prst="rect">
            <a:avLst/>
          </a:prstGeom>
        </p:spPr>
      </p:pic>
      <p:grpSp>
        <p:nvGrpSpPr>
          <p:cNvPr id="3" name="Group 3"/>
          <p:cNvGrpSpPr/>
          <p:nvPr/>
        </p:nvGrpSpPr>
        <p:grpSpPr>
          <a:xfrm>
            <a:off x="16550640" y="273395"/>
            <a:ext cx="1308336" cy="675295"/>
            <a:chOff x="0" y="0"/>
            <a:chExt cx="1744448" cy="900394"/>
          </a:xfrm>
        </p:grpSpPr>
        <p:sp>
          <p:nvSpPr>
            <p:cNvPr id="4" name="Freeform 4"/>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0" y="986790"/>
            <a:ext cx="16459200" cy="1116330"/>
          </a:xfrm>
          <a:prstGeom prst="rect">
            <a:avLst/>
          </a:prstGeom>
        </p:spPr>
        <p:txBody>
          <a:bodyPr lIns="0" tIns="0" rIns="0" bIns="0" rtlCol="0" anchor="t">
            <a:spAutoFit/>
          </a:bodyPr>
          <a:lstStyle/>
          <a:p>
            <a:pPr algn="l">
              <a:lnSpc>
                <a:spcPts val="6239"/>
              </a:lnSpc>
            </a:pPr>
            <a:r>
              <a:rPr lang="en-US" sz="5199" b="1">
                <a:solidFill>
                  <a:srgbClr val="1A231C"/>
                </a:solidFill>
                <a:latin typeface="Arial Bold"/>
                <a:ea typeface="Arial Bold"/>
                <a:cs typeface="Arial Bold"/>
                <a:sym typeface="Arial Bold"/>
              </a:rPr>
              <a:t>SakuraShop: a real draft fix, tested in CI</a:t>
            </a:r>
          </a:p>
        </p:txBody>
      </p:sp>
      <p:grpSp>
        <p:nvGrpSpPr>
          <p:cNvPr id="3" name="Group 3"/>
          <p:cNvGrpSpPr/>
          <p:nvPr/>
        </p:nvGrpSpPr>
        <p:grpSpPr>
          <a:xfrm>
            <a:off x="914400" y="9363456"/>
            <a:ext cx="14996160" cy="548640"/>
            <a:chOff x="0" y="0"/>
            <a:chExt cx="19994880" cy="731520"/>
          </a:xfrm>
        </p:grpSpPr>
        <p:sp>
          <p:nvSpPr>
            <p:cNvPr id="4" name="Freeform 4"/>
            <p:cNvSpPr/>
            <p:nvPr/>
          </p:nvSpPr>
          <p:spPr>
            <a:xfrm>
              <a:off x="0" y="0"/>
              <a:ext cx="19994880" cy="731520"/>
            </a:xfrm>
            <a:custGeom>
              <a:avLst/>
              <a:gdLst/>
              <a:ahLst/>
              <a:cxnLst/>
              <a:rect l="l" t="t" r="r" b="b"/>
              <a:pathLst>
                <a:path w="19994880" h="731520">
                  <a:moveTo>
                    <a:pt x="0" y="0"/>
                  </a:moveTo>
                  <a:lnTo>
                    <a:pt x="19994880" y="0"/>
                  </a:lnTo>
                  <a:lnTo>
                    <a:pt x="19994880" y="731520"/>
                  </a:lnTo>
                  <a:lnTo>
                    <a:pt x="0" y="731520"/>
                  </a:lnTo>
                  <a:close/>
                </a:path>
              </a:pathLst>
            </a:custGeom>
            <a:blipFill>
              <a:blip r:embed="rId3">
                <a:alphaModFix amt="0"/>
              </a:blip>
              <a:stretch>
                <a:fillRect t="-482591" b="-482591"/>
              </a:stretch>
            </a:blipFill>
          </p:spPr>
        </p:sp>
        <p:sp>
          <p:nvSpPr>
            <p:cNvPr id="5" name="TextBox 5"/>
            <p:cNvSpPr txBox="1"/>
            <p:nvPr/>
          </p:nvSpPr>
          <p:spPr>
            <a:xfrm>
              <a:off x="0" y="-38100"/>
              <a:ext cx="19994880" cy="769620"/>
            </a:xfrm>
            <a:prstGeom prst="rect">
              <a:avLst/>
            </a:prstGeom>
          </p:spPr>
          <p:txBody>
            <a:bodyPr lIns="0" tIns="0" rIns="0" bIns="0" rtlCol="0" anchor="ctr"/>
            <a:lstStyle/>
            <a:p>
              <a:pPr algn="l">
                <a:lnSpc>
                  <a:spcPts val="2160"/>
                </a:lnSpc>
              </a:pPr>
              <a:r>
                <a:rPr lang="en-US" sz="1800">
                  <a:solidFill>
                    <a:srgbClr val="5F6B62"/>
                  </a:solidFill>
                  <a:latin typeface="Calibri (MS)"/>
                  <a:ea typeface="Calibri (MS)"/>
                  <a:cs typeface="Calibri (MS)"/>
                  <a:sym typeface="Calibri (MS)"/>
                </a:rPr>
                <a:t>Fictional merchant. Prepared fixture repair, not a live model run. Checks prove application behaviour, not that the RCE is unexploitable.</a:t>
              </a:r>
            </a:p>
          </p:txBody>
        </p:sp>
      </p:grpSp>
      <p:grpSp>
        <p:nvGrpSpPr>
          <p:cNvPr id="6" name="Group 6"/>
          <p:cNvGrpSpPr/>
          <p:nvPr/>
        </p:nvGrpSpPr>
        <p:grpSpPr>
          <a:xfrm>
            <a:off x="904875" y="2367915"/>
            <a:ext cx="7882890" cy="6602730"/>
            <a:chOff x="0" y="0"/>
            <a:chExt cx="10510520" cy="8803640"/>
          </a:xfrm>
        </p:grpSpPr>
        <p:sp>
          <p:nvSpPr>
            <p:cNvPr id="7" name="Freeform 7"/>
            <p:cNvSpPr/>
            <p:nvPr/>
          </p:nvSpPr>
          <p:spPr>
            <a:xfrm>
              <a:off x="0" y="0"/>
              <a:ext cx="10510520" cy="8803640"/>
            </a:xfrm>
            <a:custGeom>
              <a:avLst/>
              <a:gdLst/>
              <a:ahLst/>
              <a:cxnLst/>
              <a:rect l="l" t="t" r="r" b="b"/>
              <a:pathLst>
                <a:path w="10510520" h="8803640">
                  <a:moveTo>
                    <a:pt x="0" y="244602"/>
                  </a:moveTo>
                  <a:cubicBezTo>
                    <a:pt x="0" y="109474"/>
                    <a:pt x="109474" y="0"/>
                    <a:pt x="244602" y="0"/>
                  </a:cubicBezTo>
                  <a:lnTo>
                    <a:pt x="10265918" y="0"/>
                  </a:lnTo>
                  <a:cubicBezTo>
                    <a:pt x="10401047" y="0"/>
                    <a:pt x="10510520" y="109474"/>
                    <a:pt x="10510520" y="244602"/>
                  </a:cubicBezTo>
                  <a:lnTo>
                    <a:pt x="10510520" y="8559038"/>
                  </a:lnTo>
                  <a:cubicBezTo>
                    <a:pt x="10510520" y="8694166"/>
                    <a:pt x="10401047" y="8803640"/>
                    <a:pt x="10265918" y="8803640"/>
                  </a:cubicBezTo>
                  <a:lnTo>
                    <a:pt x="244602" y="8803640"/>
                  </a:lnTo>
                  <a:cubicBezTo>
                    <a:pt x="109474" y="8803640"/>
                    <a:pt x="0" y="8694166"/>
                    <a:pt x="0" y="8559038"/>
                  </a:cubicBezTo>
                  <a:close/>
                </a:path>
              </a:pathLst>
            </a:custGeom>
            <a:solidFill>
              <a:srgbClr val="F2F5EC"/>
            </a:solidFill>
            <a:ln w="19050" cap="sq">
              <a:solidFill>
                <a:srgbClr val="F2F5EC"/>
              </a:solidFill>
              <a:prstDash val="solid"/>
              <a:miter/>
            </a:ln>
          </p:spPr>
        </p:sp>
      </p:grpSp>
      <p:grpSp>
        <p:nvGrpSpPr>
          <p:cNvPr id="8" name="Group 8"/>
          <p:cNvGrpSpPr/>
          <p:nvPr/>
        </p:nvGrpSpPr>
        <p:grpSpPr>
          <a:xfrm>
            <a:off x="1304039" y="2693927"/>
            <a:ext cx="939803" cy="939803"/>
            <a:chOff x="0" y="0"/>
            <a:chExt cx="1253071" cy="1253071"/>
          </a:xfrm>
        </p:grpSpPr>
        <p:sp>
          <p:nvSpPr>
            <p:cNvPr id="9" name="Freeform 9"/>
            <p:cNvSpPr/>
            <p:nvPr/>
          </p:nvSpPr>
          <p:spPr>
            <a:xfrm>
              <a:off x="0" y="0"/>
              <a:ext cx="1253109" cy="1253109"/>
            </a:xfrm>
            <a:custGeom>
              <a:avLst/>
              <a:gdLst/>
              <a:ahLst/>
              <a:cxnLst/>
              <a:rect l="l" t="t" r="r" b="b"/>
              <a:pathLst>
                <a:path w="1253109" h="1253109">
                  <a:moveTo>
                    <a:pt x="0" y="626491"/>
                  </a:moveTo>
                  <a:cubicBezTo>
                    <a:pt x="0" y="280543"/>
                    <a:pt x="280543" y="0"/>
                    <a:pt x="626491" y="0"/>
                  </a:cubicBezTo>
                  <a:cubicBezTo>
                    <a:pt x="972439" y="0"/>
                    <a:pt x="1253109" y="280543"/>
                    <a:pt x="1253109" y="626491"/>
                  </a:cubicBezTo>
                  <a:cubicBezTo>
                    <a:pt x="1253109" y="972439"/>
                    <a:pt x="972566" y="1253109"/>
                    <a:pt x="626491" y="1253109"/>
                  </a:cubicBezTo>
                  <a:cubicBezTo>
                    <a:pt x="280416" y="1253109"/>
                    <a:pt x="0" y="972566"/>
                    <a:pt x="0" y="626491"/>
                  </a:cubicBezTo>
                  <a:close/>
                </a:path>
              </a:pathLst>
            </a:custGeom>
            <a:solidFill>
              <a:srgbClr val="FFFFFF"/>
            </a:solidFill>
            <a:ln w="25400" cap="sq">
              <a:solidFill>
                <a:srgbClr val="FFFFFF"/>
              </a:solidFill>
              <a:prstDash val="solid"/>
              <a:miter/>
            </a:ln>
          </p:spPr>
        </p:sp>
      </p:grpSp>
      <p:grpSp>
        <p:nvGrpSpPr>
          <p:cNvPr id="10" name="Group 10"/>
          <p:cNvGrpSpPr/>
          <p:nvPr/>
        </p:nvGrpSpPr>
        <p:grpSpPr>
          <a:xfrm>
            <a:off x="1536192" y="2926080"/>
            <a:ext cx="475488" cy="475488"/>
            <a:chOff x="0" y="0"/>
            <a:chExt cx="633984" cy="633984"/>
          </a:xfrm>
        </p:grpSpPr>
        <p:sp>
          <p:nvSpPr>
            <p:cNvPr id="11" name="Freeform 11" descr="preencoded.png"/>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4"/>
              <a:stretch>
                <a:fillRect/>
              </a:stretch>
            </a:blipFill>
          </p:spPr>
        </p:sp>
      </p:grpSp>
      <p:grpSp>
        <p:nvGrpSpPr>
          <p:cNvPr id="12" name="Group 12"/>
          <p:cNvGrpSpPr/>
          <p:nvPr/>
        </p:nvGrpSpPr>
        <p:grpSpPr>
          <a:xfrm>
            <a:off x="2468880" y="2743200"/>
            <a:ext cx="5486400" cy="438912"/>
            <a:chOff x="0" y="0"/>
            <a:chExt cx="7315200" cy="585216"/>
          </a:xfrm>
        </p:grpSpPr>
        <p:sp>
          <p:nvSpPr>
            <p:cNvPr id="13" name="Freeform 13"/>
            <p:cNvSpPr/>
            <p:nvPr/>
          </p:nvSpPr>
          <p:spPr>
            <a:xfrm>
              <a:off x="0" y="0"/>
              <a:ext cx="7315200" cy="585216"/>
            </a:xfrm>
            <a:custGeom>
              <a:avLst/>
              <a:gdLst/>
              <a:ahLst/>
              <a:cxnLst/>
              <a:rect l="l" t="t" r="r" b="b"/>
              <a:pathLst>
                <a:path w="7315200" h="585216">
                  <a:moveTo>
                    <a:pt x="0" y="0"/>
                  </a:moveTo>
                  <a:lnTo>
                    <a:pt x="7315200" y="0"/>
                  </a:lnTo>
                  <a:lnTo>
                    <a:pt x="7315200" y="585216"/>
                  </a:lnTo>
                  <a:lnTo>
                    <a:pt x="0" y="585216"/>
                  </a:lnTo>
                  <a:close/>
                </a:path>
              </a:pathLst>
            </a:custGeom>
            <a:blipFill>
              <a:blip r:embed="rId3">
                <a:alphaModFix amt="0"/>
              </a:blip>
              <a:stretch>
                <a:fillRect t="-193562" b="-193562"/>
              </a:stretch>
            </a:blipFill>
          </p:spPr>
        </p:sp>
        <p:sp>
          <p:nvSpPr>
            <p:cNvPr id="14" name="TextBox 14"/>
            <p:cNvSpPr txBox="1"/>
            <p:nvPr/>
          </p:nvSpPr>
          <p:spPr>
            <a:xfrm>
              <a:off x="0" y="-38100"/>
              <a:ext cx="7315200" cy="623316"/>
            </a:xfrm>
            <a:prstGeom prst="rect">
              <a:avLst/>
            </a:prstGeom>
          </p:spPr>
          <p:txBody>
            <a:bodyPr lIns="0" tIns="0" rIns="0" bIns="0" rtlCol="0" anchor="ctr"/>
            <a:lstStyle/>
            <a:p>
              <a:pPr algn="l">
                <a:lnSpc>
                  <a:spcPts val="2400"/>
                </a:lnSpc>
              </a:pPr>
              <a:r>
                <a:rPr lang="en-US" sz="2000" b="1">
                  <a:solidFill>
                    <a:srgbClr val="5F6B62"/>
                  </a:solidFill>
                  <a:latin typeface="Calibri (MS) Bold"/>
                  <a:ea typeface="Calibri (MS) Bold"/>
                  <a:cs typeface="Calibri (MS) Bold"/>
                  <a:sym typeface="Calibri (MS) Bold"/>
                </a:rPr>
                <a:t>Draft PR #1</a:t>
              </a:r>
            </a:p>
          </p:txBody>
        </p:sp>
      </p:grpSp>
      <p:grpSp>
        <p:nvGrpSpPr>
          <p:cNvPr id="15" name="Group 15"/>
          <p:cNvGrpSpPr/>
          <p:nvPr/>
        </p:nvGrpSpPr>
        <p:grpSpPr>
          <a:xfrm>
            <a:off x="2468880" y="3145536"/>
            <a:ext cx="5852160" cy="512064"/>
            <a:chOff x="0" y="0"/>
            <a:chExt cx="7802880" cy="682752"/>
          </a:xfrm>
        </p:grpSpPr>
        <p:sp>
          <p:nvSpPr>
            <p:cNvPr id="16" name="Freeform 16"/>
            <p:cNvSpPr/>
            <p:nvPr/>
          </p:nvSpPr>
          <p:spPr>
            <a:xfrm>
              <a:off x="0" y="0"/>
              <a:ext cx="7802880" cy="682752"/>
            </a:xfrm>
            <a:custGeom>
              <a:avLst/>
              <a:gdLst/>
              <a:ahLst/>
              <a:cxnLst/>
              <a:rect l="l" t="t" r="r" b="b"/>
              <a:pathLst>
                <a:path w="7802880" h="682752">
                  <a:moveTo>
                    <a:pt x="0" y="0"/>
                  </a:moveTo>
                  <a:lnTo>
                    <a:pt x="7802880" y="0"/>
                  </a:lnTo>
                  <a:lnTo>
                    <a:pt x="7802880" y="682752"/>
                  </a:lnTo>
                  <a:lnTo>
                    <a:pt x="0" y="682752"/>
                  </a:lnTo>
                  <a:close/>
                </a:path>
              </a:pathLst>
            </a:custGeom>
            <a:blipFill>
              <a:blip r:embed="rId3">
                <a:alphaModFix amt="0"/>
              </a:blip>
              <a:stretch>
                <a:fillRect t="-172686" b="-172686"/>
              </a:stretch>
            </a:blipFill>
          </p:spPr>
        </p:sp>
        <p:sp>
          <p:nvSpPr>
            <p:cNvPr id="17" name="TextBox 17"/>
            <p:cNvSpPr txBox="1"/>
            <p:nvPr/>
          </p:nvSpPr>
          <p:spPr>
            <a:xfrm>
              <a:off x="0" y="-19050"/>
              <a:ext cx="7802880" cy="701802"/>
            </a:xfrm>
            <a:prstGeom prst="rect">
              <a:avLst/>
            </a:prstGeom>
          </p:spPr>
          <p:txBody>
            <a:bodyPr lIns="0" tIns="0" rIns="0" bIns="0" rtlCol="0" anchor="ctr"/>
            <a:lstStyle/>
            <a:p>
              <a:pPr algn="l">
                <a:lnSpc>
                  <a:spcPts val="3120"/>
                </a:lnSpc>
              </a:pPr>
              <a:r>
                <a:rPr lang="en-US" sz="2600" b="1">
                  <a:solidFill>
                    <a:srgbClr val="1A231C"/>
                  </a:solidFill>
                  <a:latin typeface="Arial Bold"/>
                  <a:ea typeface="Arial Bold"/>
                  <a:cs typeface="Arial Bold"/>
                  <a:sym typeface="Arial Bold"/>
                </a:rPr>
                <a:t>arigato-php-demo</a:t>
              </a:r>
            </a:p>
          </p:txBody>
        </p:sp>
      </p:grpSp>
      <p:grpSp>
        <p:nvGrpSpPr>
          <p:cNvPr id="18" name="Group 18"/>
          <p:cNvGrpSpPr/>
          <p:nvPr/>
        </p:nvGrpSpPr>
        <p:grpSpPr>
          <a:xfrm>
            <a:off x="1316736" y="4114800"/>
            <a:ext cx="2926080" cy="822960"/>
            <a:chOff x="0" y="0"/>
            <a:chExt cx="3901440" cy="1097280"/>
          </a:xfrm>
        </p:grpSpPr>
        <p:sp>
          <p:nvSpPr>
            <p:cNvPr id="19" name="Freeform 19"/>
            <p:cNvSpPr/>
            <p:nvPr/>
          </p:nvSpPr>
          <p:spPr>
            <a:xfrm>
              <a:off x="0" y="0"/>
              <a:ext cx="3901440" cy="1097280"/>
            </a:xfrm>
            <a:custGeom>
              <a:avLst/>
              <a:gdLst/>
              <a:ahLst/>
              <a:cxnLst/>
              <a:rect l="l" t="t" r="r" b="b"/>
              <a:pathLst>
                <a:path w="3901440" h="1097280">
                  <a:moveTo>
                    <a:pt x="0" y="0"/>
                  </a:moveTo>
                  <a:lnTo>
                    <a:pt x="3901440" y="0"/>
                  </a:lnTo>
                  <a:lnTo>
                    <a:pt x="3901440" y="1097280"/>
                  </a:lnTo>
                  <a:lnTo>
                    <a:pt x="0" y="1097280"/>
                  </a:lnTo>
                  <a:close/>
                </a:path>
              </a:pathLst>
            </a:custGeom>
            <a:blipFill>
              <a:blip r:embed="rId3">
                <a:alphaModFix amt="0"/>
              </a:blip>
              <a:stretch>
                <a:fillRect t="-19280" b="-19280"/>
              </a:stretch>
            </a:blipFill>
          </p:spPr>
        </p:sp>
        <p:sp>
          <p:nvSpPr>
            <p:cNvPr id="20" name="TextBox 20"/>
            <p:cNvSpPr txBox="1"/>
            <p:nvPr/>
          </p:nvSpPr>
          <p:spPr>
            <a:xfrm>
              <a:off x="0" y="-9525"/>
              <a:ext cx="3901440" cy="1106805"/>
            </a:xfrm>
            <a:prstGeom prst="rect">
              <a:avLst/>
            </a:prstGeom>
          </p:spPr>
          <p:txBody>
            <a:bodyPr lIns="0" tIns="0" rIns="0" bIns="0" rtlCol="0" anchor="ctr"/>
            <a:lstStyle/>
            <a:p>
              <a:pPr algn="l">
                <a:lnSpc>
                  <a:spcPts val="4799"/>
                </a:lnSpc>
              </a:pPr>
              <a:r>
                <a:rPr lang="en-US" sz="3999" b="1">
                  <a:solidFill>
                    <a:srgbClr val="B23A2E"/>
                  </a:solidFill>
                  <a:latin typeface="Arial Bold"/>
                  <a:ea typeface="Arial Bold"/>
                  <a:cs typeface="Arial Bold"/>
                  <a:sym typeface="Arial Bold"/>
                </a:rPr>
                <a:t>PHP 8.3.35</a:t>
              </a:r>
            </a:p>
          </p:txBody>
        </p:sp>
      </p:grpSp>
      <p:grpSp>
        <p:nvGrpSpPr>
          <p:cNvPr id="21" name="Group 21"/>
          <p:cNvGrpSpPr/>
          <p:nvPr/>
        </p:nvGrpSpPr>
        <p:grpSpPr>
          <a:xfrm>
            <a:off x="4169664" y="4315968"/>
            <a:ext cx="438912" cy="438912"/>
            <a:chOff x="0" y="0"/>
            <a:chExt cx="585216" cy="585216"/>
          </a:xfrm>
        </p:grpSpPr>
        <p:sp>
          <p:nvSpPr>
            <p:cNvPr id="22" name="Freeform 22" descr="preencoded.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5"/>
              <a:stretch>
                <a:fillRect/>
              </a:stretch>
            </a:blipFill>
          </p:spPr>
        </p:sp>
      </p:grpSp>
      <p:grpSp>
        <p:nvGrpSpPr>
          <p:cNvPr id="23" name="Group 23"/>
          <p:cNvGrpSpPr/>
          <p:nvPr/>
        </p:nvGrpSpPr>
        <p:grpSpPr>
          <a:xfrm>
            <a:off x="4846320" y="4114800"/>
            <a:ext cx="2926080" cy="822960"/>
            <a:chOff x="0" y="0"/>
            <a:chExt cx="3901440" cy="1097280"/>
          </a:xfrm>
        </p:grpSpPr>
        <p:sp>
          <p:nvSpPr>
            <p:cNvPr id="24" name="Freeform 24"/>
            <p:cNvSpPr/>
            <p:nvPr/>
          </p:nvSpPr>
          <p:spPr>
            <a:xfrm>
              <a:off x="0" y="0"/>
              <a:ext cx="3901440" cy="1097280"/>
            </a:xfrm>
            <a:custGeom>
              <a:avLst/>
              <a:gdLst/>
              <a:ahLst/>
              <a:cxnLst/>
              <a:rect l="l" t="t" r="r" b="b"/>
              <a:pathLst>
                <a:path w="3901440" h="1097280">
                  <a:moveTo>
                    <a:pt x="0" y="0"/>
                  </a:moveTo>
                  <a:lnTo>
                    <a:pt x="3901440" y="0"/>
                  </a:lnTo>
                  <a:lnTo>
                    <a:pt x="3901440" y="1097280"/>
                  </a:lnTo>
                  <a:lnTo>
                    <a:pt x="0" y="1097280"/>
                  </a:lnTo>
                  <a:close/>
                </a:path>
              </a:pathLst>
            </a:custGeom>
            <a:blipFill>
              <a:blip r:embed="rId3">
                <a:alphaModFix amt="0"/>
              </a:blip>
              <a:stretch>
                <a:fillRect t="-19280" b="-19280"/>
              </a:stretch>
            </a:blipFill>
          </p:spPr>
        </p:sp>
        <p:sp>
          <p:nvSpPr>
            <p:cNvPr id="25" name="TextBox 25"/>
            <p:cNvSpPr txBox="1"/>
            <p:nvPr/>
          </p:nvSpPr>
          <p:spPr>
            <a:xfrm>
              <a:off x="0" y="-9525"/>
              <a:ext cx="3901440" cy="1106805"/>
            </a:xfrm>
            <a:prstGeom prst="rect">
              <a:avLst/>
            </a:prstGeom>
          </p:spPr>
          <p:txBody>
            <a:bodyPr lIns="0" tIns="0" rIns="0" bIns="0" rtlCol="0" anchor="ctr"/>
            <a:lstStyle/>
            <a:p>
              <a:pPr algn="l">
                <a:lnSpc>
                  <a:spcPts val="4799"/>
                </a:lnSpc>
              </a:pPr>
              <a:r>
                <a:rPr lang="en-US" sz="3999" b="1">
                  <a:solidFill>
                    <a:srgbClr val="2F6B3A"/>
                  </a:solidFill>
                  <a:latin typeface="Arial Bold"/>
                  <a:ea typeface="Arial Bold"/>
                  <a:cs typeface="Arial Bold"/>
                  <a:sym typeface="Arial Bold"/>
                </a:rPr>
                <a:t>8.3.36</a:t>
              </a:r>
            </a:p>
          </p:txBody>
        </p:sp>
      </p:grpSp>
      <p:grpSp>
        <p:nvGrpSpPr>
          <p:cNvPr id="26" name="Group 26"/>
          <p:cNvGrpSpPr/>
          <p:nvPr/>
        </p:nvGrpSpPr>
        <p:grpSpPr>
          <a:xfrm>
            <a:off x="1316736" y="5212080"/>
            <a:ext cx="6949440" cy="475488"/>
            <a:chOff x="0" y="0"/>
            <a:chExt cx="9265920" cy="633984"/>
          </a:xfrm>
        </p:grpSpPr>
        <p:sp>
          <p:nvSpPr>
            <p:cNvPr id="27" name="Freeform 27"/>
            <p:cNvSpPr/>
            <p:nvPr/>
          </p:nvSpPr>
          <p:spPr>
            <a:xfrm>
              <a:off x="0" y="0"/>
              <a:ext cx="9265920" cy="633984"/>
            </a:xfrm>
            <a:custGeom>
              <a:avLst/>
              <a:gdLst/>
              <a:ahLst/>
              <a:cxnLst/>
              <a:rect l="l" t="t" r="r" b="b"/>
              <a:pathLst>
                <a:path w="9265920" h="633984">
                  <a:moveTo>
                    <a:pt x="0" y="0"/>
                  </a:moveTo>
                  <a:lnTo>
                    <a:pt x="9265920" y="0"/>
                  </a:lnTo>
                  <a:lnTo>
                    <a:pt x="9265920" y="633984"/>
                  </a:lnTo>
                  <a:lnTo>
                    <a:pt x="0" y="633984"/>
                  </a:lnTo>
                  <a:close/>
                </a:path>
              </a:pathLst>
            </a:custGeom>
            <a:blipFill>
              <a:blip r:embed="rId3">
                <a:alphaModFix amt="0"/>
              </a:blip>
              <a:stretch>
                <a:fillRect t="-234781" b="-234781"/>
              </a:stretch>
            </a:blipFill>
          </p:spPr>
        </p:sp>
        <p:sp>
          <p:nvSpPr>
            <p:cNvPr id="28" name="TextBox 28"/>
            <p:cNvSpPr txBox="1"/>
            <p:nvPr/>
          </p:nvSpPr>
          <p:spPr>
            <a:xfrm>
              <a:off x="0" y="-47625"/>
              <a:ext cx="9265920" cy="681609"/>
            </a:xfrm>
            <a:prstGeom prst="rect">
              <a:avLst/>
            </a:prstGeom>
          </p:spPr>
          <p:txBody>
            <a:bodyPr lIns="0" tIns="0" rIns="0" bIns="0" rtlCol="0" anchor="ctr"/>
            <a:lstStyle/>
            <a:p>
              <a:pPr algn="l">
                <a:lnSpc>
                  <a:spcPts val="2639"/>
                </a:lnSpc>
              </a:pPr>
              <a:r>
                <a:rPr lang="en-US" sz="2199" b="1">
                  <a:solidFill>
                    <a:srgbClr val="1A231C"/>
                  </a:solidFill>
                  <a:latin typeface="Calibri (MS) Bold"/>
                  <a:ea typeface="Calibri (MS) Bold"/>
                  <a:cs typeface="Calibri (MS) Bold"/>
                  <a:sym typeface="Calibri (MS) Bold"/>
                </a:rPr>
                <a:t>Only 3 files changed</a:t>
              </a:r>
            </a:p>
          </p:txBody>
        </p:sp>
      </p:grpSp>
      <p:grpSp>
        <p:nvGrpSpPr>
          <p:cNvPr id="29" name="Group 29"/>
          <p:cNvGrpSpPr/>
          <p:nvPr/>
        </p:nvGrpSpPr>
        <p:grpSpPr>
          <a:xfrm>
            <a:off x="1316736" y="5724144"/>
            <a:ext cx="6949440" cy="457200"/>
            <a:chOff x="0" y="0"/>
            <a:chExt cx="9265920" cy="609600"/>
          </a:xfrm>
        </p:grpSpPr>
        <p:sp>
          <p:nvSpPr>
            <p:cNvPr id="30" name="Freeform 30"/>
            <p:cNvSpPr/>
            <p:nvPr/>
          </p:nvSpPr>
          <p:spPr>
            <a:xfrm>
              <a:off x="0" y="0"/>
              <a:ext cx="9265920" cy="609600"/>
            </a:xfrm>
            <a:custGeom>
              <a:avLst/>
              <a:gdLst/>
              <a:ahLst/>
              <a:cxnLst/>
              <a:rect l="l" t="t" r="r" b="b"/>
              <a:pathLst>
                <a:path w="9265920" h="609600">
                  <a:moveTo>
                    <a:pt x="0" y="0"/>
                  </a:moveTo>
                  <a:lnTo>
                    <a:pt x="9265920" y="0"/>
                  </a:lnTo>
                  <a:lnTo>
                    <a:pt x="9265920" y="609600"/>
                  </a:lnTo>
                  <a:lnTo>
                    <a:pt x="0" y="609600"/>
                  </a:lnTo>
                  <a:close/>
                </a:path>
              </a:pathLst>
            </a:custGeom>
            <a:blipFill>
              <a:blip r:embed="rId3">
                <a:alphaModFix amt="0"/>
              </a:blip>
              <a:stretch>
                <a:fillRect t="-246172" b="-246172"/>
              </a:stretch>
            </a:blipFill>
          </p:spPr>
        </p:sp>
        <p:sp>
          <p:nvSpPr>
            <p:cNvPr id="31" name="TextBox 31"/>
            <p:cNvSpPr txBox="1"/>
            <p:nvPr/>
          </p:nvSpPr>
          <p:spPr>
            <a:xfrm>
              <a:off x="0" y="-9525"/>
              <a:ext cx="9265920" cy="619125"/>
            </a:xfrm>
            <a:prstGeom prst="rect">
              <a:avLst/>
            </a:prstGeom>
          </p:spPr>
          <p:txBody>
            <a:bodyPr lIns="0" tIns="0" rIns="0" bIns="0" rtlCol="0" anchor="ctr"/>
            <a:lstStyle/>
            <a:p>
              <a:pPr algn="l">
                <a:lnSpc>
                  <a:spcPts val="2520"/>
                </a:lnSpc>
              </a:pPr>
              <a:r>
                <a:rPr lang="en-US" sz="2100">
                  <a:solidFill>
                    <a:srgbClr val="5F6B62"/>
                  </a:solidFill>
                  <a:latin typeface="Courier New"/>
                  <a:ea typeface="Courier New"/>
                  <a:cs typeface="Courier New"/>
                  <a:sym typeface="Courier New"/>
                </a:rPr>
                <a:t>Dockerfile</a:t>
              </a:r>
            </a:p>
          </p:txBody>
        </p:sp>
      </p:grpSp>
      <p:grpSp>
        <p:nvGrpSpPr>
          <p:cNvPr id="32" name="Group 32"/>
          <p:cNvGrpSpPr/>
          <p:nvPr/>
        </p:nvGrpSpPr>
        <p:grpSpPr>
          <a:xfrm>
            <a:off x="1316736" y="6217920"/>
            <a:ext cx="6949440" cy="457200"/>
            <a:chOff x="0" y="0"/>
            <a:chExt cx="9265920" cy="609600"/>
          </a:xfrm>
        </p:grpSpPr>
        <p:sp>
          <p:nvSpPr>
            <p:cNvPr id="33" name="Freeform 33"/>
            <p:cNvSpPr/>
            <p:nvPr/>
          </p:nvSpPr>
          <p:spPr>
            <a:xfrm>
              <a:off x="0" y="0"/>
              <a:ext cx="9265920" cy="609600"/>
            </a:xfrm>
            <a:custGeom>
              <a:avLst/>
              <a:gdLst/>
              <a:ahLst/>
              <a:cxnLst/>
              <a:rect l="l" t="t" r="r" b="b"/>
              <a:pathLst>
                <a:path w="9265920" h="609600">
                  <a:moveTo>
                    <a:pt x="0" y="0"/>
                  </a:moveTo>
                  <a:lnTo>
                    <a:pt x="9265920" y="0"/>
                  </a:lnTo>
                  <a:lnTo>
                    <a:pt x="9265920" y="609600"/>
                  </a:lnTo>
                  <a:lnTo>
                    <a:pt x="0" y="609600"/>
                  </a:lnTo>
                  <a:close/>
                </a:path>
              </a:pathLst>
            </a:custGeom>
            <a:blipFill>
              <a:blip r:embed="rId3">
                <a:alphaModFix amt="0"/>
              </a:blip>
              <a:stretch>
                <a:fillRect t="-246172" b="-246172"/>
              </a:stretch>
            </a:blipFill>
          </p:spPr>
        </p:sp>
        <p:sp>
          <p:nvSpPr>
            <p:cNvPr id="34" name="TextBox 34"/>
            <p:cNvSpPr txBox="1"/>
            <p:nvPr/>
          </p:nvSpPr>
          <p:spPr>
            <a:xfrm>
              <a:off x="0" y="-9525"/>
              <a:ext cx="9265920" cy="619125"/>
            </a:xfrm>
            <a:prstGeom prst="rect">
              <a:avLst/>
            </a:prstGeom>
          </p:spPr>
          <p:txBody>
            <a:bodyPr lIns="0" tIns="0" rIns="0" bIns="0" rtlCol="0" anchor="ctr"/>
            <a:lstStyle/>
            <a:p>
              <a:pPr algn="l">
                <a:lnSpc>
                  <a:spcPts val="2520"/>
                </a:lnSpc>
              </a:pPr>
              <a:r>
                <a:rPr lang="en-US" sz="2100">
                  <a:solidFill>
                    <a:srgbClr val="5F6B62"/>
                  </a:solidFill>
                  <a:latin typeface="Courier New"/>
                  <a:ea typeface="Courier New"/>
                  <a:cs typeface="Courier New"/>
                  <a:sym typeface="Courier New"/>
                </a:rPr>
                <a:t>composer.json</a:t>
              </a:r>
            </a:p>
          </p:txBody>
        </p:sp>
      </p:grpSp>
      <p:grpSp>
        <p:nvGrpSpPr>
          <p:cNvPr id="35" name="Group 35"/>
          <p:cNvGrpSpPr/>
          <p:nvPr/>
        </p:nvGrpSpPr>
        <p:grpSpPr>
          <a:xfrm>
            <a:off x="1316736" y="6711696"/>
            <a:ext cx="6949440" cy="457200"/>
            <a:chOff x="0" y="0"/>
            <a:chExt cx="9265920" cy="609600"/>
          </a:xfrm>
        </p:grpSpPr>
        <p:sp>
          <p:nvSpPr>
            <p:cNvPr id="36" name="Freeform 36"/>
            <p:cNvSpPr/>
            <p:nvPr/>
          </p:nvSpPr>
          <p:spPr>
            <a:xfrm>
              <a:off x="0" y="0"/>
              <a:ext cx="9265920" cy="609600"/>
            </a:xfrm>
            <a:custGeom>
              <a:avLst/>
              <a:gdLst/>
              <a:ahLst/>
              <a:cxnLst/>
              <a:rect l="l" t="t" r="r" b="b"/>
              <a:pathLst>
                <a:path w="9265920" h="609600">
                  <a:moveTo>
                    <a:pt x="0" y="0"/>
                  </a:moveTo>
                  <a:lnTo>
                    <a:pt x="9265920" y="0"/>
                  </a:lnTo>
                  <a:lnTo>
                    <a:pt x="9265920" y="609600"/>
                  </a:lnTo>
                  <a:lnTo>
                    <a:pt x="0" y="609600"/>
                  </a:lnTo>
                  <a:close/>
                </a:path>
              </a:pathLst>
            </a:custGeom>
            <a:blipFill>
              <a:blip r:embed="rId3">
                <a:alphaModFix amt="0"/>
              </a:blip>
              <a:stretch>
                <a:fillRect t="-246172" b="-246172"/>
              </a:stretch>
            </a:blipFill>
          </p:spPr>
        </p:sp>
        <p:sp>
          <p:nvSpPr>
            <p:cNvPr id="37" name="TextBox 37"/>
            <p:cNvSpPr txBox="1"/>
            <p:nvPr/>
          </p:nvSpPr>
          <p:spPr>
            <a:xfrm>
              <a:off x="0" y="-9525"/>
              <a:ext cx="9265920" cy="619125"/>
            </a:xfrm>
            <a:prstGeom prst="rect">
              <a:avLst/>
            </a:prstGeom>
          </p:spPr>
          <p:txBody>
            <a:bodyPr lIns="0" tIns="0" rIns="0" bIns="0" rtlCol="0" anchor="ctr"/>
            <a:lstStyle/>
            <a:p>
              <a:pPr algn="l">
                <a:lnSpc>
                  <a:spcPts val="2520"/>
                </a:lnSpc>
              </a:pPr>
              <a:r>
                <a:rPr lang="en-US" sz="2100">
                  <a:solidFill>
                    <a:srgbClr val="5F6B62"/>
                  </a:solidFill>
                  <a:latin typeface="Courier New"/>
                  <a:ea typeface="Courier New"/>
                  <a:cs typeface="Courier New"/>
                  <a:sym typeface="Courier New"/>
                </a:rPr>
                <a:t>config/security.ini</a:t>
              </a:r>
            </a:p>
          </p:txBody>
        </p:sp>
      </p:grpSp>
      <p:sp>
        <p:nvSpPr>
          <p:cNvPr id="38" name="TextBox 38"/>
          <p:cNvSpPr txBox="1"/>
          <p:nvPr/>
        </p:nvSpPr>
        <p:spPr>
          <a:xfrm>
            <a:off x="1316736" y="7277100"/>
            <a:ext cx="7132320" cy="952500"/>
          </a:xfrm>
          <a:prstGeom prst="rect">
            <a:avLst/>
          </a:prstGeom>
        </p:spPr>
        <p:txBody>
          <a:bodyPr lIns="0" tIns="0" rIns="0" bIns="0" rtlCol="0" anchor="t">
            <a:spAutoFit/>
          </a:bodyPr>
          <a:lstStyle/>
          <a:p>
            <a:pPr algn="l">
              <a:lnSpc>
                <a:spcPts val="2400"/>
              </a:lnSpc>
            </a:pPr>
            <a:r>
              <a:rPr lang="en-US" sz="2000">
                <a:solidFill>
                  <a:srgbClr val="5F6B62"/>
                </a:solidFill>
                <a:latin typeface="Calibri (MS)"/>
                <a:ea typeface="Calibri (MS)"/>
                <a:cs typeface="Calibri (MS)"/>
                <a:sym typeface="Calibri (MS)"/>
              </a:rPr>
              <a:t>Verifier frozen: SHA-256 1273fbfe...0f30, unchanged by the fix</a:t>
            </a:r>
          </a:p>
        </p:txBody>
      </p:sp>
      <p:grpSp>
        <p:nvGrpSpPr>
          <p:cNvPr id="39" name="Group 39"/>
          <p:cNvGrpSpPr/>
          <p:nvPr/>
        </p:nvGrpSpPr>
        <p:grpSpPr>
          <a:xfrm>
            <a:off x="9326880" y="2377440"/>
            <a:ext cx="4023360" cy="1188720"/>
            <a:chOff x="0" y="0"/>
            <a:chExt cx="5364480" cy="1584960"/>
          </a:xfrm>
        </p:grpSpPr>
        <p:sp>
          <p:nvSpPr>
            <p:cNvPr id="40" name="Freeform 40"/>
            <p:cNvSpPr/>
            <p:nvPr/>
          </p:nvSpPr>
          <p:spPr>
            <a:xfrm>
              <a:off x="0" y="0"/>
              <a:ext cx="5364480" cy="1584960"/>
            </a:xfrm>
            <a:custGeom>
              <a:avLst/>
              <a:gdLst/>
              <a:ahLst/>
              <a:cxnLst/>
              <a:rect l="l" t="t" r="r" b="b"/>
              <a:pathLst>
                <a:path w="5364480" h="1584960">
                  <a:moveTo>
                    <a:pt x="0" y="0"/>
                  </a:moveTo>
                  <a:lnTo>
                    <a:pt x="5364480" y="0"/>
                  </a:lnTo>
                  <a:lnTo>
                    <a:pt x="5364480" y="1584960"/>
                  </a:lnTo>
                  <a:lnTo>
                    <a:pt x="0" y="1584960"/>
                  </a:lnTo>
                  <a:close/>
                </a:path>
              </a:pathLst>
            </a:custGeom>
            <a:blipFill>
              <a:blip r:embed="rId3">
                <a:alphaModFix amt="0"/>
              </a:blip>
              <a:stretch>
                <a:fillRect t="-15949" b="-15949"/>
              </a:stretch>
            </a:blipFill>
          </p:spPr>
        </p:sp>
        <p:sp>
          <p:nvSpPr>
            <p:cNvPr id="41" name="TextBox 41"/>
            <p:cNvSpPr txBox="1"/>
            <p:nvPr/>
          </p:nvSpPr>
          <p:spPr>
            <a:xfrm>
              <a:off x="0" y="-28575"/>
              <a:ext cx="5364480" cy="1613535"/>
            </a:xfrm>
            <a:prstGeom prst="rect">
              <a:avLst/>
            </a:prstGeom>
          </p:spPr>
          <p:txBody>
            <a:bodyPr lIns="0" tIns="0" rIns="0" bIns="0" rtlCol="0" anchor="ctr"/>
            <a:lstStyle/>
            <a:p>
              <a:pPr algn="l">
                <a:lnSpc>
                  <a:spcPts val="8640"/>
                </a:lnSpc>
              </a:pPr>
              <a:r>
                <a:rPr lang="en-US" sz="7200" b="1">
                  <a:solidFill>
                    <a:srgbClr val="2F6B3A"/>
                  </a:solidFill>
                  <a:latin typeface="Arial Bold"/>
                  <a:ea typeface="Arial Bold"/>
                  <a:cs typeface="Arial Bold"/>
                  <a:sym typeface="Arial Bold"/>
                </a:rPr>
                <a:t>15 / 15</a:t>
              </a:r>
            </a:p>
          </p:txBody>
        </p:sp>
      </p:grpSp>
      <p:grpSp>
        <p:nvGrpSpPr>
          <p:cNvPr id="42" name="Group 42"/>
          <p:cNvGrpSpPr/>
          <p:nvPr/>
        </p:nvGrpSpPr>
        <p:grpSpPr>
          <a:xfrm>
            <a:off x="12527280" y="2523744"/>
            <a:ext cx="4846320" cy="1005840"/>
            <a:chOff x="0" y="0"/>
            <a:chExt cx="6461760" cy="1341120"/>
          </a:xfrm>
        </p:grpSpPr>
        <p:sp>
          <p:nvSpPr>
            <p:cNvPr id="43" name="Freeform 43"/>
            <p:cNvSpPr/>
            <p:nvPr/>
          </p:nvSpPr>
          <p:spPr>
            <a:xfrm>
              <a:off x="0" y="0"/>
              <a:ext cx="6461760" cy="1341120"/>
            </a:xfrm>
            <a:custGeom>
              <a:avLst/>
              <a:gdLst/>
              <a:ahLst/>
              <a:cxnLst/>
              <a:rect l="l" t="t" r="r" b="b"/>
              <a:pathLst>
                <a:path w="6461760" h="1341120">
                  <a:moveTo>
                    <a:pt x="0" y="0"/>
                  </a:moveTo>
                  <a:lnTo>
                    <a:pt x="6461760" y="0"/>
                  </a:lnTo>
                  <a:lnTo>
                    <a:pt x="6461760" y="1341120"/>
                  </a:lnTo>
                  <a:lnTo>
                    <a:pt x="0" y="1341120"/>
                  </a:lnTo>
                  <a:close/>
                </a:path>
              </a:pathLst>
            </a:custGeom>
            <a:blipFill>
              <a:blip r:embed="rId3">
                <a:alphaModFix amt="0"/>
              </a:blip>
              <a:stretch>
                <a:fillRect t="-43882" b="-43882"/>
              </a:stretch>
            </a:blipFill>
          </p:spPr>
        </p:sp>
        <p:sp>
          <p:nvSpPr>
            <p:cNvPr id="44" name="TextBox 44"/>
            <p:cNvSpPr txBox="1"/>
            <p:nvPr/>
          </p:nvSpPr>
          <p:spPr>
            <a:xfrm>
              <a:off x="0" y="-47625"/>
              <a:ext cx="6461760" cy="1388745"/>
            </a:xfrm>
            <a:prstGeom prst="rect">
              <a:avLst/>
            </a:prstGeom>
          </p:spPr>
          <p:txBody>
            <a:bodyPr lIns="0" tIns="0" rIns="0" bIns="0" rtlCol="0" anchor="ctr"/>
            <a:lstStyle/>
            <a:p>
              <a:pPr algn="l">
                <a:lnSpc>
                  <a:spcPts val="2760"/>
                </a:lnSpc>
              </a:pPr>
              <a:r>
                <a:rPr lang="en-US" sz="2300" b="1">
                  <a:solidFill>
                    <a:srgbClr val="1A231C"/>
                  </a:solidFill>
                  <a:latin typeface="Calibri (MS) Bold"/>
                  <a:ea typeface="Calibri (MS) Bold"/>
                  <a:cs typeface="Calibri (MS) Bold"/>
                  <a:sym typeface="Calibri (MS) Bold"/>
                </a:rPr>
                <a:t>business checks passed in the candidate CI run</a:t>
              </a:r>
            </a:p>
          </p:txBody>
        </p:sp>
      </p:grpSp>
      <p:grpSp>
        <p:nvGrpSpPr>
          <p:cNvPr id="45" name="Group 45"/>
          <p:cNvGrpSpPr/>
          <p:nvPr/>
        </p:nvGrpSpPr>
        <p:grpSpPr>
          <a:xfrm>
            <a:off x="9314183" y="3827783"/>
            <a:ext cx="574043" cy="574043"/>
            <a:chOff x="0" y="0"/>
            <a:chExt cx="765391" cy="765391"/>
          </a:xfrm>
        </p:grpSpPr>
        <p:sp>
          <p:nvSpPr>
            <p:cNvPr id="46" name="Freeform 46"/>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D7EBAE"/>
            </a:solidFill>
            <a:ln w="25400" cap="sq">
              <a:solidFill>
                <a:srgbClr val="D7EBAE"/>
              </a:solidFill>
              <a:prstDash val="solid"/>
              <a:miter/>
            </a:ln>
          </p:spPr>
        </p:sp>
      </p:grpSp>
      <p:grpSp>
        <p:nvGrpSpPr>
          <p:cNvPr id="47" name="Group 47"/>
          <p:cNvGrpSpPr/>
          <p:nvPr/>
        </p:nvGrpSpPr>
        <p:grpSpPr>
          <a:xfrm>
            <a:off x="9458554" y="3972154"/>
            <a:ext cx="285293" cy="285293"/>
            <a:chOff x="0" y="0"/>
            <a:chExt cx="380390" cy="380390"/>
          </a:xfrm>
        </p:grpSpPr>
        <p:sp>
          <p:nvSpPr>
            <p:cNvPr id="48" name="Freeform 48" descr="preencoded.png"/>
            <p:cNvSpPr/>
            <p:nvPr/>
          </p:nvSpPr>
          <p:spPr>
            <a:xfrm>
              <a:off x="0" y="0"/>
              <a:ext cx="380365" cy="380365"/>
            </a:xfrm>
            <a:custGeom>
              <a:avLst/>
              <a:gdLst/>
              <a:ahLst/>
              <a:cxnLst/>
              <a:rect l="l" t="t" r="r" b="b"/>
              <a:pathLst>
                <a:path w="380365" h="380365">
                  <a:moveTo>
                    <a:pt x="0" y="0"/>
                  </a:moveTo>
                  <a:lnTo>
                    <a:pt x="380365" y="0"/>
                  </a:lnTo>
                  <a:lnTo>
                    <a:pt x="380365" y="380365"/>
                  </a:lnTo>
                  <a:lnTo>
                    <a:pt x="0" y="380365"/>
                  </a:lnTo>
                  <a:lnTo>
                    <a:pt x="0" y="0"/>
                  </a:lnTo>
                  <a:close/>
                </a:path>
              </a:pathLst>
            </a:custGeom>
            <a:blipFill>
              <a:blip r:embed="rId6"/>
              <a:stretch>
                <a:fillRect r="-6" b="-6"/>
              </a:stretch>
            </a:blipFill>
          </p:spPr>
        </p:sp>
      </p:grpSp>
      <p:grpSp>
        <p:nvGrpSpPr>
          <p:cNvPr id="49" name="Group 49"/>
          <p:cNvGrpSpPr/>
          <p:nvPr/>
        </p:nvGrpSpPr>
        <p:grpSpPr>
          <a:xfrm>
            <a:off x="10094976" y="3840480"/>
            <a:ext cx="7315200" cy="548640"/>
            <a:chOff x="0" y="0"/>
            <a:chExt cx="9753600" cy="731520"/>
          </a:xfrm>
        </p:grpSpPr>
        <p:sp>
          <p:nvSpPr>
            <p:cNvPr id="50" name="Freeform 50"/>
            <p:cNvSpPr/>
            <p:nvPr/>
          </p:nvSpPr>
          <p:spPr>
            <a:xfrm>
              <a:off x="0" y="0"/>
              <a:ext cx="9753600" cy="731520"/>
            </a:xfrm>
            <a:custGeom>
              <a:avLst/>
              <a:gdLst/>
              <a:ahLst/>
              <a:cxnLst/>
              <a:rect l="l" t="t" r="r" b="b"/>
              <a:pathLst>
                <a:path w="9753600" h="731520">
                  <a:moveTo>
                    <a:pt x="0" y="0"/>
                  </a:moveTo>
                  <a:lnTo>
                    <a:pt x="9753600" y="0"/>
                  </a:lnTo>
                  <a:lnTo>
                    <a:pt x="9753600" y="731520"/>
                  </a:lnTo>
                  <a:lnTo>
                    <a:pt x="0" y="731520"/>
                  </a:lnTo>
                  <a:close/>
                </a:path>
              </a:pathLst>
            </a:custGeom>
            <a:blipFill>
              <a:blip r:embed="rId3">
                <a:alphaModFix amt="0"/>
              </a:blip>
              <a:stretch>
                <a:fillRect t="-209800" b="-209800"/>
              </a:stretch>
            </a:blipFill>
          </p:spPr>
        </p:sp>
        <p:sp>
          <p:nvSpPr>
            <p:cNvPr id="51" name="TextBox 51"/>
            <p:cNvSpPr txBox="1"/>
            <p:nvPr/>
          </p:nvSpPr>
          <p:spPr>
            <a:xfrm>
              <a:off x="0" y="-47625"/>
              <a:ext cx="9753600" cy="779145"/>
            </a:xfrm>
            <a:prstGeom prst="rect">
              <a:avLst/>
            </a:prstGeom>
          </p:spPr>
          <p:txBody>
            <a:bodyPr lIns="0" tIns="0" rIns="0" bIns="0" rtlCol="0" anchor="ctr"/>
            <a:lstStyle/>
            <a:p>
              <a:pPr algn="l">
                <a:lnSpc>
                  <a:spcPts val="2760"/>
                </a:lnSpc>
              </a:pPr>
              <a:r>
                <a:rPr lang="en-US" sz="2300">
                  <a:solidFill>
                    <a:srgbClr val="1A231C"/>
                  </a:solidFill>
                  <a:latin typeface="Calibri (MS)"/>
                  <a:ea typeface="Calibri (MS)"/>
                  <a:cs typeface="Calibri (MS)"/>
                  <a:sym typeface="Calibri (MS)"/>
                </a:rPr>
                <a:t>Japanese UTF-8 product names survive</a:t>
              </a:r>
            </a:p>
          </p:txBody>
        </p:sp>
      </p:grpSp>
      <p:grpSp>
        <p:nvGrpSpPr>
          <p:cNvPr id="52" name="Group 52"/>
          <p:cNvGrpSpPr/>
          <p:nvPr/>
        </p:nvGrpSpPr>
        <p:grpSpPr>
          <a:xfrm>
            <a:off x="9314183" y="4559303"/>
            <a:ext cx="574043" cy="574043"/>
            <a:chOff x="0" y="0"/>
            <a:chExt cx="765391" cy="765391"/>
          </a:xfrm>
        </p:grpSpPr>
        <p:sp>
          <p:nvSpPr>
            <p:cNvPr id="53" name="Freeform 53"/>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D7EBAE"/>
            </a:solidFill>
            <a:ln w="25400" cap="sq">
              <a:solidFill>
                <a:srgbClr val="D7EBAE"/>
              </a:solidFill>
              <a:prstDash val="solid"/>
              <a:miter/>
            </a:ln>
          </p:spPr>
        </p:sp>
      </p:grpSp>
      <p:grpSp>
        <p:nvGrpSpPr>
          <p:cNvPr id="54" name="Group 54"/>
          <p:cNvGrpSpPr/>
          <p:nvPr/>
        </p:nvGrpSpPr>
        <p:grpSpPr>
          <a:xfrm>
            <a:off x="9458554" y="4703674"/>
            <a:ext cx="285293" cy="285293"/>
            <a:chOff x="0" y="0"/>
            <a:chExt cx="380390" cy="380390"/>
          </a:xfrm>
        </p:grpSpPr>
        <p:sp>
          <p:nvSpPr>
            <p:cNvPr id="55" name="Freeform 55" descr="preencoded.png"/>
            <p:cNvSpPr/>
            <p:nvPr/>
          </p:nvSpPr>
          <p:spPr>
            <a:xfrm>
              <a:off x="0" y="0"/>
              <a:ext cx="380365" cy="380365"/>
            </a:xfrm>
            <a:custGeom>
              <a:avLst/>
              <a:gdLst/>
              <a:ahLst/>
              <a:cxnLst/>
              <a:rect l="l" t="t" r="r" b="b"/>
              <a:pathLst>
                <a:path w="380365" h="380365">
                  <a:moveTo>
                    <a:pt x="0" y="0"/>
                  </a:moveTo>
                  <a:lnTo>
                    <a:pt x="380365" y="0"/>
                  </a:lnTo>
                  <a:lnTo>
                    <a:pt x="380365" y="380365"/>
                  </a:lnTo>
                  <a:lnTo>
                    <a:pt x="0" y="380365"/>
                  </a:lnTo>
                  <a:lnTo>
                    <a:pt x="0" y="0"/>
                  </a:lnTo>
                  <a:close/>
                </a:path>
              </a:pathLst>
            </a:custGeom>
            <a:blipFill>
              <a:blip r:embed="rId6"/>
              <a:stretch>
                <a:fillRect r="-6" b="-6"/>
              </a:stretch>
            </a:blipFill>
          </p:spPr>
        </p:sp>
      </p:grpSp>
      <p:grpSp>
        <p:nvGrpSpPr>
          <p:cNvPr id="56" name="Group 56"/>
          <p:cNvGrpSpPr/>
          <p:nvPr/>
        </p:nvGrpSpPr>
        <p:grpSpPr>
          <a:xfrm>
            <a:off x="10094976" y="4572000"/>
            <a:ext cx="7315200" cy="548640"/>
            <a:chOff x="0" y="0"/>
            <a:chExt cx="9753600" cy="731520"/>
          </a:xfrm>
        </p:grpSpPr>
        <p:sp>
          <p:nvSpPr>
            <p:cNvPr id="57" name="Freeform 57"/>
            <p:cNvSpPr/>
            <p:nvPr/>
          </p:nvSpPr>
          <p:spPr>
            <a:xfrm>
              <a:off x="0" y="0"/>
              <a:ext cx="9753600" cy="731520"/>
            </a:xfrm>
            <a:custGeom>
              <a:avLst/>
              <a:gdLst/>
              <a:ahLst/>
              <a:cxnLst/>
              <a:rect l="l" t="t" r="r" b="b"/>
              <a:pathLst>
                <a:path w="9753600" h="731520">
                  <a:moveTo>
                    <a:pt x="0" y="0"/>
                  </a:moveTo>
                  <a:lnTo>
                    <a:pt x="9753600" y="0"/>
                  </a:lnTo>
                  <a:lnTo>
                    <a:pt x="9753600" y="731520"/>
                  </a:lnTo>
                  <a:lnTo>
                    <a:pt x="0" y="731520"/>
                  </a:lnTo>
                  <a:close/>
                </a:path>
              </a:pathLst>
            </a:custGeom>
            <a:blipFill>
              <a:blip r:embed="rId3">
                <a:alphaModFix amt="0"/>
              </a:blip>
              <a:stretch>
                <a:fillRect t="-209800" b="-209800"/>
              </a:stretch>
            </a:blipFill>
          </p:spPr>
        </p:sp>
        <p:sp>
          <p:nvSpPr>
            <p:cNvPr id="58" name="TextBox 58"/>
            <p:cNvSpPr txBox="1"/>
            <p:nvPr/>
          </p:nvSpPr>
          <p:spPr>
            <a:xfrm>
              <a:off x="0" y="-47625"/>
              <a:ext cx="9753600" cy="779145"/>
            </a:xfrm>
            <a:prstGeom prst="rect">
              <a:avLst/>
            </a:prstGeom>
          </p:spPr>
          <p:txBody>
            <a:bodyPr lIns="0" tIns="0" rIns="0" bIns="0" rtlCol="0" anchor="ctr"/>
            <a:lstStyle/>
            <a:p>
              <a:pPr algn="l">
                <a:lnSpc>
                  <a:spcPts val="2760"/>
                </a:lnSpc>
              </a:pPr>
              <a:r>
                <a:rPr lang="en-US" sz="2300">
                  <a:solidFill>
                    <a:srgbClr val="1A231C"/>
                  </a:solidFill>
                  <a:latin typeface="Calibri (MS)"/>
                  <a:ea typeface="Calibri (MS)"/>
                  <a:cs typeface="Calibri (MS)"/>
                  <a:sym typeface="Calibri (MS)"/>
                </a:rPr>
                <a:t>Two matcha sets total exactly ¥4,800</a:t>
              </a:r>
            </a:p>
          </p:txBody>
        </p:sp>
      </p:grpSp>
      <p:grpSp>
        <p:nvGrpSpPr>
          <p:cNvPr id="59" name="Group 59"/>
          <p:cNvGrpSpPr/>
          <p:nvPr/>
        </p:nvGrpSpPr>
        <p:grpSpPr>
          <a:xfrm>
            <a:off x="9314183" y="5290823"/>
            <a:ext cx="574043" cy="574043"/>
            <a:chOff x="0" y="0"/>
            <a:chExt cx="765391" cy="765391"/>
          </a:xfrm>
        </p:grpSpPr>
        <p:sp>
          <p:nvSpPr>
            <p:cNvPr id="60" name="Freeform 60"/>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D7EBAE"/>
            </a:solidFill>
            <a:ln w="25400" cap="sq">
              <a:solidFill>
                <a:srgbClr val="D7EBAE"/>
              </a:solidFill>
              <a:prstDash val="solid"/>
              <a:miter/>
            </a:ln>
          </p:spPr>
        </p:sp>
      </p:grpSp>
      <p:grpSp>
        <p:nvGrpSpPr>
          <p:cNvPr id="61" name="Group 61"/>
          <p:cNvGrpSpPr/>
          <p:nvPr/>
        </p:nvGrpSpPr>
        <p:grpSpPr>
          <a:xfrm>
            <a:off x="9458554" y="5435194"/>
            <a:ext cx="285293" cy="285293"/>
            <a:chOff x="0" y="0"/>
            <a:chExt cx="380390" cy="380390"/>
          </a:xfrm>
        </p:grpSpPr>
        <p:sp>
          <p:nvSpPr>
            <p:cNvPr id="62" name="Freeform 62" descr="preencoded.png"/>
            <p:cNvSpPr/>
            <p:nvPr/>
          </p:nvSpPr>
          <p:spPr>
            <a:xfrm>
              <a:off x="0" y="0"/>
              <a:ext cx="380365" cy="380365"/>
            </a:xfrm>
            <a:custGeom>
              <a:avLst/>
              <a:gdLst/>
              <a:ahLst/>
              <a:cxnLst/>
              <a:rect l="l" t="t" r="r" b="b"/>
              <a:pathLst>
                <a:path w="380365" h="380365">
                  <a:moveTo>
                    <a:pt x="0" y="0"/>
                  </a:moveTo>
                  <a:lnTo>
                    <a:pt x="380365" y="0"/>
                  </a:lnTo>
                  <a:lnTo>
                    <a:pt x="380365" y="380365"/>
                  </a:lnTo>
                  <a:lnTo>
                    <a:pt x="0" y="380365"/>
                  </a:lnTo>
                  <a:lnTo>
                    <a:pt x="0" y="0"/>
                  </a:lnTo>
                  <a:close/>
                </a:path>
              </a:pathLst>
            </a:custGeom>
            <a:blipFill>
              <a:blip r:embed="rId6"/>
              <a:stretch>
                <a:fillRect r="-6" b="-6"/>
              </a:stretch>
            </a:blipFill>
          </p:spPr>
        </p:sp>
      </p:grpSp>
      <p:grpSp>
        <p:nvGrpSpPr>
          <p:cNvPr id="63" name="Group 63"/>
          <p:cNvGrpSpPr/>
          <p:nvPr/>
        </p:nvGrpSpPr>
        <p:grpSpPr>
          <a:xfrm>
            <a:off x="10094976" y="5303520"/>
            <a:ext cx="7315200" cy="548640"/>
            <a:chOff x="0" y="0"/>
            <a:chExt cx="9753600" cy="731520"/>
          </a:xfrm>
        </p:grpSpPr>
        <p:sp>
          <p:nvSpPr>
            <p:cNvPr id="64" name="Freeform 64"/>
            <p:cNvSpPr/>
            <p:nvPr/>
          </p:nvSpPr>
          <p:spPr>
            <a:xfrm>
              <a:off x="0" y="0"/>
              <a:ext cx="9753600" cy="731520"/>
            </a:xfrm>
            <a:custGeom>
              <a:avLst/>
              <a:gdLst/>
              <a:ahLst/>
              <a:cxnLst/>
              <a:rect l="l" t="t" r="r" b="b"/>
              <a:pathLst>
                <a:path w="9753600" h="731520">
                  <a:moveTo>
                    <a:pt x="0" y="0"/>
                  </a:moveTo>
                  <a:lnTo>
                    <a:pt x="9753600" y="0"/>
                  </a:lnTo>
                  <a:lnTo>
                    <a:pt x="9753600" y="731520"/>
                  </a:lnTo>
                  <a:lnTo>
                    <a:pt x="0" y="731520"/>
                  </a:lnTo>
                  <a:close/>
                </a:path>
              </a:pathLst>
            </a:custGeom>
            <a:blipFill>
              <a:blip r:embed="rId3">
                <a:alphaModFix amt="0"/>
              </a:blip>
              <a:stretch>
                <a:fillRect t="-209800" b="-209800"/>
              </a:stretch>
            </a:blipFill>
          </p:spPr>
        </p:sp>
        <p:sp>
          <p:nvSpPr>
            <p:cNvPr id="65" name="TextBox 65"/>
            <p:cNvSpPr txBox="1"/>
            <p:nvPr/>
          </p:nvSpPr>
          <p:spPr>
            <a:xfrm>
              <a:off x="0" y="-47625"/>
              <a:ext cx="9753600" cy="779145"/>
            </a:xfrm>
            <a:prstGeom prst="rect">
              <a:avLst/>
            </a:prstGeom>
          </p:spPr>
          <p:txBody>
            <a:bodyPr lIns="0" tIns="0" rIns="0" bIns="0" rtlCol="0" anchor="ctr"/>
            <a:lstStyle/>
            <a:p>
              <a:pPr algn="l">
                <a:lnSpc>
                  <a:spcPts val="2760"/>
                </a:lnSpc>
              </a:pPr>
              <a:r>
                <a:rPr lang="en-US" sz="2300">
                  <a:solidFill>
                    <a:srgbClr val="1A231C"/>
                  </a:solidFill>
                  <a:latin typeface="Calibri (MS)"/>
                  <a:ea typeface="Calibri (MS)"/>
                  <a:cs typeface="Calibri (MS)"/>
                  <a:sym typeface="Calibri (MS)"/>
                </a:rPr>
                <a:t>Tokyo customer can read own order</a:t>
              </a:r>
            </a:p>
          </p:txBody>
        </p:sp>
      </p:grpSp>
      <p:grpSp>
        <p:nvGrpSpPr>
          <p:cNvPr id="66" name="Group 66"/>
          <p:cNvGrpSpPr/>
          <p:nvPr/>
        </p:nvGrpSpPr>
        <p:grpSpPr>
          <a:xfrm>
            <a:off x="9314183" y="6022343"/>
            <a:ext cx="574043" cy="574043"/>
            <a:chOff x="0" y="0"/>
            <a:chExt cx="765391" cy="765391"/>
          </a:xfrm>
        </p:grpSpPr>
        <p:sp>
          <p:nvSpPr>
            <p:cNvPr id="67" name="Freeform 67"/>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D7EBAE"/>
            </a:solidFill>
            <a:ln w="25400" cap="sq">
              <a:solidFill>
                <a:srgbClr val="D7EBAE"/>
              </a:solidFill>
              <a:prstDash val="solid"/>
              <a:miter/>
            </a:ln>
          </p:spPr>
        </p:sp>
      </p:grpSp>
      <p:grpSp>
        <p:nvGrpSpPr>
          <p:cNvPr id="68" name="Group 68"/>
          <p:cNvGrpSpPr/>
          <p:nvPr/>
        </p:nvGrpSpPr>
        <p:grpSpPr>
          <a:xfrm>
            <a:off x="9458554" y="6166714"/>
            <a:ext cx="285293" cy="285293"/>
            <a:chOff x="0" y="0"/>
            <a:chExt cx="380390" cy="380390"/>
          </a:xfrm>
        </p:grpSpPr>
        <p:sp>
          <p:nvSpPr>
            <p:cNvPr id="69" name="Freeform 69" descr="preencoded.png"/>
            <p:cNvSpPr/>
            <p:nvPr/>
          </p:nvSpPr>
          <p:spPr>
            <a:xfrm>
              <a:off x="0" y="0"/>
              <a:ext cx="380365" cy="380365"/>
            </a:xfrm>
            <a:custGeom>
              <a:avLst/>
              <a:gdLst/>
              <a:ahLst/>
              <a:cxnLst/>
              <a:rect l="l" t="t" r="r" b="b"/>
              <a:pathLst>
                <a:path w="380365" h="380365">
                  <a:moveTo>
                    <a:pt x="0" y="0"/>
                  </a:moveTo>
                  <a:lnTo>
                    <a:pt x="380365" y="0"/>
                  </a:lnTo>
                  <a:lnTo>
                    <a:pt x="380365" y="380365"/>
                  </a:lnTo>
                  <a:lnTo>
                    <a:pt x="0" y="380365"/>
                  </a:lnTo>
                  <a:lnTo>
                    <a:pt x="0" y="0"/>
                  </a:lnTo>
                  <a:close/>
                </a:path>
              </a:pathLst>
            </a:custGeom>
            <a:blipFill>
              <a:blip r:embed="rId6"/>
              <a:stretch>
                <a:fillRect r="-6" b="-6"/>
              </a:stretch>
            </a:blipFill>
          </p:spPr>
        </p:sp>
      </p:grpSp>
      <p:grpSp>
        <p:nvGrpSpPr>
          <p:cNvPr id="70" name="Group 70"/>
          <p:cNvGrpSpPr/>
          <p:nvPr/>
        </p:nvGrpSpPr>
        <p:grpSpPr>
          <a:xfrm>
            <a:off x="10094976" y="6035040"/>
            <a:ext cx="7315200" cy="548640"/>
            <a:chOff x="0" y="0"/>
            <a:chExt cx="9753600" cy="731520"/>
          </a:xfrm>
        </p:grpSpPr>
        <p:sp>
          <p:nvSpPr>
            <p:cNvPr id="71" name="Freeform 71"/>
            <p:cNvSpPr/>
            <p:nvPr/>
          </p:nvSpPr>
          <p:spPr>
            <a:xfrm>
              <a:off x="0" y="0"/>
              <a:ext cx="9753600" cy="731520"/>
            </a:xfrm>
            <a:custGeom>
              <a:avLst/>
              <a:gdLst/>
              <a:ahLst/>
              <a:cxnLst/>
              <a:rect l="l" t="t" r="r" b="b"/>
              <a:pathLst>
                <a:path w="9753600" h="731520">
                  <a:moveTo>
                    <a:pt x="0" y="0"/>
                  </a:moveTo>
                  <a:lnTo>
                    <a:pt x="9753600" y="0"/>
                  </a:lnTo>
                  <a:lnTo>
                    <a:pt x="9753600" y="731520"/>
                  </a:lnTo>
                  <a:lnTo>
                    <a:pt x="0" y="731520"/>
                  </a:lnTo>
                  <a:close/>
                </a:path>
              </a:pathLst>
            </a:custGeom>
            <a:blipFill>
              <a:blip r:embed="rId3">
                <a:alphaModFix amt="0"/>
              </a:blip>
              <a:stretch>
                <a:fillRect t="-209800" b="-209800"/>
              </a:stretch>
            </a:blipFill>
          </p:spPr>
        </p:sp>
        <p:sp>
          <p:nvSpPr>
            <p:cNvPr id="72" name="TextBox 72"/>
            <p:cNvSpPr txBox="1"/>
            <p:nvPr/>
          </p:nvSpPr>
          <p:spPr>
            <a:xfrm>
              <a:off x="0" y="-47625"/>
              <a:ext cx="9753600" cy="779145"/>
            </a:xfrm>
            <a:prstGeom prst="rect">
              <a:avLst/>
            </a:prstGeom>
          </p:spPr>
          <p:txBody>
            <a:bodyPr lIns="0" tIns="0" rIns="0" bIns="0" rtlCol="0" anchor="ctr"/>
            <a:lstStyle/>
            <a:p>
              <a:pPr algn="l">
                <a:lnSpc>
                  <a:spcPts val="2760"/>
                </a:lnSpc>
              </a:pPr>
              <a:r>
                <a:rPr lang="en-US" sz="2300">
                  <a:solidFill>
                    <a:srgbClr val="1A231C"/>
                  </a:solidFill>
                  <a:latin typeface="Calibri (MS)"/>
                  <a:ea typeface="Calibri (MS)"/>
                  <a:cs typeface="Calibri (MS)"/>
                  <a:sym typeface="Calibri (MS)"/>
                </a:rPr>
                <a:t>Another customer cannot read it</a:t>
              </a:r>
            </a:p>
          </p:txBody>
        </p:sp>
      </p:grpSp>
      <p:grpSp>
        <p:nvGrpSpPr>
          <p:cNvPr id="73" name="Group 73"/>
          <p:cNvGrpSpPr/>
          <p:nvPr/>
        </p:nvGrpSpPr>
        <p:grpSpPr>
          <a:xfrm>
            <a:off x="9314183" y="6753863"/>
            <a:ext cx="574043" cy="574043"/>
            <a:chOff x="0" y="0"/>
            <a:chExt cx="765391" cy="765391"/>
          </a:xfrm>
        </p:grpSpPr>
        <p:sp>
          <p:nvSpPr>
            <p:cNvPr id="74" name="Freeform 74"/>
            <p:cNvSpPr/>
            <p:nvPr/>
          </p:nvSpPr>
          <p:spPr>
            <a:xfrm>
              <a:off x="0" y="0"/>
              <a:ext cx="765429" cy="765429"/>
            </a:xfrm>
            <a:custGeom>
              <a:avLst/>
              <a:gdLst/>
              <a:ahLst/>
              <a:cxnLst/>
              <a:rect l="l" t="t" r="r" b="b"/>
              <a:pathLst>
                <a:path w="765429" h="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D7EBAE"/>
            </a:solidFill>
            <a:ln w="25400" cap="sq">
              <a:solidFill>
                <a:srgbClr val="D7EBAE"/>
              </a:solidFill>
              <a:prstDash val="solid"/>
              <a:miter/>
            </a:ln>
          </p:spPr>
        </p:sp>
      </p:grpSp>
      <p:grpSp>
        <p:nvGrpSpPr>
          <p:cNvPr id="75" name="Group 75"/>
          <p:cNvGrpSpPr/>
          <p:nvPr/>
        </p:nvGrpSpPr>
        <p:grpSpPr>
          <a:xfrm>
            <a:off x="9458554" y="6898234"/>
            <a:ext cx="285293" cy="285293"/>
            <a:chOff x="0" y="0"/>
            <a:chExt cx="380390" cy="380390"/>
          </a:xfrm>
        </p:grpSpPr>
        <p:sp>
          <p:nvSpPr>
            <p:cNvPr id="76" name="Freeform 76" descr="preencoded.png"/>
            <p:cNvSpPr/>
            <p:nvPr/>
          </p:nvSpPr>
          <p:spPr>
            <a:xfrm>
              <a:off x="0" y="0"/>
              <a:ext cx="380365" cy="380365"/>
            </a:xfrm>
            <a:custGeom>
              <a:avLst/>
              <a:gdLst/>
              <a:ahLst/>
              <a:cxnLst/>
              <a:rect l="l" t="t" r="r" b="b"/>
              <a:pathLst>
                <a:path w="380365" h="380365">
                  <a:moveTo>
                    <a:pt x="0" y="0"/>
                  </a:moveTo>
                  <a:lnTo>
                    <a:pt x="380365" y="0"/>
                  </a:lnTo>
                  <a:lnTo>
                    <a:pt x="380365" y="380365"/>
                  </a:lnTo>
                  <a:lnTo>
                    <a:pt x="0" y="380365"/>
                  </a:lnTo>
                  <a:lnTo>
                    <a:pt x="0" y="0"/>
                  </a:lnTo>
                  <a:close/>
                </a:path>
              </a:pathLst>
            </a:custGeom>
            <a:blipFill>
              <a:blip r:embed="rId6"/>
              <a:stretch>
                <a:fillRect r="-6" b="-6"/>
              </a:stretch>
            </a:blipFill>
          </p:spPr>
        </p:sp>
      </p:grpSp>
      <p:grpSp>
        <p:nvGrpSpPr>
          <p:cNvPr id="77" name="Group 77"/>
          <p:cNvGrpSpPr/>
          <p:nvPr/>
        </p:nvGrpSpPr>
        <p:grpSpPr>
          <a:xfrm>
            <a:off x="10094976" y="6766560"/>
            <a:ext cx="7315200" cy="548640"/>
            <a:chOff x="0" y="0"/>
            <a:chExt cx="9753600" cy="731520"/>
          </a:xfrm>
        </p:grpSpPr>
        <p:sp>
          <p:nvSpPr>
            <p:cNvPr id="78" name="Freeform 78"/>
            <p:cNvSpPr/>
            <p:nvPr/>
          </p:nvSpPr>
          <p:spPr>
            <a:xfrm>
              <a:off x="0" y="0"/>
              <a:ext cx="9753600" cy="731520"/>
            </a:xfrm>
            <a:custGeom>
              <a:avLst/>
              <a:gdLst/>
              <a:ahLst/>
              <a:cxnLst/>
              <a:rect l="l" t="t" r="r" b="b"/>
              <a:pathLst>
                <a:path w="9753600" h="731520">
                  <a:moveTo>
                    <a:pt x="0" y="0"/>
                  </a:moveTo>
                  <a:lnTo>
                    <a:pt x="9753600" y="0"/>
                  </a:lnTo>
                  <a:lnTo>
                    <a:pt x="9753600" y="731520"/>
                  </a:lnTo>
                  <a:lnTo>
                    <a:pt x="0" y="731520"/>
                  </a:lnTo>
                  <a:close/>
                </a:path>
              </a:pathLst>
            </a:custGeom>
            <a:blipFill>
              <a:blip r:embed="rId3">
                <a:alphaModFix amt="0"/>
              </a:blip>
              <a:stretch>
                <a:fillRect t="-209800" b="-209800"/>
              </a:stretch>
            </a:blipFill>
          </p:spPr>
        </p:sp>
        <p:sp>
          <p:nvSpPr>
            <p:cNvPr id="79" name="TextBox 79"/>
            <p:cNvSpPr txBox="1"/>
            <p:nvPr/>
          </p:nvSpPr>
          <p:spPr>
            <a:xfrm>
              <a:off x="0" y="-47625"/>
              <a:ext cx="9753600" cy="779145"/>
            </a:xfrm>
            <a:prstGeom prst="rect">
              <a:avLst/>
            </a:prstGeom>
          </p:spPr>
          <p:txBody>
            <a:bodyPr lIns="0" tIns="0" rIns="0" bIns="0" rtlCol="0" anchor="ctr"/>
            <a:lstStyle/>
            <a:p>
              <a:pPr algn="l">
                <a:lnSpc>
                  <a:spcPts val="2760"/>
                </a:lnSpc>
              </a:pPr>
              <a:r>
                <a:rPr lang="en-US" sz="2300">
                  <a:solidFill>
                    <a:srgbClr val="1A231C"/>
                  </a:solidFill>
                  <a:latin typeface="Calibri (MS)"/>
                  <a:ea typeface="Calibri (MS)"/>
                  <a:cs typeface="Calibri (MS)"/>
                  <a:sym typeface="Calibri (MS)"/>
                </a:rPr>
                <a:t>Anonymous and invalid tokens are denied</a:t>
              </a:r>
            </a:p>
          </p:txBody>
        </p:sp>
      </p:grpSp>
      <p:grpSp>
        <p:nvGrpSpPr>
          <p:cNvPr id="80" name="Group 80"/>
          <p:cNvGrpSpPr/>
          <p:nvPr/>
        </p:nvGrpSpPr>
        <p:grpSpPr>
          <a:xfrm>
            <a:off x="9317355" y="7671435"/>
            <a:ext cx="2579370" cy="1299210"/>
            <a:chOff x="0" y="0"/>
            <a:chExt cx="3439160" cy="1732280"/>
          </a:xfrm>
        </p:grpSpPr>
        <p:sp>
          <p:nvSpPr>
            <p:cNvPr id="81" name="Freeform 81"/>
            <p:cNvSpPr/>
            <p:nvPr/>
          </p:nvSpPr>
          <p:spPr>
            <a:xfrm>
              <a:off x="0" y="0"/>
              <a:ext cx="3439160" cy="1732407"/>
            </a:xfrm>
            <a:custGeom>
              <a:avLst/>
              <a:gdLst/>
              <a:ahLst/>
              <a:cxnLst/>
              <a:rect l="l" t="t" r="r" b="b"/>
              <a:pathLst>
                <a:path w="3439160" h="1732407">
                  <a:moveTo>
                    <a:pt x="0" y="247523"/>
                  </a:moveTo>
                  <a:cubicBezTo>
                    <a:pt x="0" y="110744"/>
                    <a:pt x="110744" y="0"/>
                    <a:pt x="247523" y="0"/>
                  </a:cubicBezTo>
                  <a:lnTo>
                    <a:pt x="3191637" y="0"/>
                  </a:lnTo>
                  <a:cubicBezTo>
                    <a:pt x="3328289" y="0"/>
                    <a:pt x="3439160" y="110744"/>
                    <a:pt x="3439160" y="247523"/>
                  </a:cubicBezTo>
                  <a:lnTo>
                    <a:pt x="3439160" y="1484884"/>
                  </a:lnTo>
                  <a:cubicBezTo>
                    <a:pt x="3439160" y="1621536"/>
                    <a:pt x="3328416" y="1732407"/>
                    <a:pt x="3191637" y="1732407"/>
                  </a:cubicBezTo>
                  <a:lnTo>
                    <a:pt x="247523" y="1732407"/>
                  </a:lnTo>
                  <a:cubicBezTo>
                    <a:pt x="110744" y="1732280"/>
                    <a:pt x="0" y="1621536"/>
                    <a:pt x="0" y="1484757"/>
                  </a:cubicBezTo>
                  <a:close/>
                </a:path>
              </a:pathLst>
            </a:custGeom>
            <a:solidFill>
              <a:srgbClr val="F8E3DF"/>
            </a:solidFill>
            <a:ln w="19050" cap="sq">
              <a:solidFill>
                <a:srgbClr val="F8E3DF"/>
              </a:solidFill>
              <a:prstDash val="solid"/>
              <a:miter/>
            </a:ln>
          </p:spPr>
        </p:sp>
      </p:grpSp>
      <p:grpSp>
        <p:nvGrpSpPr>
          <p:cNvPr id="82" name="Group 82"/>
          <p:cNvGrpSpPr/>
          <p:nvPr/>
        </p:nvGrpSpPr>
        <p:grpSpPr>
          <a:xfrm>
            <a:off x="9473184" y="7772400"/>
            <a:ext cx="2267712" cy="585216"/>
            <a:chOff x="0" y="0"/>
            <a:chExt cx="3023616" cy="780288"/>
          </a:xfrm>
        </p:grpSpPr>
        <p:sp>
          <p:nvSpPr>
            <p:cNvPr id="83" name="Freeform 83"/>
            <p:cNvSpPr/>
            <p:nvPr/>
          </p:nvSpPr>
          <p:spPr>
            <a:xfrm>
              <a:off x="0" y="0"/>
              <a:ext cx="3023616" cy="780288"/>
            </a:xfrm>
            <a:custGeom>
              <a:avLst/>
              <a:gdLst/>
              <a:ahLst/>
              <a:cxnLst/>
              <a:rect l="l" t="t" r="r" b="b"/>
              <a:pathLst>
                <a:path w="3023616" h="780288">
                  <a:moveTo>
                    <a:pt x="0" y="0"/>
                  </a:moveTo>
                  <a:lnTo>
                    <a:pt x="3023616" y="0"/>
                  </a:lnTo>
                  <a:lnTo>
                    <a:pt x="3023616" y="780288"/>
                  </a:lnTo>
                  <a:lnTo>
                    <a:pt x="0" y="780288"/>
                  </a:lnTo>
                  <a:close/>
                </a:path>
              </a:pathLst>
            </a:custGeom>
            <a:blipFill>
              <a:blip r:embed="rId3">
                <a:alphaModFix amt="0"/>
              </a:blip>
              <a:stretch>
                <a:fillRect t="-25504" b="-25504"/>
              </a:stretch>
            </a:blipFill>
          </p:spPr>
        </p:sp>
        <p:sp>
          <p:nvSpPr>
            <p:cNvPr id="84" name="TextBox 84"/>
            <p:cNvSpPr txBox="1"/>
            <p:nvPr/>
          </p:nvSpPr>
          <p:spPr>
            <a:xfrm>
              <a:off x="0" y="-9525"/>
              <a:ext cx="3023616" cy="789813"/>
            </a:xfrm>
            <a:prstGeom prst="rect">
              <a:avLst/>
            </a:prstGeom>
          </p:spPr>
          <p:txBody>
            <a:bodyPr lIns="0" tIns="0" rIns="0" bIns="0" rtlCol="0" anchor="ctr"/>
            <a:lstStyle/>
            <a:p>
              <a:pPr algn="ctr">
                <a:lnSpc>
                  <a:spcPts val="2879"/>
                </a:lnSpc>
              </a:pPr>
              <a:r>
                <a:rPr lang="en-US" sz="2400" b="1">
                  <a:solidFill>
                    <a:srgbClr val="B23A2E"/>
                  </a:solidFill>
                  <a:latin typeface="Arimo Bold"/>
                  <a:ea typeface="Arimo Bold"/>
                  <a:cs typeface="Arimo Bold"/>
                  <a:sym typeface="Arimo Bold"/>
                </a:rPr>
                <a:t>影響あり</a:t>
              </a:r>
            </a:p>
          </p:txBody>
        </p:sp>
      </p:grpSp>
      <p:grpSp>
        <p:nvGrpSpPr>
          <p:cNvPr id="85" name="Group 85"/>
          <p:cNvGrpSpPr/>
          <p:nvPr/>
        </p:nvGrpSpPr>
        <p:grpSpPr>
          <a:xfrm>
            <a:off x="9473184" y="8357616"/>
            <a:ext cx="2267712" cy="475488"/>
            <a:chOff x="0" y="0"/>
            <a:chExt cx="3023616" cy="633984"/>
          </a:xfrm>
        </p:grpSpPr>
        <p:sp>
          <p:nvSpPr>
            <p:cNvPr id="86" name="Freeform 86"/>
            <p:cNvSpPr/>
            <p:nvPr/>
          </p:nvSpPr>
          <p:spPr>
            <a:xfrm>
              <a:off x="0" y="0"/>
              <a:ext cx="3023616" cy="633984"/>
            </a:xfrm>
            <a:custGeom>
              <a:avLst/>
              <a:gdLst/>
              <a:ahLst/>
              <a:cxnLst/>
              <a:rect l="l" t="t" r="r" b="b"/>
              <a:pathLst>
                <a:path w="3023616" h="633984">
                  <a:moveTo>
                    <a:pt x="0" y="0"/>
                  </a:moveTo>
                  <a:lnTo>
                    <a:pt x="3023616" y="0"/>
                  </a:lnTo>
                  <a:lnTo>
                    <a:pt x="3023616" y="633984"/>
                  </a:lnTo>
                  <a:lnTo>
                    <a:pt x="0" y="633984"/>
                  </a:lnTo>
                  <a:close/>
                </a:path>
              </a:pathLst>
            </a:custGeom>
            <a:blipFill>
              <a:blip r:embed="rId3">
                <a:alphaModFix amt="0"/>
              </a:blip>
              <a:stretch>
                <a:fillRect t="-42928" b="-42928"/>
              </a:stretch>
            </a:blipFill>
          </p:spPr>
        </p:sp>
        <p:sp>
          <p:nvSpPr>
            <p:cNvPr id="87" name="TextBox 87"/>
            <p:cNvSpPr txBox="1"/>
            <p:nvPr/>
          </p:nvSpPr>
          <p:spPr>
            <a:xfrm>
              <a:off x="0" y="-38100"/>
              <a:ext cx="3023616" cy="672084"/>
            </a:xfrm>
            <a:prstGeom prst="rect">
              <a:avLst/>
            </a:prstGeom>
          </p:spPr>
          <p:txBody>
            <a:bodyPr lIns="0" tIns="0" rIns="0" bIns="0" rtlCol="0" anchor="ctr"/>
            <a:lstStyle/>
            <a:p>
              <a:pPr algn="ctr">
                <a:lnSpc>
                  <a:spcPts val="2160"/>
                </a:lnSpc>
              </a:pPr>
              <a:r>
                <a:rPr lang="en-US" sz="1800">
                  <a:solidFill>
                    <a:srgbClr val="5F6B62"/>
                  </a:solidFill>
                  <a:latin typeface="Calibri (MS)"/>
                  <a:ea typeface="Calibri (MS)"/>
                  <a:cs typeface="Calibri (MS)"/>
                  <a:sym typeface="Calibri (MS)"/>
                </a:rPr>
                <a:t>Affected</a:t>
              </a:r>
            </a:p>
          </p:txBody>
        </p:sp>
      </p:grpSp>
      <p:grpSp>
        <p:nvGrpSpPr>
          <p:cNvPr id="88" name="Group 88"/>
          <p:cNvGrpSpPr/>
          <p:nvPr/>
        </p:nvGrpSpPr>
        <p:grpSpPr>
          <a:xfrm>
            <a:off x="12060555" y="7671435"/>
            <a:ext cx="2579370" cy="1299210"/>
            <a:chOff x="0" y="0"/>
            <a:chExt cx="3439160" cy="1732280"/>
          </a:xfrm>
        </p:grpSpPr>
        <p:sp>
          <p:nvSpPr>
            <p:cNvPr id="89" name="Freeform 89"/>
            <p:cNvSpPr/>
            <p:nvPr/>
          </p:nvSpPr>
          <p:spPr>
            <a:xfrm>
              <a:off x="0" y="0"/>
              <a:ext cx="3439160" cy="1732407"/>
            </a:xfrm>
            <a:custGeom>
              <a:avLst/>
              <a:gdLst/>
              <a:ahLst/>
              <a:cxnLst/>
              <a:rect l="l" t="t" r="r" b="b"/>
              <a:pathLst>
                <a:path w="3439160" h="1732407">
                  <a:moveTo>
                    <a:pt x="0" y="247523"/>
                  </a:moveTo>
                  <a:cubicBezTo>
                    <a:pt x="0" y="110744"/>
                    <a:pt x="110744" y="0"/>
                    <a:pt x="247523" y="0"/>
                  </a:cubicBezTo>
                  <a:lnTo>
                    <a:pt x="3191637" y="0"/>
                  </a:lnTo>
                  <a:cubicBezTo>
                    <a:pt x="3328289" y="0"/>
                    <a:pt x="3439160" y="110744"/>
                    <a:pt x="3439160" y="247523"/>
                  </a:cubicBezTo>
                  <a:lnTo>
                    <a:pt x="3439160" y="1484884"/>
                  </a:lnTo>
                  <a:cubicBezTo>
                    <a:pt x="3439160" y="1621536"/>
                    <a:pt x="3328416" y="1732407"/>
                    <a:pt x="3191637" y="1732407"/>
                  </a:cubicBezTo>
                  <a:lnTo>
                    <a:pt x="247523" y="1732407"/>
                  </a:lnTo>
                  <a:cubicBezTo>
                    <a:pt x="110744" y="1732280"/>
                    <a:pt x="0" y="1621536"/>
                    <a:pt x="0" y="1484757"/>
                  </a:cubicBezTo>
                  <a:close/>
                </a:path>
              </a:pathLst>
            </a:custGeom>
            <a:solidFill>
              <a:srgbClr val="F2F5EC"/>
            </a:solidFill>
            <a:ln w="19050" cap="sq">
              <a:solidFill>
                <a:srgbClr val="F2F5EC"/>
              </a:solidFill>
              <a:prstDash val="solid"/>
              <a:miter/>
            </a:ln>
          </p:spPr>
        </p:sp>
      </p:grpSp>
      <p:grpSp>
        <p:nvGrpSpPr>
          <p:cNvPr id="90" name="Group 90"/>
          <p:cNvGrpSpPr/>
          <p:nvPr/>
        </p:nvGrpSpPr>
        <p:grpSpPr>
          <a:xfrm>
            <a:off x="12216384" y="7772400"/>
            <a:ext cx="2267712" cy="585216"/>
            <a:chOff x="0" y="0"/>
            <a:chExt cx="3023616" cy="780288"/>
          </a:xfrm>
        </p:grpSpPr>
        <p:sp>
          <p:nvSpPr>
            <p:cNvPr id="91" name="Freeform 91"/>
            <p:cNvSpPr/>
            <p:nvPr/>
          </p:nvSpPr>
          <p:spPr>
            <a:xfrm>
              <a:off x="0" y="0"/>
              <a:ext cx="3023616" cy="780288"/>
            </a:xfrm>
            <a:custGeom>
              <a:avLst/>
              <a:gdLst/>
              <a:ahLst/>
              <a:cxnLst/>
              <a:rect l="l" t="t" r="r" b="b"/>
              <a:pathLst>
                <a:path w="3023616" h="780288">
                  <a:moveTo>
                    <a:pt x="0" y="0"/>
                  </a:moveTo>
                  <a:lnTo>
                    <a:pt x="3023616" y="0"/>
                  </a:lnTo>
                  <a:lnTo>
                    <a:pt x="3023616" y="780288"/>
                  </a:lnTo>
                  <a:lnTo>
                    <a:pt x="0" y="780288"/>
                  </a:lnTo>
                  <a:close/>
                </a:path>
              </a:pathLst>
            </a:custGeom>
            <a:blipFill>
              <a:blip r:embed="rId3">
                <a:alphaModFix amt="0"/>
              </a:blip>
              <a:stretch>
                <a:fillRect t="-25504" b="-25504"/>
              </a:stretch>
            </a:blipFill>
          </p:spPr>
        </p:sp>
        <p:sp>
          <p:nvSpPr>
            <p:cNvPr id="92" name="TextBox 92"/>
            <p:cNvSpPr txBox="1"/>
            <p:nvPr/>
          </p:nvSpPr>
          <p:spPr>
            <a:xfrm>
              <a:off x="0" y="-9525"/>
              <a:ext cx="3023616" cy="789813"/>
            </a:xfrm>
            <a:prstGeom prst="rect">
              <a:avLst/>
            </a:prstGeom>
          </p:spPr>
          <p:txBody>
            <a:bodyPr lIns="0" tIns="0" rIns="0" bIns="0" rtlCol="0" anchor="ctr"/>
            <a:lstStyle/>
            <a:p>
              <a:pPr algn="ctr">
                <a:lnSpc>
                  <a:spcPts val="2879"/>
                </a:lnSpc>
              </a:pPr>
              <a:r>
                <a:rPr lang="en-US" sz="2400" b="1">
                  <a:solidFill>
                    <a:srgbClr val="1A231C"/>
                  </a:solidFill>
                  <a:latin typeface="Arimo Bold"/>
                  <a:ea typeface="Arimo Bold"/>
                  <a:cs typeface="Arimo Bold"/>
                  <a:sym typeface="Arimo Bold"/>
                </a:rPr>
                <a:t>要確認</a:t>
              </a:r>
            </a:p>
          </p:txBody>
        </p:sp>
      </p:grpSp>
      <p:grpSp>
        <p:nvGrpSpPr>
          <p:cNvPr id="93" name="Group 93"/>
          <p:cNvGrpSpPr/>
          <p:nvPr/>
        </p:nvGrpSpPr>
        <p:grpSpPr>
          <a:xfrm>
            <a:off x="12216384" y="8357616"/>
            <a:ext cx="2267712" cy="475488"/>
            <a:chOff x="0" y="0"/>
            <a:chExt cx="3023616" cy="633984"/>
          </a:xfrm>
        </p:grpSpPr>
        <p:sp>
          <p:nvSpPr>
            <p:cNvPr id="94" name="Freeform 94"/>
            <p:cNvSpPr/>
            <p:nvPr/>
          </p:nvSpPr>
          <p:spPr>
            <a:xfrm>
              <a:off x="0" y="0"/>
              <a:ext cx="3023616" cy="633984"/>
            </a:xfrm>
            <a:custGeom>
              <a:avLst/>
              <a:gdLst/>
              <a:ahLst/>
              <a:cxnLst/>
              <a:rect l="l" t="t" r="r" b="b"/>
              <a:pathLst>
                <a:path w="3023616" h="633984">
                  <a:moveTo>
                    <a:pt x="0" y="0"/>
                  </a:moveTo>
                  <a:lnTo>
                    <a:pt x="3023616" y="0"/>
                  </a:lnTo>
                  <a:lnTo>
                    <a:pt x="3023616" y="633984"/>
                  </a:lnTo>
                  <a:lnTo>
                    <a:pt x="0" y="633984"/>
                  </a:lnTo>
                  <a:close/>
                </a:path>
              </a:pathLst>
            </a:custGeom>
            <a:blipFill>
              <a:blip r:embed="rId3">
                <a:alphaModFix amt="0"/>
              </a:blip>
              <a:stretch>
                <a:fillRect t="-42928" b="-42928"/>
              </a:stretch>
            </a:blipFill>
          </p:spPr>
        </p:sp>
        <p:sp>
          <p:nvSpPr>
            <p:cNvPr id="95" name="TextBox 95"/>
            <p:cNvSpPr txBox="1"/>
            <p:nvPr/>
          </p:nvSpPr>
          <p:spPr>
            <a:xfrm>
              <a:off x="0" y="-38100"/>
              <a:ext cx="3023616" cy="672084"/>
            </a:xfrm>
            <a:prstGeom prst="rect">
              <a:avLst/>
            </a:prstGeom>
          </p:spPr>
          <p:txBody>
            <a:bodyPr lIns="0" tIns="0" rIns="0" bIns="0" rtlCol="0" anchor="ctr"/>
            <a:lstStyle/>
            <a:p>
              <a:pPr algn="ctr">
                <a:lnSpc>
                  <a:spcPts val="2160"/>
                </a:lnSpc>
              </a:pPr>
              <a:r>
                <a:rPr lang="en-US" sz="1800">
                  <a:solidFill>
                    <a:srgbClr val="5F6B62"/>
                  </a:solidFill>
                  <a:latin typeface="Calibri (MS)"/>
                  <a:ea typeface="Calibri (MS)"/>
                  <a:cs typeface="Calibri (MS)"/>
                  <a:sym typeface="Calibri (MS)"/>
                </a:rPr>
                <a:t>Config follow-up</a:t>
              </a:r>
            </a:p>
          </p:txBody>
        </p:sp>
      </p:grpSp>
      <p:grpSp>
        <p:nvGrpSpPr>
          <p:cNvPr id="96" name="Group 96"/>
          <p:cNvGrpSpPr/>
          <p:nvPr/>
        </p:nvGrpSpPr>
        <p:grpSpPr>
          <a:xfrm>
            <a:off x="14803755" y="7671435"/>
            <a:ext cx="2670810" cy="1299210"/>
            <a:chOff x="0" y="0"/>
            <a:chExt cx="3561080" cy="1732280"/>
          </a:xfrm>
        </p:grpSpPr>
        <p:sp>
          <p:nvSpPr>
            <p:cNvPr id="97" name="Freeform 97"/>
            <p:cNvSpPr/>
            <p:nvPr/>
          </p:nvSpPr>
          <p:spPr>
            <a:xfrm>
              <a:off x="0" y="0"/>
              <a:ext cx="3561080" cy="1732407"/>
            </a:xfrm>
            <a:custGeom>
              <a:avLst/>
              <a:gdLst/>
              <a:ahLst/>
              <a:cxnLst/>
              <a:rect l="l" t="t" r="r" b="b"/>
              <a:pathLst>
                <a:path w="3561080" h="1732407">
                  <a:moveTo>
                    <a:pt x="0" y="247523"/>
                  </a:moveTo>
                  <a:cubicBezTo>
                    <a:pt x="0" y="110744"/>
                    <a:pt x="110744" y="0"/>
                    <a:pt x="247523" y="0"/>
                  </a:cubicBezTo>
                  <a:lnTo>
                    <a:pt x="3313557" y="0"/>
                  </a:lnTo>
                  <a:cubicBezTo>
                    <a:pt x="3450209" y="0"/>
                    <a:pt x="3561080" y="110744"/>
                    <a:pt x="3561080" y="247523"/>
                  </a:cubicBezTo>
                  <a:lnTo>
                    <a:pt x="3561080" y="1484884"/>
                  </a:lnTo>
                  <a:cubicBezTo>
                    <a:pt x="3561080" y="1621536"/>
                    <a:pt x="3450336" y="1732407"/>
                    <a:pt x="3313557" y="1732407"/>
                  </a:cubicBezTo>
                  <a:lnTo>
                    <a:pt x="247523" y="1732407"/>
                  </a:lnTo>
                  <a:cubicBezTo>
                    <a:pt x="110744" y="1732280"/>
                    <a:pt x="0" y="1621536"/>
                    <a:pt x="0" y="1484757"/>
                  </a:cubicBezTo>
                  <a:close/>
                </a:path>
              </a:pathLst>
            </a:custGeom>
            <a:solidFill>
              <a:srgbClr val="D7EBAE"/>
            </a:solidFill>
            <a:ln w="19050" cap="sq">
              <a:solidFill>
                <a:srgbClr val="D7EBAE"/>
              </a:solidFill>
              <a:prstDash val="solid"/>
              <a:miter/>
            </a:ln>
          </p:spPr>
        </p:sp>
      </p:grpSp>
      <p:grpSp>
        <p:nvGrpSpPr>
          <p:cNvPr id="98" name="Group 98"/>
          <p:cNvGrpSpPr/>
          <p:nvPr/>
        </p:nvGrpSpPr>
        <p:grpSpPr>
          <a:xfrm>
            <a:off x="14959584" y="7772400"/>
            <a:ext cx="2359152" cy="585216"/>
            <a:chOff x="0" y="0"/>
            <a:chExt cx="3145536" cy="780288"/>
          </a:xfrm>
        </p:grpSpPr>
        <p:sp>
          <p:nvSpPr>
            <p:cNvPr id="99" name="Freeform 99"/>
            <p:cNvSpPr/>
            <p:nvPr/>
          </p:nvSpPr>
          <p:spPr>
            <a:xfrm>
              <a:off x="0" y="0"/>
              <a:ext cx="3145536" cy="780288"/>
            </a:xfrm>
            <a:custGeom>
              <a:avLst/>
              <a:gdLst/>
              <a:ahLst/>
              <a:cxnLst/>
              <a:rect l="l" t="t" r="r" b="b"/>
              <a:pathLst>
                <a:path w="3145536" h="780288">
                  <a:moveTo>
                    <a:pt x="0" y="0"/>
                  </a:moveTo>
                  <a:lnTo>
                    <a:pt x="3145536" y="0"/>
                  </a:lnTo>
                  <a:lnTo>
                    <a:pt x="3145536" y="780288"/>
                  </a:lnTo>
                  <a:lnTo>
                    <a:pt x="0" y="780288"/>
                  </a:lnTo>
                  <a:close/>
                </a:path>
              </a:pathLst>
            </a:custGeom>
            <a:blipFill>
              <a:blip r:embed="rId3">
                <a:alphaModFix amt="0"/>
              </a:blip>
              <a:stretch>
                <a:fillRect t="-28549" b="-28549"/>
              </a:stretch>
            </a:blipFill>
          </p:spPr>
        </p:sp>
        <p:sp>
          <p:nvSpPr>
            <p:cNvPr id="100" name="TextBox 100"/>
            <p:cNvSpPr txBox="1"/>
            <p:nvPr/>
          </p:nvSpPr>
          <p:spPr>
            <a:xfrm>
              <a:off x="0" y="-19050"/>
              <a:ext cx="3145536" cy="799338"/>
            </a:xfrm>
            <a:prstGeom prst="rect">
              <a:avLst/>
            </a:prstGeom>
          </p:spPr>
          <p:txBody>
            <a:bodyPr lIns="0" tIns="0" rIns="0" bIns="0" rtlCol="0" anchor="ctr"/>
            <a:lstStyle/>
            <a:p>
              <a:pPr algn="ctr">
                <a:lnSpc>
                  <a:spcPts val="2160"/>
                </a:lnSpc>
              </a:pPr>
              <a:r>
                <a:rPr lang="en-US" sz="1800" b="1">
                  <a:solidFill>
                    <a:srgbClr val="2F6B3A"/>
                  </a:solidFill>
                  <a:latin typeface="Arimo Bold"/>
                  <a:ea typeface="Arimo Bold"/>
                  <a:cs typeface="Arimo Bold"/>
                  <a:sym typeface="Arimo Bold"/>
                </a:rPr>
                <a:t>人によるレビュー待ち</a:t>
              </a:r>
            </a:p>
          </p:txBody>
        </p:sp>
      </p:grpSp>
      <p:grpSp>
        <p:nvGrpSpPr>
          <p:cNvPr id="101" name="Group 101"/>
          <p:cNvGrpSpPr/>
          <p:nvPr/>
        </p:nvGrpSpPr>
        <p:grpSpPr>
          <a:xfrm>
            <a:off x="14959584" y="8357616"/>
            <a:ext cx="2359152" cy="475488"/>
            <a:chOff x="0" y="0"/>
            <a:chExt cx="3145536" cy="633984"/>
          </a:xfrm>
        </p:grpSpPr>
        <p:sp>
          <p:nvSpPr>
            <p:cNvPr id="102" name="Freeform 102"/>
            <p:cNvSpPr/>
            <p:nvPr/>
          </p:nvSpPr>
          <p:spPr>
            <a:xfrm>
              <a:off x="0" y="0"/>
              <a:ext cx="3145536" cy="633984"/>
            </a:xfrm>
            <a:custGeom>
              <a:avLst/>
              <a:gdLst/>
              <a:ahLst/>
              <a:cxnLst/>
              <a:rect l="l" t="t" r="r" b="b"/>
              <a:pathLst>
                <a:path w="3145536" h="633984">
                  <a:moveTo>
                    <a:pt x="0" y="0"/>
                  </a:moveTo>
                  <a:lnTo>
                    <a:pt x="3145536" y="0"/>
                  </a:lnTo>
                  <a:lnTo>
                    <a:pt x="3145536" y="633984"/>
                  </a:lnTo>
                  <a:lnTo>
                    <a:pt x="0" y="633984"/>
                  </a:lnTo>
                  <a:close/>
                </a:path>
              </a:pathLst>
            </a:custGeom>
            <a:blipFill>
              <a:blip r:embed="rId3">
                <a:alphaModFix amt="0"/>
              </a:blip>
              <a:stretch>
                <a:fillRect t="-46675" b="-46675"/>
              </a:stretch>
            </a:blipFill>
          </p:spPr>
        </p:sp>
        <p:sp>
          <p:nvSpPr>
            <p:cNvPr id="103" name="TextBox 103"/>
            <p:cNvSpPr txBox="1"/>
            <p:nvPr/>
          </p:nvSpPr>
          <p:spPr>
            <a:xfrm>
              <a:off x="0" y="-38100"/>
              <a:ext cx="3145536" cy="672084"/>
            </a:xfrm>
            <a:prstGeom prst="rect">
              <a:avLst/>
            </a:prstGeom>
          </p:spPr>
          <p:txBody>
            <a:bodyPr lIns="0" tIns="0" rIns="0" bIns="0" rtlCol="0" anchor="ctr"/>
            <a:lstStyle/>
            <a:p>
              <a:pPr algn="ctr">
                <a:lnSpc>
                  <a:spcPts val="2160"/>
                </a:lnSpc>
              </a:pPr>
              <a:r>
                <a:rPr lang="en-US" sz="1800">
                  <a:solidFill>
                    <a:srgbClr val="5F6B62"/>
                  </a:solidFill>
                  <a:latin typeface="Calibri (MS)"/>
                  <a:ea typeface="Calibri (MS)"/>
                  <a:cs typeface="Calibri (MS)"/>
                  <a:sym typeface="Calibri (MS)"/>
                </a:rPr>
                <a:t>Awaiting human review</a:t>
              </a:r>
            </a:p>
          </p:txBody>
        </p:sp>
      </p:grpSp>
      <p:sp>
        <p:nvSpPr>
          <p:cNvPr id="104" name="TextBox 104"/>
          <p:cNvSpPr txBox="1"/>
          <p:nvPr/>
        </p:nvSpPr>
        <p:spPr>
          <a:xfrm>
            <a:off x="16733520" y="9371076"/>
            <a:ext cx="548640" cy="495300"/>
          </a:xfrm>
          <a:prstGeom prst="rect">
            <a:avLst/>
          </a:prstGeom>
        </p:spPr>
        <p:txBody>
          <a:bodyPr lIns="0" tIns="0" rIns="0" bIns="0" rtlCol="0" anchor="t">
            <a:spAutoFit/>
          </a:bodyPr>
          <a:lstStyle/>
          <a:p>
            <a:pPr algn="r">
              <a:lnSpc>
                <a:spcPts val="2160"/>
              </a:lnSpc>
            </a:pPr>
            <a:r>
              <a:rPr lang="en-US" sz="1800">
                <a:solidFill>
                  <a:srgbClr val="5F6B62"/>
                </a:solidFill>
                <a:latin typeface="Calibri (MS)"/>
                <a:ea typeface="Calibri (MS)"/>
                <a:cs typeface="Calibri (MS)"/>
                <a:sym typeface="Calibri (MS)"/>
              </a:rPr>
              <a:t>11</a:t>
            </a:r>
          </a:p>
        </p:txBody>
      </p:sp>
      <p:grpSp>
        <p:nvGrpSpPr>
          <p:cNvPr id="105" name="Group 105"/>
          <p:cNvGrpSpPr/>
          <p:nvPr/>
        </p:nvGrpSpPr>
        <p:grpSpPr>
          <a:xfrm>
            <a:off x="16264890" y="559145"/>
            <a:ext cx="1308336" cy="675295"/>
            <a:chOff x="0" y="0"/>
            <a:chExt cx="1744448" cy="900394"/>
          </a:xfrm>
        </p:grpSpPr>
        <p:sp>
          <p:nvSpPr>
            <p:cNvPr id="106" name="Freeform 106"/>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07" name="TextBox 107"/>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0" y="986790"/>
            <a:ext cx="16459200" cy="1116330"/>
          </a:xfrm>
          <a:prstGeom prst="rect">
            <a:avLst/>
          </a:prstGeom>
        </p:spPr>
        <p:txBody>
          <a:bodyPr lIns="0" tIns="0" rIns="0" bIns="0" rtlCol="0" anchor="t">
            <a:spAutoFit/>
          </a:bodyPr>
          <a:lstStyle/>
          <a:p>
            <a:pPr algn="l">
              <a:lnSpc>
                <a:spcPts val="6239"/>
              </a:lnSpc>
            </a:pPr>
            <a:r>
              <a:rPr lang="en-US" sz="5199" b="1">
                <a:solidFill>
                  <a:srgbClr val="1A231C"/>
                </a:solidFill>
                <a:latin typeface="Arial Bold"/>
                <a:ea typeface="Arial Bold"/>
                <a:cs typeface="Arial Bold"/>
                <a:sym typeface="Arial Bold"/>
              </a:rPr>
              <a:t>A global market, with Japan as the first beachhead</a:t>
            </a:r>
          </a:p>
        </p:txBody>
      </p:sp>
      <p:grpSp>
        <p:nvGrpSpPr>
          <p:cNvPr id="3" name="Group 3"/>
          <p:cNvGrpSpPr/>
          <p:nvPr/>
        </p:nvGrpSpPr>
        <p:grpSpPr>
          <a:xfrm>
            <a:off x="914400" y="9363456"/>
            <a:ext cx="14996160" cy="548640"/>
            <a:chOff x="0" y="0"/>
            <a:chExt cx="19994880" cy="731520"/>
          </a:xfrm>
        </p:grpSpPr>
        <p:sp>
          <p:nvSpPr>
            <p:cNvPr id="4" name="Freeform 4"/>
            <p:cNvSpPr/>
            <p:nvPr/>
          </p:nvSpPr>
          <p:spPr>
            <a:xfrm>
              <a:off x="0" y="0"/>
              <a:ext cx="19994877" cy="731520"/>
            </a:xfrm>
            <a:custGeom>
              <a:avLst/>
              <a:gdLst/>
              <a:ahLst/>
              <a:cxnLst/>
              <a:rect l="l" t="t" r="r" b="b"/>
              <a:pathLst>
                <a:path w="19994877" h="731520">
                  <a:moveTo>
                    <a:pt x="0" y="0"/>
                  </a:moveTo>
                  <a:lnTo>
                    <a:pt x="19994877" y="0"/>
                  </a:lnTo>
                  <a:lnTo>
                    <a:pt x="19994877" y="731520"/>
                  </a:lnTo>
                  <a:lnTo>
                    <a:pt x="0" y="731520"/>
                  </a:lnTo>
                  <a:close/>
                </a:path>
              </a:pathLst>
            </a:custGeom>
            <a:blipFill>
              <a:blip r:embed="rId2">
                <a:alphaModFix amt="0"/>
              </a:blip>
              <a:stretch>
                <a:fillRect t="-482591" b="-482591"/>
              </a:stretch>
            </a:blipFill>
          </p:spPr>
        </p:sp>
        <p:sp>
          <p:nvSpPr>
            <p:cNvPr id="5" name="TextBox 5"/>
            <p:cNvSpPr txBox="1"/>
            <p:nvPr/>
          </p:nvSpPr>
          <p:spPr>
            <a:xfrm>
              <a:off x="0" y="-38100"/>
              <a:ext cx="19994880" cy="769620"/>
            </a:xfrm>
            <a:prstGeom prst="rect">
              <a:avLst/>
            </a:prstGeom>
          </p:spPr>
          <p:txBody>
            <a:bodyPr lIns="0" tIns="0" rIns="0" bIns="0" rtlCol="0" anchor="ctr"/>
            <a:lstStyle/>
            <a:p>
              <a:pPr algn="l">
                <a:lnSpc>
                  <a:spcPts val="2160"/>
                </a:lnSpc>
              </a:pPr>
              <a:r>
                <a:rPr lang="en-US" sz="1800">
                  <a:solidFill>
                    <a:srgbClr val="5F6B62"/>
                  </a:solidFill>
                  <a:latin typeface="Calibri (MS)"/>
                  <a:ea typeface="Calibri (MS)"/>
                  <a:cs typeface="Calibri (MS)"/>
                  <a:sym typeface="Calibri (MS)"/>
                </a:rPr>
                <a:t>TAM and SME share: Mordor Intelligence (2026). SOM: our bottom-up target, assumptions in notes. Map is a positioning hypothesis, not a benchmark.</a:t>
              </a:r>
            </a:p>
          </p:txBody>
        </p:sp>
      </p:grpSp>
      <p:sp>
        <p:nvSpPr>
          <p:cNvPr id="6" name="TextBox 6"/>
          <p:cNvSpPr txBox="1"/>
          <p:nvPr/>
        </p:nvSpPr>
        <p:spPr>
          <a:xfrm>
            <a:off x="16733520" y="9371076"/>
            <a:ext cx="548640" cy="495300"/>
          </a:xfrm>
          <a:prstGeom prst="rect">
            <a:avLst/>
          </a:prstGeom>
        </p:spPr>
        <p:txBody>
          <a:bodyPr lIns="0" tIns="0" rIns="0" bIns="0" rtlCol="0" anchor="t">
            <a:spAutoFit/>
          </a:bodyPr>
          <a:lstStyle/>
          <a:p>
            <a:pPr algn="r">
              <a:lnSpc>
                <a:spcPts val="2160"/>
              </a:lnSpc>
            </a:pPr>
            <a:r>
              <a:rPr lang="en-US" sz="1800">
                <a:solidFill>
                  <a:srgbClr val="5F6B62"/>
                </a:solidFill>
                <a:latin typeface="Calibri (MS)"/>
                <a:ea typeface="Calibri (MS)"/>
                <a:cs typeface="Calibri (MS)"/>
                <a:sym typeface="Calibri (MS)"/>
              </a:rPr>
              <a:t>14</a:t>
            </a:r>
          </a:p>
        </p:txBody>
      </p:sp>
      <p:sp>
        <p:nvSpPr>
          <p:cNvPr id="7" name="TextBox 7"/>
          <p:cNvSpPr txBox="1"/>
          <p:nvPr/>
        </p:nvSpPr>
        <p:spPr>
          <a:xfrm>
            <a:off x="914400" y="2321814"/>
            <a:ext cx="8229600" cy="531114"/>
          </a:xfrm>
          <a:prstGeom prst="rect">
            <a:avLst/>
          </a:prstGeom>
        </p:spPr>
        <p:txBody>
          <a:bodyPr lIns="0" tIns="0" rIns="0" bIns="0" rtlCol="0" anchor="t">
            <a:spAutoFit/>
          </a:bodyPr>
          <a:lstStyle/>
          <a:p>
            <a:pPr algn="l">
              <a:lnSpc>
                <a:spcPts val="3359"/>
              </a:lnSpc>
            </a:pPr>
            <a:r>
              <a:rPr lang="en-US" sz="2799" b="1">
                <a:solidFill>
                  <a:srgbClr val="1A231C"/>
                </a:solidFill>
                <a:latin typeface="Arial Bold"/>
                <a:ea typeface="Arial Bold"/>
                <a:cs typeface="Arial Bold"/>
                <a:sym typeface="Arial Bold"/>
              </a:rPr>
              <a:t>Market size, global</a:t>
            </a:r>
          </a:p>
        </p:txBody>
      </p:sp>
      <p:sp>
        <p:nvSpPr>
          <p:cNvPr id="8" name="TextBox 8"/>
          <p:cNvSpPr txBox="1"/>
          <p:nvPr/>
        </p:nvSpPr>
        <p:spPr>
          <a:xfrm>
            <a:off x="914400" y="2814828"/>
            <a:ext cx="8412480" cy="440436"/>
          </a:xfrm>
          <a:prstGeom prst="rect">
            <a:avLst/>
          </a:prstGeom>
        </p:spPr>
        <p:txBody>
          <a:bodyPr lIns="0" tIns="0" rIns="0" bIns="0" rtlCol="0" anchor="t">
            <a:spAutoFit/>
          </a:bodyPr>
          <a:lstStyle/>
          <a:p>
            <a:pPr algn="l">
              <a:lnSpc>
                <a:spcPts val="2279"/>
              </a:lnSpc>
            </a:pPr>
            <a:r>
              <a:rPr lang="en-US" sz="1899">
                <a:solidFill>
                  <a:srgbClr val="5F6B62"/>
                </a:solidFill>
                <a:latin typeface="Calibri (MS)"/>
                <a:ea typeface="Calibri (MS)"/>
                <a:cs typeface="Calibri (MS)"/>
                <a:sym typeface="Calibri (MS)"/>
              </a:rPr>
              <a:t>Same engine, any feed: JPCERT / JVN first, then CERT-In, NVD, GitHub</a:t>
            </a:r>
          </a:p>
        </p:txBody>
      </p:sp>
      <p:grpSp>
        <p:nvGrpSpPr>
          <p:cNvPr id="9" name="Group 9"/>
          <p:cNvGrpSpPr/>
          <p:nvPr/>
        </p:nvGrpSpPr>
        <p:grpSpPr>
          <a:xfrm>
            <a:off x="904875" y="3428619"/>
            <a:ext cx="5322570" cy="5322570"/>
            <a:chOff x="0" y="0"/>
            <a:chExt cx="7096760" cy="7096760"/>
          </a:xfrm>
        </p:grpSpPr>
        <p:sp>
          <p:nvSpPr>
            <p:cNvPr id="10" name="Freeform 10"/>
            <p:cNvSpPr/>
            <p:nvPr/>
          </p:nvSpPr>
          <p:spPr>
            <a:xfrm>
              <a:off x="0" y="0"/>
              <a:ext cx="7096760" cy="7096760"/>
            </a:xfrm>
            <a:custGeom>
              <a:avLst/>
              <a:gdLst/>
              <a:ahLst/>
              <a:cxnLst/>
              <a:rect l="l" t="t" r="r" b="b"/>
              <a:pathLst>
                <a:path w="7096760" h="7096760">
                  <a:moveTo>
                    <a:pt x="0" y="3548380"/>
                  </a:moveTo>
                  <a:cubicBezTo>
                    <a:pt x="0" y="1588643"/>
                    <a:pt x="1588643" y="0"/>
                    <a:pt x="3548380" y="0"/>
                  </a:cubicBezTo>
                  <a:cubicBezTo>
                    <a:pt x="5508117" y="0"/>
                    <a:pt x="7096760" y="1588643"/>
                    <a:pt x="7096760" y="3548380"/>
                  </a:cubicBezTo>
                  <a:cubicBezTo>
                    <a:pt x="7096760" y="5508117"/>
                    <a:pt x="5508117" y="7096760"/>
                    <a:pt x="3548380" y="7096760"/>
                  </a:cubicBezTo>
                  <a:cubicBezTo>
                    <a:pt x="1588643" y="7096760"/>
                    <a:pt x="0" y="5508117"/>
                    <a:pt x="0" y="3548380"/>
                  </a:cubicBezTo>
                  <a:close/>
                </a:path>
              </a:pathLst>
            </a:custGeom>
            <a:solidFill>
              <a:srgbClr val="F2F5EC"/>
            </a:solidFill>
            <a:ln w="19050" cap="sq">
              <a:solidFill>
                <a:srgbClr val="DDE3D8"/>
              </a:solidFill>
              <a:prstDash val="solid"/>
              <a:miter/>
            </a:ln>
          </p:spPr>
        </p:sp>
      </p:grpSp>
      <p:grpSp>
        <p:nvGrpSpPr>
          <p:cNvPr id="11" name="Group 11"/>
          <p:cNvGrpSpPr/>
          <p:nvPr/>
        </p:nvGrpSpPr>
        <p:grpSpPr>
          <a:xfrm>
            <a:off x="1783080" y="5175504"/>
            <a:ext cx="3566160" cy="3566160"/>
            <a:chOff x="0" y="0"/>
            <a:chExt cx="4754880" cy="4754880"/>
          </a:xfrm>
        </p:grpSpPr>
        <p:sp>
          <p:nvSpPr>
            <p:cNvPr id="12" name="Freeform 12"/>
            <p:cNvSpPr/>
            <p:nvPr/>
          </p:nvSpPr>
          <p:spPr>
            <a:xfrm>
              <a:off x="0" y="0"/>
              <a:ext cx="4754880" cy="4754880"/>
            </a:xfrm>
            <a:custGeom>
              <a:avLst/>
              <a:gdLst/>
              <a:ahLst/>
              <a:cxnLst/>
              <a:rect l="l" t="t" r="r" b="b"/>
              <a:pathLst>
                <a:path w="4754880" h="4754880">
                  <a:moveTo>
                    <a:pt x="0" y="2377440"/>
                  </a:moveTo>
                  <a:cubicBezTo>
                    <a:pt x="0" y="1064387"/>
                    <a:pt x="1064387" y="0"/>
                    <a:pt x="2377440" y="0"/>
                  </a:cubicBezTo>
                  <a:cubicBezTo>
                    <a:pt x="3690493" y="0"/>
                    <a:pt x="4754880" y="1064387"/>
                    <a:pt x="4754880" y="2377440"/>
                  </a:cubicBezTo>
                  <a:cubicBezTo>
                    <a:pt x="4754880" y="3690493"/>
                    <a:pt x="3690493" y="4754880"/>
                    <a:pt x="2377440" y="4754880"/>
                  </a:cubicBezTo>
                  <a:cubicBezTo>
                    <a:pt x="1064387" y="4754880"/>
                    <a:pt x="0" y="3690493"/>
                    <a:pt x="0" y="2377440"/>
                  </a:cubicBezTo>
                  <a:close/>
                </a:path>
              </a:pathLst>
            </a:custGeom>
            <a:solidFill>
              <a:srgbClr val="D7EBAE"/>
            </a:solidFill>
          </p:spPr>
        </p:sp>
      </p:grpSp>
      <p:grpSp>
        <p:nvGrpSpPr>
          <p:cNvPr id="13" name="Group 13"/>
          <p:cNvGrpSpPr/>
          <p:nvPr/>
        </p:nvGrpSpPr>
        <p:grpSpPr>
          <a:xfrm>
            <a:off x="2651760" y="6912864"/>
            <a:ext cx="1828800" cy="1828800"/>
            <a:chOff x="0" y="0"/>
            <a:chExt cx="2438400" cy="2438400"/>
          </a:xfrm>
        </p:grpSpPr>
        <p:sp>
          <p:nvSpPr>
            <p:cNvPr id="14" name="Freeform 14"/>
            <p:cNvSpPr/>
            <p:nvPr/>
          </p:nvSpPr>
          <p:spPr>
            <a:xfrm>
              <a:off x="0" y="0"/>
              <a:ext cx="2438400" cy="2438400"/>
            </a:xfrm>
            <a:custGeom>
              <a:avLst/>
              <a:gdLst/>
              <a:ahLst/>
              <a:cxnLst/>
              <a:rect l="l" t="t" r="r" b="b"/>
              <a:pathLst>
                <a:path w="2438400" h="2438400">
                  <a:moveTo>
                    <a:pt x="0" y="1219200"/>
                  </a:moveTo>
                  <a:cubicBezTo>
                    <a:pt x="0" y="545846"/>
                    <a:pt x="545846" y="0"/>
                    <a:pt x="1219200" y="0"/>
                  </a:cubicBezTo>
                  <a:cubicBezTo>
                    <a:pt x="1892554" y="0"/>
                    <a:pt x="2438400" y="545846"/>
                    <a:pt x="2438400" y="1219200"/>
                  </a:cubicBezTo>
                  <a:cubicBezTo>
                    <a:pt x="2438400" y="1892554"/>
                    <a:pt x="1892554" y="2438400"/>
                    <a:pt x="1219200" y="2438400"/>
                  </a:cubicBezTo>
                  <a:cubicBezTo>
                    <a:pt x="545846" y="2438400"/>
                    <a:pt x="0" y="1892554"/>
                    <a:pt x="0" y="1219200"/>
                  </a:cubicBezTo>
                  <a:close/>
                </a:path>
              </a:pathLst>
            </a:custGeom>
            <a:solidFill>
              <a:srgbClr val="2F6B3A"/>
            </a:solidFill>
          </p:spPr>
        </p:sp>
      </p:grpSp>
      <p:sp>
        <p:nvSpPr>
          <p:cNvPr id="15" name="TextBox 15"/>
          <p:cNvSpPr txBox="1"/>
          <p:nvPr/>
        </p:nvSpPr>
        <p:spPr>
          <a:xfrm>
            <a:off x="2468880" y="3683127"/>
            <a:ext cx="2194560" cy="504825"/>
          </a:xfrm>
          <a:prstGeom prst="rect">
            <a:avLst/>
          </a:prstGeom>
        </p:spPr>
        <p:txBody>
          <a:bodyPr lIns="0" tIns="0" rIns="0" bIns="0" rtlCol="0" anchor="t">
            <a:spAutoFit/>
          </a:bodyPr>
          <a:lstStyle/>
          <a:p>
            <a:pPr algn="ctr">
              <a:lnSpc>
                <a:spcPts val="2639"/>
              </a:lnSpc>
            </a:pPr>
            <a:r>
              <a:rPr lang="en-US" sz="2199" b="1">
                <a:solidFill>
                  <a:srgbClr val="5F6B62"/>
                </a:solidFill>
                <a:latin typeface="Calibri (MS) Bold"/>
                <a:ea typeface="Calibri (MS) Bold"/>
                <a:cs typeface="Calibri (MS) Bold"/>
                <a:sym typeface="Calibri (MS) Bold"/>
              </a:rPr>
              <a:t>TAM</a:t>
            </a:r>
          </a:p>
        </p:txBody>
      </p:sp>
      <p:sp>
        <p:nvSpPr>
          <p:cNvPr id="16" name="TextBox 16"/>
          <p:cNvSpPr txBox="1"/>
          <p:nvPr/>
        </p:nvSpPr>
        <p:spPr>
          <a:xfrm>
            <a:off x="2468880" y="5402199"/>
            <a:ext cx="2194560" cy="504825"/>
          </a:xfrm>
          <a:prstGeom prst="rect">
            <a:avLst/>
          </a:prstGeom>
        </p:spPr>
        <p:txBody>
          <a:bodyPr lIns="0" tIns="0" rIns="0" bIns="0" rtlCol="0" anchor="t">
            <a:spAutoFit/>
          </a:bodyPr>
          <a:lstStyle/>
          <a:p>
            <a:pPr algn="ctr">
              <a:lnSpc>
                <a:spcPts val="2639"/>
              </a:lnSpc>
            </a:pPr>
            <a:r>
              <a:rPr lang="en-US" sz="2199" b="1">
                <a:solidFill>
                  <a:srgbClr val="2F6B3A"/>
                </a:solidFill>
                <a:latin typeface="Calibri (MS) Bold"/>
                <a:ea typeface="Calibri (MS) Bold"/>
                <a:cs typeface="Calibri (MS) Bold"/>
                <a:sym typeface="Calibri (MS) Bold"/>
              </a:rPr>
              <a:t>SAM</a:t>
            </a:r>
          </a:p>
        </p:txBody>
      </p:sp>
      <p:grpSp>
        <p:nvGrpSpPr>
          <p:cNvPr id="17" name="Group 17"/>
          <p:cNvGrpSpPr/>
          <p:nvPr/>
        </p:nvGrpSpPr>
        <p:grpSpPr>
          <a:xfrm>
            <a:off x="2651760" y="6912864"/>
            <a:ext cx="1828800" cy="1828800"/>
            <a:chOff x="0" y="0"/>
            <a:chExt cx="2438400" cy="2438400"/>
          </a:xfrm>
        </p:grpSpPr>
        <p:sp>
          <p:nvSpPr>
            <p:cNvPr id="18" name="Freeform 18"/>
            <p:cNvSpPr/>
            <p:nvPr/>
          </p:nvSpPr>
          <p:spPr>
            <a:xfrm>
              <a:off x="0" y="0"/>
              <a:ext cx="2438400" cy="2438400"/>
            </a:xfrm>
            <a:custGeom>
              <a:avLst/>
              <a:gdLst/>
              <a:ahLst/>
              <a:cxnLst/>
              <a:rect l="l" t="t" r="r" b="b"/>
              <a:pathLst>
                <a:path w="2438400" h="2438400">
                  <a:moveTo>
                    <a:pt x="0" y="0"/>
                  </a:moveTo>
                  <a:lnTo>
                    <a:pt x="2438400" y="0"/>
                  </a:lnTo>
                  <a:lnTo>
                    <a:pt x="2438400" y="2438400"/>
                  </a:lnTo>
                  <a:lnTo>
                    <a:pt x="0" y="2438400"/>
                  </a:lnTo>
                  <a:close/>
                </a:path>
              </a:pathLst>
            </a:custGeom>
            <a:blipFill>
              <a:blip r:embed="rId2">
                <a:alphaModFix amt="0"/>
              </a:blip>
              <a:stretch>
                <a:fillRect l="-78303" r="-78303"/>
              </a:stretch>
            </a:blipFill>
          </p:spPr>
        </p:sp>
        <p:sp>
          <p:nvSpPr>
            <p:cNvPr id="19" name="TextBox 19"/>
            <p:cNvSpPr txBox="1"/>
            <p:nvPr/>
          </p:nvSpPr>
          <p:spPr>
            <a:xfrm>
              <a:off x="0" y="-47625"/>
              <a:ext cx="2438400" cy="2486025"/>
            </a:xfrm>
            <a:prstGeom prst="rect">
              <a:avLst/>
            </a:prstGeom>
          </p:spPr>
          <p:txBody>
            <a:bodyPr lIns="0" tIns="0" rIns="0" bIns="0" rtlCol="0" anchor="ctr"/>
            <a:lstStyle/>
            <a:p>
              <a:pPr algn="ctr">
                <a:lnSpc>
                  <a:spcPts val="2639"/>
                </a:lnSpc>
              </a:pPr>
              <a:r>
                <a:rPr lang="en-US" sz="2199" b="1">
                  <a:solidFill>
                    <a:srgbClr val="FFFFFF"/>
                  </a:solidFill>
                  <a:latin typeface="Calibri (MS) Bold"/>
                  <a:ea typeface="Calibri (MS) Bold"/>
                  <a:cs typeface="Calibri (MS) Bold"/>
                  <a:sym typeface="Calibri (MS) Bold"/>
                </a:rPr>
                <a:t>SOM</a:t>
              </a:r>
            </a:p>
          </p:txBody>
        </p:sp>
      </p:grpSp>
      <p:sp>
        <p:nvSpPr>
          <p:cNvPr id="20" name="TextBox 20"/>
          <p:cNvSpPr txBox="1"/>
          <p:nvPr/>
        </p:nvSpPr>
        <p:spPr>
          <a:xfrm>
            <a:off x="6400800" y="3482721"/>
            <a:ext cx="3017520" cy="577215"/>
          </a:xfrm>
          <a:prstGeom prst="rect">
            <a:avLst/>
          </a:prstGeom>
        </p:spPr>
        <p:txBody>
          <a:bodyPr lIns="0" tIns="0" rIns="0" bIns="0" rtlCol="0" anchor="t">
            <a:spAutoFit/>
          </a:bodyPr>
          <a:lstStyle/>
          <a:p>
            <a:pPr algn="l">
              <a:lnSpc>
                <a:spcPts val="3840"/>
              </a:lnSpc>
            </a:pPr>
            <a:r>
              <a:rPr lang="en-US" sz="3200" b="1">
                <a:solidFill>
                  <a:srgbClr val="2F6B3A"/>
                </a:solidFill>
                <a:latin typeface="Arial Bold"/>
                <a:ea typeface="Arial Bold"/>
                <a:cs typeface="Arial Bold"/>
                <a:sym typeface="Arial Bold"/>
              </a:rPr>
              <a:t>$14.8B</a:t>
            </a:r>
          </a:p>
        </p:txBody>
      </p:sp>
      <p:sp>
        <p:nvSpPr>
          <p:cNvPr id="21" name="TextBox 21"/>
          <p:cNvSpPr txBox="1"/>
          <p:nvPr/>
        </p:nvSpPr>
        <p:spPr>
          <a:xfrm>
            <a:off x="6400800" y="4058412"/>
            <a:ext cx="2926080" cy="952500"/>
          </a:xfrm>
          <a:prstGeom prst="rect">
            <a:avLst/>
          </a:prstGeom>
        </p:spPr>
        <p:txBody>
          <a:bodyPr lIns="0" tIns="0" rIns="0" bIns="0" rtlCol="0" anchor="t">
            <a:spAutoFit/>
          </a:bodyPr>
          <a:lstStyle/>
          <a:p>
            <a:pPr algn="l">
              <a:lnSpc>
                <a:spcPts val="2160"/>
              </a:lnSpc>
            </a:pPr>
            <a:r>
              <a:rPr lang="en-US" sz="1800">
                <a:solidFill>
                  <a:srgbClr val="5F6B62"/>
                </a:solidFill>
                <a:latin typeface="Calibri (MS)"/>
                <a:ea typeface="Calibri (MS)"/>
                <a:cs typeface="Calibri (MS)"/>
                <a:sym typeface="Calibri (MS)"/>
              </a:rPr>
              <a:t>Global application-security spend, 2026; 13.6% a year to 2031</a:t>
            </a:r>
          </a:p>
        </p:txBody>
      </p:sp>
      <p:sp>
        <p:nvSpPr>
          <p:cNvPr id="22" name="TextBox 22"/>
          <p:cNvSpPr txBox="1"/>
          <p:nvPr/>
        </p:nvSpPr>
        <p:spPr>
          <a:xfrm>
            <a:off x="6400800" y="5238369"/>
            <a:ext cx="3017520" cy="577215"/>
          </a:xfrm>
          <a:prstGeom prst="rect">
            <a:avLst/>
          </a:prstGeom>
        </p:spPr>
        <p:txBody>
          <a:bodyPr lIns="0" tIns="0" rIns="0" bIns="0" rtlCol="0" anchor="t">
            <a:spAutoFit/>
          </a:bodyPr>
          <a:lstStyle/>
          <a:p>
            <a:pPr algn="l">
              <a:lnSpc>
                <a:spcPts val="3840"/>
              </a:lnSpc>
            </a:pPr>
            <a:r>
              <a:rPr lang="en-US" sz="3200" b="1">
                <a:solidFill>
                  <a:srgbClr val="2F6B3A"/>
                </a:solidFill>
                <a:latin typeface="Arial Bold"/>
                <a:ea typeface="Arial Bold"/>
                <a:cs typeface="Arial Bold"/>
                <a:sym typeface="Arial Bold"/>
              </a:rPr>
              <a:t>$5.8B</a:t>
            </a:r>
          </a:p>
        </p:txBody>
      </p:sp>
      <p:sp>
        <p:nvSpPr>
          <p:cNvPr id="23" name="TextBox 23"/>
          <p:cNvSpPr txBox="1"/>
          <p:nvPr/>
        </p:nvSpPr>
        <p:spPr>
          <a:xfrm>
            <a:off x="6400800" y="5814060"/>
            <a:ext cx="2926080" cy="952500"/>
          </a:xfrm>
          <a:prstGeom prst="rect">
            <a:avLst/>
          </a:prstGeom>
        </p:spPr>
        <p:txBody>
          <a:bodyPr lIns="0" tIns="0" rIns="0" bIns="0" rtlCol="0" anchor="t">
            <a:spAutoFit/>
          </a:bodyPr>
          <a:lstStyle/>
          <a:p>
            <a:pPr algn="l">
              <a:lnSpc>
                <a:spcPts val="2160"/>
              </a:lnSpc>
            </a:pPr>
            <a:r>
              <a:rPr lang="en-US" sz="1800">
                <a:solidFill>
                  <a:srgbClr val="5F6B62"/>
                </a:solidFill>
                <a:latin typeface="Calibri (MS)"/>
                <a:ea typeface="Calibri (MS)"/>
                <a:cs typeface="Calibri (MS)"/>
                <a:sym typeface="Calibri (MS)"/>
              </a:rPr>
              <a:t>The ~39% spent by small and mid-sized firms, the fastest-growing segment</a:t>
            </a:r>
          </a:p>
        </p:txBody>
      </p:sp>
      <p:sp>
        <p:nvSpPr>
          <p:cNvPr id="24" name="TextBox 24"/>
          <p:cNvSpPr txBox="1"/>
          <p:nvPr/>
        </p:nvSpPr>
        <p:spPr>
          <a:xfrm>
            <a:off x="6400800" y="6994017"/>
            <a:ext cx="3017520" cy="577215"/>
          </a:xfrm>
          <a:prstGeom prst="rect">
            <a:avLst/>
          </a:prstGeom>
        </p:spPr>
        <p:txBody>
          <a:bodyPr lIns="0" tIns="0" rIns="0" bIns="0" rtlCol="0" anchor="t">
            <a:spAutoFit/>
          </a:bodyPr>
          <a:lstStyle/>
          <a:p>
            <a:pPr algn="l">
              <a:lnSpc>
                <a:spcPts val="3840"/>
              </a:lnSpc>
            </a:pPr>
            <a:r>
              <a:rPr lang="en-US" sz="3200" b="1">
                <a:solidFill>
                  <a:srgbClr val="2F6B3A"/>
                </a:solidFill>
                <a:latin typeface="Arial Bold"/>
                <a:ea typeface="Arial Bold"/>
                <a:cs typeface="Arial Bold"/>
                <a:sym typeface="Arial Bold"/>
              </a:rPr>
              <a:t>$1.1M ARR</a:t>
            </a:r>
          </a:p>
        </p:txBody>
      </p:sp>
      <p:sp>
        <p:nvSpPr>
          <p:cNvPr id="25" name="TextBox 25"/>
          <p:cNvSpPr txBox="1"/>
          <p:nvPr/>
        </p:nvSpPr>
        <p:spPr>
          <a:xfrm>
            <a:off x="6400800" y="7569708"/>
            <a:ext cx="2926080" cy="952500"/>
          </a:xfrm>
          <a:prstGeom prst="rect">
            <a:avLst/>
          </a:prstGeom>
        </p:spPr>
        <p:txBody>
          <a:bodyPr lIns="0" tIns="0" rIns="0" bIns="0" rtlCol="0" anchor="t">
            <a:spAutoFit/>
          </a:bodyPr>
          <a:lstStyle/>
          <a:p>
            <a:pPr algn="l">
              <a:lnSpc>
                <a:spcPts val="2160"/>
              </a:lnSpc>
            </a:pPr>
            <a:r>
              <a:rPr lang="en-US" sz="1800">
                <a:solidFill>
                  <a:srgbClr val="5F6B62"/>
                </a:solidFill>
                <a:latin typeface="Calibri (MS)"/>
                <a:ea typeface="Calibri (MS)"/>
                <a:cs typeface="Calibri (MS)"/>
                <a:sym typeface="Calibri (MS)"/>
              </a:rPr>
              <a:t>600 workspaces by year 3: Japan 150, India 150, US / Europe 300</a:t>
            </a:r>
          </a:p>
        </p:txBody>
      </p:sp>
      <p:sp>
        <p:nvSpPr>
          <p:cNvPr id="26" name="TextBox 26"/>
          <p:cNvSpPr txBox="1"/>
          <p:nvPr/>
        </p:nvSpPr>
        <p:spPr>
          <a:xfrm>
            <a:off x="9692640" y="2321814"/>
            <a:ext cx="7680960" cy="531114"/>
          </a:xfrm>
          <a:prstGeom prst="rect">
            <a:avLst/>
          </a:prstGeom>
        </p:spPr>
        <p:txBody>
          <a:bodyPr lIns="0" tIns="0" rIns="0" bIns="0" rtlCol="0" anchor="t">
            <a:spAutoFit/>
          </a:bodyPr>
          <a:lstStyle/>
          <a:p>
            <a:pPr algn="l">
              <a:lnSpc>
                <a:spcPts val="3359"/>
              </a:lnSpc>
            </a:pPr>
            <a:r>
              <a:rPr lang="en-US" sz="2799" b="1">
                <a:solidFill>
                  <a:srgbClr val="1A231C"/>
                </a:solidFill>
                <a:latin typeface="Arial Bold"/>
                <a:ea typeface="Arial Bold"/>
                <a:cs typeface="Arial Bold"/>
                <a:sym typeface="Arial Bold"/>
              </a:rPr>
              <a:t>Where we compete</a:t>
            </a:r>
          </a:p>
        </p:txBody>
      </p:sp>
      <p:grpSp>
        <p:nvGrpSpPr>
          <p:cNvPr id="27" name="Group 27"/>
          <p:cNvGrpSpPr/>
          <p:nvPr/>
        </p:nvGrpSpPr>
        <p:grpSpPr>
          <a:xfrm>
            <a:off x="9683115" y="2953131"/>
            <a:ext cx="7700010" cy="4993386"/>
            <a:chOff x="0" y="0"/>
            <a:chExt cx="10266680" cy="6657848"/>
          </a:xfrm>
        </p:grpSpPr>
        <p:sp>
          <p:nvSpPr>
            <p:cNvPr id="28" name="Freeform 28"/>
            <p:cNvSpPr/>
            <p:nvPr/>
          </p:nvSpPr>
          <p:spPr>
            <a:xfrm>
              <a:off x="0" y="0"/>
              <a:ext cx="10266680" cy="6657848"/>
            </a:xfrm>
            <a:custGeom>
              <a:avLst/>
              <a:gdLst/>
              <a:ahLst/>
              <a:cxnLst/>
              <a:rect l="l" t="t" r="r" b="b"/>
              <a:pathLst>
                <a:path w="10266680" h="6657848">
                  <a:moveTo>
                    <a:pt x="0" y="332867"/>
                  </a:moveTo>
                  <a:cubicBezTo>
                    <a:pt x="0" y="149098"/>
                    <a:pt x="149098" y="0"/>
                    <a:pt x="332867" y="0"/>
                  </a:cubicBezTo>
                  <a:lnTo>
                    <a:pt x="9933813" y="0"/>
                  </a:lnTo>
                  <a:cubicBezTo>
                    <a:pt x="10117709" y="0"/>
                    <a:pt x="10266680" y="149098"/>
                    <a:pt x="10266680" y="332867"/>
                  </a:cubicBezTo>
                  <a:lnTo>
                    <a:pt x="10266680" y="6324981"/>
                  </a:lnTo>
                  <a:cubicBezTo>
                    <a:pt x="10266680" y="6508877"/>
                    <a:pt x="10117582" y="6657848"/>
                    <a:pt x="9933813" y="6657848"/>
                  </a:cubicBezTo>
                  <a:lnTo>
                    <a:pt x="332867" y="6657848"/>
                  </a:lnTo>
                  <a:cubicBezTo>
                    <a:pt x="149098" y="6657848"/>
                    <a:pt x="0" y="6508750"/>
                    <a:pt x="0" y="6324981"/>
                  </a:cubicBezTo>
                  <a:close/>
                </a:path>
              </a:pathLst>
            </a:custGeom>
            <a:solidFill>
              <a:srgbClr val="FFFFFF"/>
            </a:solidFill>
            <a:ln w="19050" cap="sq">
              <a:solidFill>
                <a:srgbClr val="DDE3D8"/>
              </a:solidFill>
              <a:prstDash val="solid"/>
              <a:miter/>
            </a:ln>
          </p:spPr>
        </p:sp>
      </p:grpSp>
      <p:sp>
        <p:nvSpPr>
          <p:cNvPr id="29" name="AutoShape 29"/>
          <p:cNvSpPr/>
          <p:nvPr/>
        </p:nvSpPr>
        <p:spPr>
          <a:xfrm rot="5382840">
            <a:off x="8549240" y="5152454"/>
            <a:ext cx="3823002" cy="0"/>
          </a:xfrm>
          <a:prstGeom prst="line">
            <a:avLst/>
          </a:prstGeom>
          <a:ln w="9525" cap="rnd">
            <a:solidFill>
              <a:srgbClr val="5F6B62"/>
            </a:solidFill>
            <a:prstDash val="solid"/>
            <a:headEnd type="none" w="sm" len="sm"/>
            <a:tailEnd type="none" w="sm" len="sm"/>
          </a:ln>
        </p:spPr>
      </p:sp>
      <p:sp>
        <p:nvSpPr>
          <p:cNvPr id="30" name="AutoShape 30"/>
          <p:cNvSpPr/>
          <p:nvPr/>
        </p:nvSpPr>
        <p:spPr>
          <a:xfrm rot="9900">
            <a:off x="10451201" y="7054406"/>
            <a:ext cx="6602759" cy="0"/>
          </a:xfrm>
          <a:prstGeom prst="line">
            <a:avLst/>
          </a:prstGeom>
          <a:ln w="9525" cap="rnd">
            <a:solidFill>
              <a:srgbClr val="5F6B62"/>
            </a:solidFill>
            <a:prstDash val="solid"/>
            <a:headEnd type="none" w="sm" len="sm"/>
            <a:tailEnd type="none" w="sm" len="sm"/>
          </a:ln>
        </p:spPr>
      </p:sp>
      <p:sp>
        <p:nvSpPr>
          <p:cNvPr id="31" name="AutoShape 31"/>
          <p:cNvSpPr/>
          <p:nvPr/>
        </p:nvSpPr>
        <p:spPr>
          <a:xfrm rot="5382840">
            <a:off x="11841080" y="5152454"/>
            <a:ext cx="3823002" cy="0"/>
          </a:xfrm>
          <a:prstGeom prst="line">
            <a:avLst/>
          </a:prstGeom>
          <a:ln w="9525" cap="rnd">
            <a:solidFill>
              <a:srgbClr val="DDE3D8"/>
            </a:solidFill>
            <a:prstDash val="solid"/>
            <a:headEnd type="none" w="sm" len="sm"/>
            <a:tailEnd type="none" w="sm" len="sm"/>
          </a:ln>
        </p:spPr>
      </p:sp>
      <p:sp>
        <p:nvSpPr>
          <p:cNvPr id="32" name="AutoShape 32"/>
          <p:cNvSpPr/>
          <p:nvPr/>
        </p:nvSpPr>
        <p:spPr>
          <a:xfrm rot="9900">
            <a:off x="10451201" y="5152454"/>
            <a:ext cx="6602759" cy="0"/>
          </a:xfrm>
          <a:prstGeom prst="line">
            <a:avLst/>
          </a:prstGeom>
          <a:ln w="9525" cap="rnd">
            <a:solidFill>
              <a:srgbClr val="DDE3D8"/>
            </a:solidFill>
            <a:prstDash val="solid"/>
            <a:headEnd type="none" w="sm" len="sm"/>
            <a:tailEnd type="none" w="sm" len="sm"/>
          </a:ln>
        </p:spPr>
      </p:sp>
      <p:sp>
        <p:nvSpPr>
          <p:cNvPr id="33" name="TextBox 33"/>
          <p:cNvSpPr txBox="1"/>
          <p:nvPr/>
        </p:nvSpPr>
        <p:spPr>
          <a:xfrm>
            <a:off x="10460736" y="7112508"/>
            <a:ext cx="6583680" cy="440436"/>
          </a:xfrm>
          <a:prstGeom prst="rect">
            <a:avLst/>
          </a:prstGeom>
        </p:spPr>
        <p:txBody>
          <a:bodyPr lIns="0" tIns="0" rIns="0" bIns="0" rtlCol="0" anchor="t">
            <a:spAutoFit/>
          </a:bodyPr>
          <a:lstStyle/>
          <a:p>
            <a:pPr algn="ctr">
              <a:lnSpc>
                <a:spcPts val="2040"/>
              </a:lnSpc>
            </a:pPr>
            <a:r>
              <a:rPr lang="en-US" sz="1700">
                <a:solidFill>
                  <a:srgbClr val="5F6B62"/>
                </a:solidFill>
                <a:latin typeface="Calibri (MS)"/>
                <a:ea typeface="Calibri (MS)"/>
                <a:cs typeface="Calibri (MS)"/>
                <a:sym typeface="Calibri (MS)"/>
              </a:rPr>
              <a:t>Starts from local advisories, in the team’s language  →</a:t>
            </a:r>
          </a:p>
        </p:txBody>
      </p:sp>
      <p:sp>
        <p:nvSpPr>
          <p:cNvPr id="34" name="TextBox 34"/>
          <p:cNvSpPr txBox="1"/>
          <p:nvPr/>
        </p:nvSpPr>
        <p:spPr>
          <a:xfrm rot="-5400000">
            <a:off x="8387894" y="4936998"/>
            <a:ext cx="3657600" cy="440436"/>
          </a:xfrm>
          <a:prstGeom prst="rect">
            <a:avLst/>
          </a:prstGeom>
        </p:spPr>
        <p:txBody>
          <a:bodyPr lIns="0" tIns="0" rIns="0" bIns="0" rtlCol="0" anchor="t">
            <a:spAutoFit/>
          </a:bodyPr>
          <a:lstStyle/>
          <a:p>
            <a:pPr algn="ctr">
              <a:lnSpc>
                <a:spcPts val="2040"/>
              </a:lnSpc>
            </a:pPr>
            <a:r>
              <a:rPr lang="en-US" sz="1700">
                <a:solidFill>
                  <a:srgbClr val="5F6B62"/>
                </a:solidFill>
                <a:latin typeface="Calibri (MS)"/>
                <a:ea typeface="Calibri (MS)"/>
                <a:cs typeface="Calibri (MS)"/>
                <a:sym typeface="Calibri (MS)"/>
              </a:rPr>
              <a:t>Proof a fix is safe to ship  →</a:t>
            </a:r>
          </a:p>
        </p:txBody>
      </p:sp>
      <p:grpSp>
        <p:nvGrpSpPr>
          <p:cNvPr id="35" name="Group 35"/>
          <p:cNvGrpSpPr/>
          <p:nvPr/>
        </p:nvGrpSpPr>
        <p:grpSpPr>
          <a:xfrm>
            <a:off x="10793578" y="6322524"/>
            <a:ext cx="256032" cy="256032"/>
            <a:chOff x="0" y="0"/>
            <a:chExt cx="341376" cy="341376"/>
          </a:xfrm>
        </p:grpSpPr>
        <p:sp>
          <p:nvSpPr>
            <p:cNvPr id="36" name="Freeform 36"/>
            <p:cNvSpPr/>
            <p:nvPr/>
          </p:nvSpPr>
          <p:spPr>
            <a:xfrm>
              <a:off x="0" y="0"/>
              <a:ext cx="341376" cy="341376"/>
            </a:xfrm>
            <a:custGeom>
              <a:avLst/>
              <a:gdLst/>
              <a:ahLst/>
              <a:cxnLst/>
              <a:rect l="l" t="t" r="r" b="b"/>
              <a:pathLst>
                <a:path w="341376" h="341376">
                  <a:moveTo>
                    <a:pt x="0" y="170688"/>
                  </a:moveTo>
                  <a:cubicBezTo>
                    <a:pt x="0" y="76454"/>
                    <a:pt x="76454" y="0"/>
                    <a:pt x="170688" y="0"/>
                  </a:cubicBezTo>
                  <a:cubicBezTo>
                    <a:pt x="264922" y="0"/>
                    <a:pt x="341376" y="76454"/>
                    <a:pt x="341376" y="170688"/>
                  </a:cubicBezTo>
                  <a:cubicBezTo>
                    <a:pt x="341376" y="264922"/>
                    <a:pt x="264922" y="341376"/>
                    <a:pt x="170688" y="341376"/>
                  </a:cubicBezTo>
                  <a:cubicBezTo>
                    <a:pt x="76454" y="341376"/>
                    <a:pt x="0" y="264922"/>
                    <a:pt x="0" y="170688"/>
                  </a:cubicBezTo>
                  <a:close/>
                </a:path>
              </a:pathLst>
            </a:custGeom>
            <a:solidFill>
              <a:srgbClr val="5F6B62"/>
            </a:solidFill>
          </p:spPr>
        </p:sp>
      </p:grpSp>
      <p:grpSp>
        <p:nvGrpSpPr>
          <p:cNvPr id="37" name="Group 37"/>
          <p:cNvGrpSpPr/>
          <p:nvPr/>
        </p:nvGrpSpPr>
        <p:grpSpPr>
          <a:xfrm>
            <a:off x="11177626" y="6267660"/>
            <a:ext cx="2834640" cy="365760"/>
            <a:chOff x="0" y="0"/>
            <a:chExt cx="3779520" cy="487680"/>
          </a:xfrm>
        </p:grpSpPr>
        <p:sp>
          <p:nvSpPr>
            <p:cNvPr id="38" name="Freeform 38"/>
            <p:cNvSpPr/>
            <p:nvPr/>
          </p:nvSpPr>
          <p:spPr>
            <a:xfrm>
              <a:off x="0" y="0"/>
              <a:ext cx="3779520" cy="487680"/>
            </a:xfrm>
            <a:custGeom>
              <a:avLst/>
              <a:gdLst/>
              <a:ahLst/>
              <a:cxnLst/>
              <a:rect l="l" t="t" r="r" b="b"/>
              <a:pathLst>
                <a:path w="3779520" h="487680">
                  <a:moveTo>
                    <a:pt x="0" y="0"/>
                  </a:moveTo>
                  <a:lnTo>
                    <a:pt x="3779520" y="0"/>
                  </a:lnTo>
                  <a:lnTo>
                    <a:pt x="3779520" y="487680"/>
                  </a:lnTo>
                  <a:lnTo>
                    <a:pt x="0" y="487680"/>
                  </a:lnTo>
                  <a:close/>
                </a:path>
              </a:pathLst>
            </a:custGeom>
            <a:blipFill>
              <a:blip r:embed="rId2">
                <a:alphaModFix amt="0"/>
              </a:blip>
              <a:stretch>
                <a:fillRect t="-101009" b="-101009"/>
              </a:stretch>
            </a:blipFill>
          </p:spPr>
        </p:sp>
        <p:sp>
          <p:nvSpPr>
            <p:cNvPr id="39" name="TextBox 39"/>
            <p:cNvSpPr txBox="1"/>
            <p:nvPr/>
          </p:nvSpPr>
          <p:spPr>
            <a:xfrm>
              <a:off x="0" y="-38100"/>
              <a:ext cx="3779520" cy="525780"/>
            </a:xfrm>
            <a:prstGeom prst="rect">
              <a:avLst/>
            </a:prstGeom>
          </p:spPr>
          <p:txBody>
            <a:bodyPr lIns="0" tIns="0" rIns="0" bIns="0" rtlCol="0" anchor="ctr"/>
            <a:lstStyle/>
            <a:p>
              <a:pPr algn="l">
                <a:lnSpc>
                  <a:spcPts val="2160"/>
                </a:lnSpc>
              </a:pPr>
              <a:r>
                <a:rPr lang="en-US" sz="1800">
                  <a:solidFill>
                    <a:srgbClr val="1A231C"/>
                  </a:solidFill>
                  <a:latin typeface="Calibri (MS)"/>
                  <a:ea typeface="Calibri (MS)"/>
                  <a:cs typeface="Calibri (MS)"/>
                  <a:sym typeface="Calibri (MS)"/>
                </a:rPr>
                <a:t>Dependabot</a:t>
              </a:r>
            </a:p>
          </p:txBody>
        </p:sp>
      </p:grpSp>
      <p:grpSp>
        <p:nvGrpSpPr>
          <p:cNvPr id="40" name="Group 40"/>
          <p:cNvGrpSpPr/>
          <p:nvPr/>
        </p:nvGrpSpPr>
        <p:grpSpPr>
          <a:xfrm>
            <a:off x="11912803" y="5409590"/>
            <a:ext cx="256032" cy="256032"/>
            <a:chOff x="0" y="0"/>
            <a:chExt cx="341376" cy="341376"/>
          </a:xfrm>
        </p:grpSpPr>
        <p:sp>
          <p:nvSpPr>
            <p:cNvPr id="41" name="Freeform 41"/>
            <p:cNvSpPr/>
            <p:nvPr/>
          </p:nvSpPr>
          <p:spPr>
            <a:xfrm>
              <a:off x="0" y="0"/>
              <a:ext cx="341376" cy="341376"/>
            </a:xfrm>
            <a:custGeom>
              <a:avLst/>
              <a:gdLst/>
              <a:ahLst/>
              <a:cxnLst/>
              <a:rect l="l" t="t" r="r" b="b"/>
              <a:pathLst>
                <a:path w="341376" h="341376">
                  <a:moveTo>
                    <a:pt x="0" y="170688"/>
                  </a:moveTo>
                  <a:cubicBezTo>
                    <a:pt x="0" y="76454"/>
                    <a:pt x="76454" y="0"/>
                    <a:pt x="170688" y="0"/>
                  </a:cubicBezTo>
                  <a:cubicBezTo>
                    <a:pt x="264922" y="0"/>
                    <a:pt x="341376" y="76454"/>
                    <a:pt x="341376" y="170688"/>
                  </a:cubicBezTo>
                  <a:cubicBezTo>
                    <a:pt x="341376" y="264922"/>
                    <a:pt x="264922" y="341376"/>
                    <a:pt x="170688" y="341376"/>
                  </a:cubicBezTo>
                  <a:cubicBezTo>
                    <a:pt x="76454" y="341376"/>
                    <a:pt x="0" y="264922"/>
                    <a:pt x="0" y="170688"/>
                  </a:cubicBezTo>
                  <a:close/>
                </a:path>
              </a:pathLst>
            </a:custGeom>
            <a:solidFill>
              <a:srgbClr val="5F6B62"/>
            </a:solidFill>
          </p:spPr>
        </p:sp>
      </p:grpSp>
      <p:grpSp>
        <p:nvGrpSpPr>
          <p:cNvPr id="42" name="Group 42"/>
          <p:cNvGrpSpPr/>
          <p:nvPr/>
        </p:nvGrpSpPr>
        <p:grpSpPr>
          <a:xfrm>
            <a:off x="12296851" y="5354726"/>
            <a:ext cx="2834640" cy="365760"/>
            <a:chOff x="0" y="0"/>
            <a:chExt cx="3779520" cy="487680"/>
          </a:xfrm>
        </p:grpSpPr>
        <p:sp>
          <p:nvSpPr>
            <p:cNvPr id="43" name="Freeform 43"/>
            <p:cNvSpPr/>
            <p:nvPr/>
          </p:nvSpPr>
          <p:spPr>
            <a:xfrm>
              <a:off x="0" y="0"/>
              <a:ext cx="3779520" cy="487680"/>
            </a:xfrm>
            <a:custGeom>
              <a:avLst/>
              <a:gdLst/>
              <a:ahLst/>
              <a:cxnLst/>
              <a:rect l="l" t="t" r="r" b="b"/>
              <a:pathLst>
                <a:path w="3779520" h="487680">
                  <a:moveTo>
                    <a:pt x="0" y="0"/>
                  </a:moveTo>
                  <a:lnTo>
                    <a:pt x="3779520" y="0"/>
                  </a:lnTo>
                  <a:lnTo>
                    <a:pt x="3779520" y="487680"/>
                  </a:lnTo>
                  <a:lnTo>
                    <a:pt x="0" y="487680"/>
                  </a:lnTo>
                  <a:close/>
                </a:path>
              </a:pathLst>
            </a:custGeom>
            <a:blipFill>
              <a:blip r:embed="rId2">
                <a:alphaModFix amt="0"/>
              </a:blip>
              <a:stretch>
                <a:fillRect t="-101009" b="-101009"/>
              </a:stretch>
            </a:blipFill>
          </p:spPr>
        </p:sp>
        <p:sp>
          <p:nvSpPr>
            <p:cNvPr id="44" name="TextBox 44"/>
            <p:cNvSpPr txBox="1"/>
            <p:nvPr/>
          </p:nvSpPr>
          <p:spPr>
            <a:xfrm>
              <a:off x="0" y="-38100"/>
              <a:ext cx="3779520" cy="525780"/>
            </a:xfrm>
            <a:prstGeom prst="rect">
              <a:avLst/>
            </a:prstGeom>
          </p:spPr>
          <p:txBody>
            <a:bodyPr lIns="0" tIns="0" rIns="0" bIns="0" rtlCol="0" anchor="ctr"/>
            <a:lstStyle/>
            <a:p>
              <a:pPr algn="l">
                <a:lnSpc>
                  <a:spcPts val="2160"/>
                </a:lnSpc>
              </a:pPr>
              <a:r>
                <a:rPr lang="en-US" sz="1800">
                  <a:solidFill>
                    <a:srgbClr val="1A231C"/>
                  </a:solidFill>
                  <a:latin typeface="Calibri (MS)"/>
                  <a:ea typeface="Calibri (MS)"/>
                  <a:cs typeface="Calibri (MS)"/>
                  <a:sym typeface="Calibri (MS)"/>
                </a:rPr>
                <a:t>Snyk Agent Fix</a:t>
              </a:r>
            </a:p>
          </p:txBody>
        </p:sp>
      </p:grpSp>
      <p:grpSp>
        <p:nvGrpSpPr>
          <p:cNvPr id="45" name="Group 45"/>
          <p:cNvGrpSpPr/>
          <p:nvPr/>
        </p:nvGrpSpPr>
        <p:grpSpPr>
          <a:xfrm>
            <a:off x="10793578" y="4648810"/>
            <a:ext cx="256032" cy="256032"/>
            <a:chOff x="0" y="0"/>
            <a:chExt cx="341376" cy="341376"/>
          </a:xfrm>
        </p:grpSpPr>
        <p:sp>
          <p:nvSpPr>
            <p:cNvPr id="46" name="Freeform 46"/>
            <p:cNvSpPr/>
            <p:nvPr/>
          </p:nvSpPr>
          <p:spPr>
            <a:xfrm>
              <a:off x="0" y="0"/>
              <a:ext cx="341376" cy="341376"/>
            </a:xfrm>
            <a:custGeom>
              <a:avLst/>
              <a:gdLst/>
              <a:ahLst/>
              <a:cxnLst/>
              <a:rect l="l" t="t" r="r" b="b"/>
              <a:pathLst>
                <a:path w="341376" h="341376">
                  <a:moveTo>
                    <a:pt x="0" y="170688"/>
                  </a:moveTo>
                  <a:cubicBezTo>
                    <a:pt x="0" y="76454"/>
                    <a:pt x="76454" y="0"/>
                    <a:pt x="170688" y="0"/>
                  </a:cubicBezTo>
                  <a:cubicBezTo>
                    <a:pt x="264922" y="0"/>
                    <a:pt x="341376" y="76454"/>
                    <a:pt x="341376" y="170688"/>
                  </a:cubicBezTo>
                  <a:cubicBezTo>
                    <a:pt x="341376" y="264922"/>
                    <a:pt x="264922" y="341376"/>
                    <a:pt x="170688" y="341376"/>
                  </a:cubicBezTo>
                  <a:cubicBezTo>
                    <a:pt x="76454" y="341376"/>
                    <a:pt x="0" y="264922"/>
                    <a:pt x="0" y="170688"/>
                  </a:cubicBezTo>
                  <a:close/>
                </a:path>
              </a:pathLst>
            </a:custGeom>
            <a:solidFill>
              <a:srgbClr val="5F6B62"/>
            </a:solidFill>
          </p:spPr>
        </p:sp>
      </p:grpSp>
      <p:grpSp>
        <p:nvGrpSpPr>
          <p:cNvPr id="47" name="Group 47"/>
          <p:cNvGrpSpPr/>
          <p:nvPr/>
        </p:nvGrpSpPr>
        <p:grpSpPr>
          <a:xfrm>
            <a:off x="11177626" y="4593946"/>
            <a:ext cx="2834640" cy="365760"/>
            <a:chOff x="0" y="0"/>
            <a:chExt cx="3779520" cy="487680"/>
          </a:xfrm>
        </p:grpSpPr>
        <p:sp>
          <p:nvSpPr>
            <p:cNvPr id="48" name="Freeform 48"/>
            <p:cNvSpPr/>
            <p:nvPr/>
          </p:nvSpPr>
          <p:spPr>
            <a:xfrm>
              <a:off x="0" y="0"/>
              <a:ext cx="3779520" cy="487680"/>
            </a:xfrm>
            <a:custGeom>
              <a:avLst/>
              <a:gdLst/>
              <a:ahLst/>
              <a:cxnLst/>
              <a:rect l="l" t="t" r="r" b="b"/>
              <a:pathLst>
                <a:path w="3779520" h="487680">
                  <a:moveTo>
                    <a:pt x="0" y="0"/>
                  </a:moveTo>
                  <a:lnTo>
                    <a:pt x="3779520" y="0"/>
                  </a:lnTo>
                  <a:lnTo>
                    <a:pt x="3779520" y="487680"/>
                  </a:lnTo>
                  <a:lnTo>
                    <a:pt x="0" y="487680"/>
                  </a:lnTo>
                  <a:close/>
                </a:path>
              </a:pathLst>
            </a:custGeom>
            <a:blipFill>
              <a:blip r:embed="rId2">
                <a:alphaModFix amt="0"/>
              </a:blip>
              <a:stretch>
                <a:fillRect t="-101009" b="-101009"/>
              </a:stretch>
            </a:blipFill>
          </p:spPr>
        </p:sp>
        <p:sp>
          <p:nvSpPr>
            <p:cNvPr id="49" name="TextBox 49"/>
            <p:cNvSpPr txBox="1"/>
            <p:nvPr/>
          </p:nvSpPr>
          <p:spPr>
            <a:xfrm>
              <a:off x="0" y="-38100"/>
              <a:ext cx="3779520" cy="525780"/>
            </a:xfrm>
            <a:prstGeom prst="rect">
              <a:avLst/>
            </a:prstGeom>
          </p:spPr>
          <p:txBody>
            <a:bodyPr lIns="0" tIns="0" rIns="0" bIns="0" rtlCol="0" anchor="ctr"/>
            <a:lstStyle/>
            <a:p>
              <a:pPr algn="l">
                <a:lnSpc>
                  <a:spcPts val="2160"/>
                </a:lnSpc>
              </a:pPr>
              <a:r>
                <a:rPr lang="en-US" sz="1800">
                  <a:solidFill>
                    <a:srgbClr val="1A231C"/>
                  </a:solidFill>
                  <a:latin typeface="Calibri (MS)"/>
                  <a:ea typeface="Calibri (MS)"/>
                  <a:cs typeface="Calibri (MS)"/>
                  <a:sym typeface="Calibri (MS)"/>
                </a:rPr>
                <a:t>GitHub Autofix</a:t>
              </a:r>
            </a:p>
          </p:txBody>
        </p:sp>
      </p:grpSp>
      <p:grpSp>
        <p:nvGrpSpPr>
          <p:cNvPr id="50" name="Group 50"/>
          <p:cNvGrpSpPr/>
          <p:nvPr/>
        </p:nvGrpSpPr>
        <p:grpSpPr>
          <a:xfrm>
            <a:off x="12307824" y="4116257"/>
            <a:ext cx="256032" cy="256032"/>
            <a:chOff x="0" y="0"/>
            <a:chExt cx="341376" cy="341376"/>
          </a:xfrm>
        </p:grpSpPr>
        <p:sp>
          <p:nvSpPr>
            <p:cNvPr id="51" name="Freeform 51"/>
            <p:cNvSpPr/>
            <p:nvPr/>
          </p:nvSpPr>
          <p:spPr>
            <a:xfrm>
              <a:off x="0" y="0"/>
              <a:ext cx="341376" cy="341376"/>
            </a:xfrm>
            <a:custGeom>
              <a:avLst/>
              <a:gdLst/>
              <a:ahLst/>
              <a:cxnLst/>
              <a:rect l="l" t="t" r="r" b="b"/>
              <a:pathLst>
                <a:path w="341376" h="341376">
                  <a:moveTo>
                    <a:pt x="0" y="170688"/>
                  </a:moveTo>
                  <a:cubicBezTo>
                    <a:pt x="0" y="76454"/>
                    <a:pt x="76454" y="0"/>
                    <a:pt x="170688" y="0"/>
                  </a:cubicBezTo>
                  <a:cubicBezTo>
                    <a:pt x="264922" y="0"/>
                    <a:pt x="341376" y="76454"/>
                    <a:pt x="341376" y="170688"/>
                  </a:cubicBezTo>
                  <a:cubicBezTo>
                    <a:pt x="341376" y="264922"/>
                    <a:pt x="264922" y="341376"/>
                    <a:pt x="170688" y="341376"/>
                  </a:cubicBezTo>
                  <a:cubicBezTo>
                    <a:pt x="76454" y="341376"/>
                    <a:pt x="0" y="264922"/>
                    <a:pt x="0" y="170688"/>
                  </a:cubicBezTo>
                  <a:close/>
                </a:path>
              </a:pathLst>
            </a:custGeom>
            <a:solidFill>
              <a:srgbClr val="5F6B62"/>
            </a:solidFill>
          </p:spPr>
        </p:sp>
      </p:grpSp>
      <p:grpSp>
        <p:nvGrpSpPr>
          <p:cNvPr id="52" name="Group 52"/>
          <p:cNvGrpSpPr/>
          <p:nvPr/>
        </p:nvGrpSpPr>
        <p:grpSpPr>
          <a:xfrm>
            <a:off x="12691872" y="4061393"/>
            <a:ext cx="2834640" cy="365760"/>
            <a:chOff x="0" y="0"/>
            <a:chExt cx="3779520" cy="487680"/>
          </a:xfrm>
        </p:grpSpPr>
        <p:sp>
          <p:nvSpPr>
            <p:cNvPr id="53" name="Freeform 53"/>
            <p:cNvSpPr/>
            <p:nvPr/>
          </p:nvSpPr>
          <p:spPr>
            <a:xfrm>
              <a:off x="0" y="0"/>
              <a:ext cx="3779520" cy="487680"/>
            </a:xfrm>
            <a:custGeom>
              <a:avLst/>
              <a:gdLst/>
              <a:ahLst/>
              <a:cxnLst/>
              <a:rect l="l" t="t" r="r" b="b"/>
              <a:pathLst>
                <a:path w="3779520" h="487680">
                  <a:moveTo>
                    <a:pt x="0" y="0"/>
                  </a:moveTo>
                  <a:lnTo>
                    <a:pt x="3779520" y="0"/>
                  </a:lnTo>
                  <a:lnTo>
                    <a:pt x="3779520" y="487680"/>
                  </a:lnTo>
                  <a:lnTo>
                    <a:pt x="0" y="487680"/>
                  </a:lnTo>
                  <a:close/>
                </a:path>
              </a:pathLst>
            </a:custGeom>
            <a:blipFill>
              <a:blip r:embed="rId2">
                <a:alphaModFix amt="0"/>
              </a:blip>
              <a:stretch>
                <a:fillRect t="-101009" b="-101009"/>
              </a:stretch>
            </a:blipFill>
          </p:spPr>
        </p:sp>
        <p:sp>
          <p:nvSpPr>
            <p:cNvPr id="54" name="TextBox 54"/>
            <p:cNvSpPr txBox="1"/>
            <p:nvPr/>
          </p:nvSpPr>
          <p:spPr>
            <a:xfrm>
              <a:off x="0" y="-38100"/>
              <a:ext cx="3779520" cy="525780"/>
            </a:xfrm>
            <a:prstGeom prst="rect">
              <a:avLst/>
            </a:prstGeom>
          </p:spPr>
          <p:txBody>
            <a:bodyPr lIns="0" tIns="0" rIns="0" bIns="0" rtlCol="0" anchor="ctr"/>
            <a:lstStyle/>
            <a:p>
              <a:pPr algn="l">
                <a:lnSpc>
                  <a:spcPts val="2160"/>
                </a:lnSpc>
              </a:pPr>
              <a:r>
                <a:rPr lang="en-US" sz="1800">
                  <a:solidFill>
                    <a:srgbClr val="1A231C"/>
                  </a:solidFill>
                  <a:latin typeface="Calibri (MS)"/>
                  <a:ea typeface="Calibri (MS)"/>
                  <a:cs typeface="Calibri (MS)"/>
                  <a:sym typeface="Calibri (MS)"/>
                </a:rPr>
                <a:t>Aikido</a:t>
              </a:r>
            </a:p>
          </p:txBody>
        </p:sp>
      </p:grpSp>
      <p:grpSp>
        <p:nvGrpSpPr>
          <p:cNvPr id="55" name="Group 55"/>
          <p:cNvGrpSpPr/>
          <p:nvPr/>
        </p:nvGrpSpPr>
        <p:grpSpPr>
          <a:xfrm>
            <a:off x="15994685" y="5789981"/>
            <a:ext cx="256032" cy="256032"/>
            <a:chOff x="0" y="0"/>
            <a:chExt cx="341376" cy="341376"/>
          </a:xfrm>
        </p:grpSpPr>
        <p:sp>
          <p:nvSpPr>
            <p:cNvPr id="56" name="Freeform 56"/>
            <p:cNvSpPr/>
            <p:nvPr/>
          </p:nvSpPr>
          <p:spPr>
            <a:xfrm>
              <a:off x="0" y="0"/>
              <a:ext cx="341376" cy="341376"/>
            </a:xfrm>
            <a:custGeom>
              <a:avLst/>
              <a:gdLst/>
              <a:ahLst/>
              <a:cxnLst/>
              <a:rect l="l" t="t" r="r" b="b"/>
              <a:pathLst>
                <a:path w="341376" h="341376">
                  <a:moveTo>
                    <a:pt x="0" y="170688"/>
                  </a:moveTo>
                  <a:cubicBezTo>
                    <a:pt x="0" y="76454"/>
                    <a:pt x="76454" y="0"/>
                    <a:pt x="170688" y="0"/>
                  </a:cubicBezTo>
                  <a:cubicBezTo>
                    <a:pt x="264922" y="0"/>
                    <a:pt x="341376" y="76454"/>
                    <a:pt x="341376" y="170688"/>
                  </a:cubicBezTo>
                  <a:cubicBezTo>
                    <a:pt x="341376" y="264922"/>
                    <a:pt x="264922" y="341376"/>
                    <a:pt x="170688" y="341376"/>
                  </a:cubicBezTo>
                  <a:cubicBezTo>
                    <a:pt x="76454" y="341376"/>
                    <a:pt x="0" y="264922"/>
                    <a:pt x="0" y="170688"/>
                  </a:cubicBezTo>
                  <a:close/>
                </a:path>
              </a:pathLst>
            </a:custGeom>
            <a:solidFill>
              <a:srgbClr val="5F6B62"/>
            </a:solidFill>
          </p:spPr>
        </p:sp>
      </p:grpSp>
      <p:grpSp>
        <p:nvGrpSpPr>
          <p:cNvPr id="57" name="Group 57"/>
          <p:cNvGrpSpPr/>
          <p:nvPr/>
        </p:nvGrpSpPr>
        <p:grpSpPr>
          <a:xfrm>
            <a:off x="13032029" y="5735117"/>
            <a:ext cx="2834640" cy="365760"/>
            <a:chOff x="0" y="0"/>
            <a:chExt cx="3779520" cy="487680"/>
          </a:xfrm>
        </p:grpSpPr>
        <p:sp>
          <p:nvSpPr>
            <p:cNvPr id="58" name="Freeform 58"/>
            <p:cNvSpPr/>
            <p:nvPr/>
          </p:nvSpPr>
          <p:spPr>
            <a:xfrm>
              <a:off x="0" y="0"/>
              <a:ext cx="3779520" cy="487680"/>
            </a:xfrm>
            <a:custGeom>
              <a:avLst/>
              <a:gdLst/>
              <a:ahLst/>
              <a:cxnLst/>
              <a:rect l="l" t="t" r="r" b="b"/>
              <a:pathLst>
                <a:path w="3779520" h="487680">
                  <a:moveTo>
                    <a:pt x="0" y="0"/>
                  </a:moveTo>
                  <a:lnTo>
                    <a:pt x="3779520" y="0"/>
                  </a:lnTo>
                  <a:lnTo>
                    <a:pt x="3779520" y="487680"/>
                  </a:lnTo>
                  <a:lnTo>
                    <a:pt x="0" y="487680"/>
                  </a:lnTo>
                  <a:close/>
                </a:path>
              </a:pathLst>
            </a:custGeom>
            <a:blipFill>
              <a:blip r:embed="rId2">
                <a:alphaModFix amt="0"/>
              </a:blip>
              <a:stretch>
                <a:fillRect t="-101009" b="-101009"/>
              </a:stretch>
            </a:blipFill>
          </p:spPr>
        </p:sp>
        <p:sp>
          <p:nvSpPr>
            <p:cNvPr id="59" name="TextBox 59"/>
            <p:cNvSpPr txBox="1"/>
            <p:nvPr/>
          </p:nvSpPr>
          <p:spPr>
            <a:xfrm>
              <a:off x="0" y="-38100"/>
              <a:ext cx="3779520" cy="525780"/>
            </a:xfrm>
            <a:prstGeom prst="rect">
              <a:avLst/>
            </a:prstGeom>
          </p:spPr>
          <p:txBody>
            <a:bodyPr lIns="0" tIns="0" rIns="0" bIns="0" rtlCol="0" anchor="ctr"/>
            <a:lstStyle/>
            <a:p>
              <a:pPr algn="r">
                <a:lnSpc>
                  <a:spcPts val="2160"/>
                </a:lnSpc>
              </a:pPr>
              <a:r>
                <a:rPr lang="en-US" sz="1800">
                  <a:solidFill>
                    <a:srgbClr val="1A231C"/>
                  </a:solidFill>
                  <a:latin typeface="Calibri (MS)"/>
                  <a:ea typeface="Calibri (MS)"/>
                  <a:cs typeface="Calibri (MS)"/>
                  <a:sym typeface="Calibri (MS)"/>
                </a:rPr>
                <a:t>Local manual audits</a:t>
              </a:r>
            </a:p>
          </p:txBody>
        </p:sp>
      </p:grpSp>
      <p:grpSp>
        <p:nvGrpSpPr>
          <p:cNvPr id="60" name="Group 60"/>
          <p:cNvGrpSpPr/>
          <p:nvPr/>
        </p:nvGrpSpPr>
        <p:grpSpPr>
          <a:xfrm>
            <a:off x="15939821" y="3604927"/>
            <a:ext cx="365760" cy="365760"/>
            <a:chOff x="0" y="0"/>
            <a:chExt cx="487680" cy="487680"/>
          </a:xfrm>
        </p:grpSpPr>
        <p:sp>
          <p:nvSpPr>
            <p:cNvPr id="61" name="Freeform 61"/>
            <p:cNvSpPr/>
            <p:nvPr/>
          </p:nvSpPr>
          <p:spPr>
            <a:xfrm>
              <a:off x="0" y="0"/>
              <a:ext cx="487680" cy="487680"/>
            </a:xfrm>
            <a:custGeom>
              <a:avLst/>
              <a:gdLst/>
              <a:ahLst/>
              <a:cxnLst/>
              <a:rect l="l" t="t" r="r" b="b"/>
              <a:pathLst>
                <a:path w="487680" h="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2F6B3A"/>
            </a:solidFill>
          </p:spPr>
        </p:sp>
      </p:grpSp>
      <p:grpSp>
        <p:nvGrpSpPr>
          <p:cNvPr id="62" name="Group 62"/>
          <p:cNvGrpSpPr/>
          <p:nvPr/>
        </p:nvGrpSpPr>
        <p:grpSpPr>
          <a:xfrm>
            <a:off x="12977165" y="3604927"/>
            <a:ext cx="2834640" cy="365760"/>
            <a:chOff x="0" y="0"/>
            <a:chExt cx="3779520" cy="487680"/>
          </a:xfrm>
        </p:grpSpPr>
        <p:sp>
          <p:nvSpPr>
            <p:cNvPr id="63" name="Freeform 63"/>
            <p:cNvSpPr/>
            <p:nvPr/>
          </p:nvSpPr>
          <p:spPr>
            <a:xfrm>
              <a:off x="0" y="0"/>
              <a:ext cx="3779520" cy="487680"/>
            </a:xfrm>
            <a:custGeom>
              <a:avLst/>
              <a:gdLst/>
              <a:ahLst/>
              <a:cxnLst/>
              <a:rect l="l" t="t" r="r" b="b"/>
              <a:pathLst>
                <a:path w="3779520" h="487680">
                  <a:moveTo>
                    <a:pt x="0" y="0"/>
                  </a:moveTo>
                  <a:lnTo>
                    <a:pt x="3779520" y="0"/>
                  </a:lnTo>
                  <a:lnTo>
                    <a:pt x="3779520" y="487680"/>
                  </a:lnTo>
                  <a:lnTo>
                    <a:pt x="0" y="487680"/>
                  </a:lnTo>
                  <a:close/>
                </a:path>
              </a:pathLst>
            </a:custGeom>
            <a:blipFill>
              <a:blip r:embed="rId2">
                <a:alphaModFix amt="0"/>
              </a:blip>
              <a:stretch>
                <a:fillRect t="-101009" b="-101009"/>
              </a:stretch>
            </a:blipFill>
          </p:spPr>
        </p:sp>
        <p:sp>
          <p:nvSpPr>
            <p:cNvPr id="64" name="TextBox 64"/>
            <p:cNvSpPr txBox="1"/>
            <p:nvPr/>
          </p:nvSpPr>
          <p:spPr>
            <a:xfrm>
              <a:off x="0" y="-38100"/>
              <a:ext cx="3779520" cy="525780"/>
            </a:xfrm>
            <a:prstGeom prst="rect">
              <a:avLst/>
            </a:prstGeom>
          </p:spPr>
          <p:txBody>
            <a:bodyPr lIns="0" tIns="0" rIns="0" bIns="0" rtlCol="0" anchor="ctr"/>
            <a:lstStyle/>
            <a:p>
              <a:pPr algn="r">
                <a:lnSpc>
                  <a:spcPts val="2279"/>
                </a:lnSpc>
              </a:pPr>
              <a:r>
                <a:rPr lang="en-US" sz="1899" b="1">
                  <a:solidFill>
                    <a:srgbClr val="2F6B3A"/>
                  </a:solidFill>
                  <a:latin typeface="Calibri (MS) Bold"/>
                  <a:ea typeface="Calibri (MS) Bold"/>
                  <a:cs typeface="Calibri (MS) Bold"/>
                  <a:sym typeface="Calibri (MS) Bold"/>
                </a:rPr>
                <a:t>ProofPatch (target)</a:t>
              </a:r>
            </a:p>
          </p:txBody>
        </p:sp>
      </p:grpSp>
      <p:sp>
        <p:nvSpPr>
          <p:cNvPr id="65" name="TextBox 65"/>
          <p:cNvSpPr txBox="1"/>
          <p:nvPr/>
        </p:nvSpPr>
        <p:spPr>
          <a:xfrm>
            <a:off x="9692640" y="8045196"/>
            <a:ext cx="7680960" cy="861060"/>
          </a:xfrm>
          <a:prstGeom prst="rect">
            <a:avLst/>
          </a:prstGeom>
        </p:spPr>
        <p:txBody>
          <a:bodyPr lIns="0" tIns="0" rIns="0" bIns="0" rtlCol="0" anchor="t">
            <a:spAutoFit/>
          </a:bodyPr>
          <a:lstStyle/>
          <a:p>
            <a:pPr algn="l">
              <a:lnSpc>
                <a:spcPts val="2160"/>
              </a:lnSpc>
            </a:pPr>
            <a:r>
              <a:rPr lang="en-US" sz="1800" b="1">
                <a:solidFill>
                  <a:srgbClr val="1A231C"/>
                </a:solidFill>
                <a:latin typeface="Calibri (MS) Bold"/>
                <a:ea typeface="Calibri (MS) Bold"/>
                <a:cs typeface="Calibri (MS) Bold"/>
                <a:sym typeface="Calibri (MS) Bold"/>
              </a:rPr>
              <a:t>Entry price  </a:t>
            </a:r>
            <a:r>
              <a:rPr lang="en-US" sz="1800">
                <a:solidFill>
                  <a:srgbClr val="5F6B62"/>
                </a:solidFill>
                <a:latin typeface="Calibri (MS)"/>
                <a:ea typeface="Calibri (MS)"/>
                <a:cs typeface="Calibri (MS)"/>
                <a:sym typeface="Calibri (MS)"/>
              </a:rPr>
              <a:t>GitHub Code Security $30 per committer · Snyk Team from $25 · Aikido Basic $350 for 10 users · </a:t>
            </a:r>
            <a:r>
              <a:rPr lang="en-US" sz="1800" b="1">
                <a:solidFill>
                  <a:srgbClr val="2F6B3A"/>
                </a:solidFill>
                <a:latin typeface="Calibri (MS) Bold"/>
                <a:ea typeface="Calibri (MS) Bold"/>
                <a:cs typeface="Calibri (MS) Bold"/>
                <a:sym typeface="Calibri (MS) Bold"/>
              </a:rPr>
              <a:t>ProofPatch from ₹4,999 per workspace</a:t>
            </a:r>
          </a:p>
        </p:txBody>
      </p:sp>
      <p:grpSp>
        <p:nvGrpSpPr>
          <p:cNvPr id="66" name="Group 66"/>
          <p:cNvGrpSpPr/>
          <p:nvPr/>
        </p:nvGrpSpPr>
        <p:grpSpPr>
          <a:xfrm>
            <a:off x="16550640" y="273395"/>
            <a:ext cx="1308336" cy="675295"/>
            <a:chOff x="0" y="0"/>
            <a:chExt cx="1744448" cy="900394"/>
          </a:xfrm>
        </p:grpSpPr>
        <p:sp>
          <p:nvSpPr>
            <p:cNvPr id="67" name="Freeform 67"/>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8" name="TextBox 68"/>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5EC"/>
        </a:solidFill>
        <a:effectLst/>
      </p:bgPr>
    </p:bg>
    <p:spTree>
      <p:nvGrpSpPr>
        <p:cNvPr id="1" name=""/>
        <p:cNvGrpSpPr/>
        <p:nvPr/>
      </p:nvGrpSpPr>
      <p:grpSpPr>
        <a:xfrm>
          <a:off x="0" y="0"/>
          <a:ext cx="0" cy="0"/>
          <a:chOff x="0" y="0"/>
          <a:chExt cx="0" cy="0"/>
        </a:xfrm>
      </p:grpSpPr>
      <p:sp>
        <p:nvSpPr>
          <p:cNvPr id="2" name="Freeform 2"/>
          <p:cNvSpPr/>
          <p:nvPr/>
        </p:nvSpPr>
        <p:spPr>
          <a:xfrm>
            <a:off x="0" y="567714"/>
            <a:ext cx="18288000" cy="9625119"/>
          </a:xfrm>
          <a:custGeom>
            <a:avLst/>
            <a:gdLst/>
            <a:ahLst/>
            <a:cxnLst/>
            <a:rect l="l" t="t" r="r" b="b"/>
            <a:pathLst>
              <a:path w="18288000" h="9625119">
                <a:moveTo>
                  <a:pt x="0" y="0"/>
                </a:moveTo>
                <a:lnTo>
                  <a:pt x="18288000" y="0"/>
                </a:lnTo>
                <a:lnTo>
                  <a:pt x="18288000" y="9625118"/>
                </a:lnTo>
                <a:lnTo>
                  <a:pt x="0" y="9625118"/>
                </a:lnTo>
                <a:lnTo>
                  <a:pt x="0" y="0"/>
                </a:lnTo>
                <a:close/>
              </a:path>
            </a:pathLst>
          </a:custGeom>
          <a:blipFill>
            <a:blip r:embed="rId2"/>
            <a:stretch>
              <a:fillRect t="-6876"/>
            </a:stretch>
          </a:blipFill>
        </p:spPr>
      </p:sp>
      <p:grpSp>
        <p:nvGrpSpPr>
          <p:cNvPr id="3" name="Group 3"/>
          <p:cNvGrpSpPr/>
          <p:nvPr/>
        </p:nvGrpSpPr>
        <p:grpSpPr>
          <a:xfrm>
            <a:off x="16550640" y="273395"/>
            <a:ext cx="1308336" cy="675295"/>
            <a:chOff x="0" y="0"/>
            <a:chExt cx="1744448" cy="900394"/>
          </a:xfrm>
        </p:grpSpPr>
        <p:sp>
          <p:nvSpPr>
            <p:cNvPr id="4" name="Freeform 4"/>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0" y="986790"/>
            <a:ext cx="16459200" cy="809625"/>
          </a:xfrm>
          <a:prstGeom prst="rect">
            <a:avLst/>
          </a:prstGeom>
        </p:spPr>
        <p:txBody>
          <a:bodyPr lIns="0" tIns="0" rIns="0" bIns="0" rtlCol="0" anchor="t">
            <a:spAutoFit/>
          </a:bodyPr>
          <a:lstStyle/>
          <a:p>
            <a:pPr algn="l">
              <a:lnSpc>
                <a:spcPts val="6239"/>
              </a:lnSpc>
            </a:pPr>
            <a:r>
              <a:rPr lang="en-US" sz="5199" b="1">
                <a:solidFill>
                  <a:srgbClr val="1A231C"/>
                </a:solidFill>
                <a:latin typeface="Arial Bold"/>
                <a:ea typeface="Arial Bold"/>
                <a:cs typeface="Arial Bold"/>
                <a:sym typeface="Arial Bold"/>
              </a:rPr>
              <a:t>Land in through dev partners, then go global</a:t>
            </a:r>
          </a:p>
        </p:txBody>
      </p:sp>
      <p:grpSp>
        <p:nvGrpSpPr>
          <p:cNvPr id="3" name="Group 3"/>
          <p:cNvGrpSpPr/>
          <p:nvPr/>
        </p:nvGrpSpPr>
        <p:grpSpPr>
          <a:xfrm>
            <a:off x="914400" y="9363456"/>
            <a:ext cx="14996160" cy="548640"/>
            <a:chOff x="0" y="0"/>
            <a:chExt cx="19994880" cy="731520"/>
          </a:xfrm>
        </p:grpSpPr>
        <p:sp>
          <p:nvSpPr>
            <p:cNvPr id="4" name="Freeform 4"/>
            <p:cNvSpPr/>
            <p:nvPr/>
          </p:nvSpPr>
          <p:spPr>
            <a:xfrm>
              <a:off x="0" y="0"/>
              <a:ext cx="19994877" cy="731520"/>
            </a:xfrm>
            <a:custGeom>
              <a:avLst/>
              <a:gdLst/>
              <a:ahLst/>
              <a:cxnLst/>
              <a:rect l="l" t="t" r="r" b="b"/>
              <a:pathLst>
                <a:path w="19994877" h="731520">
                  <a:moveTo>
                    <a:pt x="0" y="0"/>
                  </a:moveTo>
                  <a:lnTo>
                    <a:pt x="19994877" y="0"/>
                  </a:lnTo>
                  <a:lnTo>
                    <a:pt x="19994877" y="731520"/>
                  </a:lnTo>
                  <a:lnTo>
                    <a:pt x="0" y="731520"/>
                  </a:lnTo>
                  <a:close/>
                </a:path>
              </a:pathLst>
            </a:custGeom>
            <a:blipFill>
              <a:blip r:embed="rId2">
                <a:alphaModFix amt="0"/>
              </a:blip>
              <a:stretch>
                <a:fillRect t="-482591" b="-482591"/>
              </a:stretch>
            </a:blipFill>
          </p:spPr>
        </p:sp>
        <p:sp>
          <p:nvSpPr>
            <p:cNvPr id="5" name="TextBox 5"/>
            <p:cNvSpPr txBox="1"/>
            <p:nvPr/>
          </p:nvSpPr>
          <p:spPr>
            <a:xfrm>
              <a:off x="0" y="-38100"/>
              <a:ext cx="19994880" cy="769620"/>
            </a:xfrm>
            <a:prstGeom prst="rect">
              <a:avLst/>
            </a:prstGeom>
          </p:spPr>
          <p:txBody>
            <a:bodyPr lIns="0" tIns="0" rIns="0" bIns="0" rtlCol="0" anchor="ctr"/>
            <a:lstStyle/>
            <a:p>
              <a:pPr algn="l">
                <a:lnSpc>
                  <a:spcPts val="2160"/>
                </a:lnSpc>
              </a:pPr>
              <a:r>
                <a:rPr lang="en-US" sz="1800">
                  <a:solidFill>
                    <a:srgbClr val="5F6B62"/>
                  </a:solidFill>
                  <a:latin typeface="Calibri (MS)"/>
                  <a:ea typeface="Calibri (MS)"/>
                  <a:cs typeface="Calibri (MS)"/>
                  <a:sym typeface="Calibri (MS)"/>
                </a:rPr>
                <a:t>Plan and targets, not results. Japan is the beachhead; the engine is feed-agnostic. No partnerships, listings or resellers exist yet.</a:t>
              </a:r>
            </a:p>
          </p:txBody>
        </p:sp>
      </p:grpSp>
      <p:sp>
        <p:nvSpPr>
          <p:cNvPr id="6" name="TextBox 6"/>
          <p:cNvSpPr txBox="1"/>
          <p:nvPr/>
        </p:nvSpPr>
        <p:spPr>
          <a:xfrm>
            <a:off x="16733520" y="9371076"/>
            <a:ext cx="548640" cy="495300"/>
          </a:xfrm>
          <a:prstGeom prst="rect">
            <a:avLst/>
          </a:prstGeom>
        </p:spPr>
        <p:txBody>
          <a:bodyPr lIns="0" tIns="0" rIns="0" bIns="0" rtlCol="0" anchor="t">
            <a:spAutoFit/>
          </a:bodyPr>
          <a:lstStyle/>
          <a:p>
            <a:pPr algn="r">
              <a:lnSpc>
                <a:spcPts val="2160"/>
              </a:lnSpc>
            </a:pPr>
            <a:r>
              <a:rPr lang="en-US" sz="1800">
                <a:solidFill>
                  <a:srgbClr val="5F6B62"/>
                </a:solidFill>
                <a:latin typeface="Calibri (MS)"/>
                <a:ea typeface="Calibri (MS)"/>
                <a:cs typeface="Calibri (MS)"/>
                <a:sym typeface="Calibri (MS)"/>
              </a:rPr>
              <a:t>17</a:t>
            </a:r>
          </a:p>
        </p:txBody>
      </p:sp>
      <p:grpSp>
        <p:nvGrpSpPr>
          <p:cNvPr id="7" name="Group 7"/>
          <p:cNvGrpSpPr/>
          <p:nvPr/>
        </p:nvGrpSpPr>
        <p:grpSpPr>
          <a:xfrm>
            <a:off x="914400" y="2340864"/>
            <a:ext cx="16459200" cy="1133856"/>
            <a:chOff x="0" y="0"/>
            <a:chExt cx="21945600" cy="1511808"/>
          </a:xfrm>
        </p:grpSpPr>
        <p:sp>
          <p:nvSpPr>
            <p:cNvPr id="8" name="Freeform 8"/>
            <p:cNvSpPr/>
            <p:nvPr/>
          </p:nvSpPr>
          <p:spPr>
            <a:xfrm>
              <a:off x="0" y="0"/>
              <a:ext cx="21945600" cy="1511681"/>
            </a:xfrm>
            <a:custGeom>
              <a:avLst/>
              <a:gdLst/>
              <a:ahLst/>
              <a:cxnLst/>
              <a:rect l="l" t="t" r="r" b="b"/>
              <a:pathLst>
                <a:path w="21945600" h="1511681">
                  <a:moveTo>
                    <a:pt x="0" y="181356"/>
                  </a:moveTo>
                  <a:cubicBezTo>
                    <a:pt x="0" y="81280"/>
                    <a:pt x="81280" y="0"/>
                    <a:pt x="181356" y="0"/>
                  </a:cubicBezTo>
                  <a:lnTo>
                    <a:pt x="21764244" y="0"/>
                  </a:lnTo>
                  <a:cubicBezTo>
                    <a:pt x="21864320" y="0"/>
                    <a:pt x="21945600" y="81280"/>
                    <a:pt x="21945600" y="181356"/>
                  </a:cubicBezTo>
                  <a:lnTo>
                    <a:pt x="21945600" y="1330325"/>
                  </a:lnTo>
                  <a:cubicBezTo>
                    <a:pt x="21945600" y="1430528"/>
                    <a:pt x="21864320" y="1511681"/>
                    <a:pt x="21764244" y="1511681"/>
                  </a:cubicBezTo>
                  <a:lnTo>
                    <a:pt x="181356" y="1511681"/>
                  </a:lnTo>
                  <a:cubicBezTo>
                    <a:pt x="81280" y="1511808"/>
                    <a:pt x="0" y="1430528"/>
                    <a:pt x="0" y="1330452"/>
                  </a:cubicBezTo>
                  <a:close/>
                </a:path>
              </a:pathLst>
            </a:custGeom>
            <a:solidFill>
              <a:srgbClr val="F2F5EC"/>
            </a:solidFill>
          </p:spPr>
        </p:sp>
      </p:grpSp>
      <p:grpSp>
        <p:nvGrpSpPr>
          <p:cNvPr id="9" name="Group 9"/>
          <p:cNvGrpSpPr/>
          <p:nvPr/>
        </p:nvGrpSpPr>
        <p:grpSpPr>
          <a:xfrm>
            <a:off x="1207008" y="2523744"/>
            <a:ext cx="768096" cy="768096"/>
            <a:chOff x="0" y="0"/>
            <a:chExt cx="1024128" cy="1024128"/>
          </a:xfrm>
        </p:grpSpPr>
        <p:sp>
          <p:nvSpPr>
            <p:cNvPr id="10" name="Freeform 10"/>
            <p:cNvSpPr/>
            <p:nvPr/>
          </p:nvSpPr>
          <p:spPr>
            <a:xfrm>
              <a:off x="0" y="0"/>
              <a:ext cx="1024128" cy="1024128"/>
            </a:xfrm>
            <a:custGeom>
              <a:avLst/>
              <a:gdLst/>
              <a:ahLst/>
              <a:cxnLst/>
              <a:rect l="l" t="t" r="r" b="b"/>
              <a:pathLst>
                <a:path w="1024128" h="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FFFFFF"/>
            </a:solidFill>
          </p:spPr>
        </p:sp>
      </p:grpSp>
      <p:grpSp>
        <p:nvGrpSpPr>
          <p:cNvPr id="11" name="Group 11"/>
          <p:cNvGrpSpPr/>
          <p:nvPr/>
        </p:nvGrpSpPr>
        <p:grpSpPr>
          <a:xfrm>
            <a:off x="1399032" y="2715768"/>
            <a:ext cx="384048" cy="384048"/>
            <a:chOff x="0" y="0"/>
            <a:chExt cx="512064" cy="512064"/>
          </a:xfrm>
        </p:grpSpPr>
        <p:sp>
          <p:nvSpPr>
            <p:cNvPr id="12" name="Freeform 12" descr="LuTarget.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3"/>
              <a:stretch>
                <a:fillRect/>
              </a:stretch>
            </a:blipFill>
          </p:spPr>
        </p:sp>
      </p:grpSp>
      <p:grpSp>
        <p:nvGrpSpPr>
          <p:cNvPr id="13" name="Group 13"/>
          <p:cNvGrpSpPr/>
          <p:nvPr/>
        </p:nvGrpSpPr>
        <p:grpSpPr>
          <a:xfrm>
            <a:off x="2231136" y="2432304"/>
            <a:ext cx="14904720" cy="950976"/>
            <a:chOff x="0" y="0"/>
            <a:chExt cx="19872960" cy="1267968"/>
          </a:xfrm>
        </p:grpSpPr>
        <p:sp>
          <p:nvSpPr>
            <p:cNvPr id="14" name="Freeform 14"/>
            <p:cNvSpPr/>
            <p:nvPr/>
          </p:nvSpPr>
          <p:spPr>
            <a:xfrm>
              <a:off x="0" y="0"/>
              <a:ext cx="19872961" cy="1267968"/>
            </a:xfrm>
            <a:custGeom>
              <a:avLst/>
              <a:gdLst/>
              <a:ahLst/>
              <a:cxnLst/>
              <a:rect l="l" t="t" r="r" b="b"/>
              <a:pathLst>
                <a:path w="19872961" h="1267968">
                  <a:moveTo>
                    <a:pt x="0" y="0"/>
                  </a:moveTo>
                  <a:lnTo>
                    <a:pt x="19872961" y="0"/>
                  </a:lnTo>
                  <a:lnTo>
                    <a:pt x="19872961" y="1267968"/>
                  </a:lnTo>
                  <a:lnTo>
                    <a:pt x="0" y="1267968"/>
                  </a:lnTo>
                  <a:close/>
                </a:path>
              </a:pathLst>
            </a:custGeom>
            <a:blipFill>
              <a:blip r:embed="rId2">
                <a:alphaModFix amt="0"/>
              </a:blip>
              <a:stretch>
                <a:fillRect t="-255390" b="-255390"/>
              </a:stretch>
            </a:blipFill>
          </p:spPr>
        </p:sp>
        <p:sp>
          <p:nvSpPr>
            <p:cNvPr id="15" name="TextBox 15"/>
            <p:cNvSpPr txBox="1"/>
            <p:nvPr/>
          </p:nvSpPr>
          <p:spPr>
            <a:xfrm>
              <a:off x="0" y="-38100"/>
              <a:ext cx="19872960" cy="1306068"/>
            </a:xfrm>
            <a:prstGeom prst="rect">
              <a:avLst/>
            </a:prstGeom>
          </p:spPr>
          <p:txBody>
            <a:bodyPr lIns="0" tIns="0" rIns="0" bIns="0" rtlCol="0" anchor="ctr"/>
            <a:lstStyle/>
            <a:p>
              <a:pPr algn="l">
                <a:lnSpc>
                  <a:spcPts val="2400"/>
                </a:lnSpc>
              </a:pPr>
              <a:r>
                <a:rPr lang="en-US" sz="2000" b="1">
                  <a:solidFill>
                    <a:srgbClr val="2F6B3A"/>
                  </a:solidFill>
                  <a:latin typeface="Calibri (MS) Bold"/>
                  <a:ea typeface="Calibri (MS) Bold"/>
                  <a:cs typeface="Calibri (MS) Bold"/>
                  <a:sym typeface="Calibri (MS) Bold"/>
                </a:rPr>
                <a:t>First customer  </a:t>
              </a:r>
              <a:r>
                <a:rPr lang="en-US" sz="2000" b="1">
                  <a:solidFill>
                    <a:srgbClr val="1A231C"/>
                  </a:solidFill>
                  <a:latin typeface="Calibri (MS) Bold"/>
                  <a:ea typeface="Calibri (MS) Bold"/>
                  <a:cs typeface="Calibri (MS) Bold"/>
                  <a:sym typeface="Calibri (MS) Bold"/>
                </a:rPr>
                <a:t>Japanese dev partners maintaining 5–50 PHP or Node sites for SME clients, with no security engineer</a:t>
              </a:r>
            </a:p>
            <a:p>
              <a:pPr algn="l">
                <a:lnSpc>
                  <a:spcPts val="2400"/>
                </a:lnSpc>
              </a:pPr>
              <a:r>
                <a:rPr lang="en-US" sz="2000" b="1">
                  <a:solidFill>
                    <a:srgbClr val="5F6B62"/>
                  </a:solidFill>
                  <a:latin typeface="Calibri (MS) Bold"/>
                  <a:ea typeface="Calibri (MS) Bold"/>
                  <a:cs typeface="Calibri (MS) Bold"/>
                  <a:sym typeface="Calibri (MS) Bold"/>
                </a:rPr>
                <a:t>Buying moments  </a:t>
              </a:r>
              <a:r>
                <a:rPr lang="en-US" sz="2000">
                  <a:solidFill>
                    <a:srgbClr val="5F6B62"/>
                  </a:solidFill>
                  <a:latin typeface="Calibri (MS)"/>
                  <a:ea typeface="Calibri (MS)"/>
                  <a:cs typeface="Calibri (MS)"/>
                  <a:sym typeface="Calibri (MS)"/>
                </a:rPr>
                <a:t>a JPCERT / JVN alert  ·  a client security questionnaire  ·  an ISMS or P-mark audit</a:t>
              </a:r>
            </a:p>
          </p:txBody>
        </p:sp>
      </p:grpSp>
      <p:grpSp>
        <p:nvGrpSpPr>
          <p:cNvPr id="16" name="Group 16"/>
          <p:cNvGrpSpPr/>
          <p:nvPr/>
        </p:nvGrpSpPr>
        <p:grpSpPr>
          <a:xfrm>
            <a:off x="904875" y="3739515"/>
            <a:ext cx="5249418" cy="4353306"/>
            <a:chOff x="0" y="0"/>
            <a:chExt cx="6999224" cy="5804408"/>
          </a:xfrm>
        </p:grpSpPr>
        <p:sp>
          <p:nvSpPr>
            <p:cNvPr id="17" name="Freeform 17"/>
            <p:cNvSpPr/>
            <p:nvPr/>
          </p:nvSpPr>
          <p:spPr>
            <a:xfrm>
              <a:off x="0" y="0"/>
              <a:ext cx="6999224" cy="5804408"/>
            </a:xfrm>
            <a:custGeom>
              <a:avLst/>
              <a:gdLst/>
              <a:ahLst/>
              <a:cxnLst/>
              <a:rect l="l" t="t" r="r" b="b"/>
              <a:pathLst>
                <a:path w="6999224" h="5804408">
                  <a:moveTo>
                    <a:pt x="0" y="290195"/>
                  </a:moveTo>
                  <a:cubicBezTo>
                    <a:pt x="0" y="129921"/>
                    <a:pt x="129921" y="0"/>
                    <a:pt x="290195" y="0"/>
                  </a:cubicBezTo>
                  <a:lnTo>
                    <a:pt x="6709029" y="0"/>
                  </a:lnTo>
                  <a:cubicBezTo>
                    <a:pt x="6869303" y="0"/>
                    <a:pt x="6999224" y="129921"/>
                    <a:pt x="6999224" y="290195"/>
                  </a:cubicBezTo>
                  <a:lnTo>
                    <a:pt x="6999224" y="5514213"/>
                  </a:lnTo>
                  <a:cubicBezTo>
                    <a:pt x="6999224" y="5674487"/>
                    <a:pt x="6869303" y="5804408"/>
                    <a:pt x="6709029" y="5804408"/>
                  </a:cubicBezTo>
                  <a:lnTo>
                    <a:pt x="290195" y="5804408"/>
                  </a:lnTo>
                  <a:cubicBezTo>
                    <a:pt x="129921" y="5804408"/>
                    <a:pt x="0" y="5674487"/>
                    <a:pt x="0" y="5514213"/>
                  </a:cubicBezTo>
                  <a:close/>
                </a:path>
              </a:pathLst>
            </a:custGeom>
            <a:solidFill>
              <a:srgbClr val="FFFFFF"/>
            </a:solidFill>
            <a:ln w="19050" cap="sq">
              <a:solidFill>
                <a:srgbClr val="DDE3D8"/>
              </a:solidFill>
              <a:prstDash val="solid"/>
              <a:miter/>
            </a:ln>
          </p:spPr>
        </p:sp>
      </p:grpSp>
      <p:grpSp>
        <p:nvGrpSpPr>
          <p:cNvPr id="18" name="Group 18"/>
          <p:cNvGrpSpPr/>
          <p:nvPr/>
        </p:nvGrpSpPr>
        <p:grpSpPr>
          <a:xfrm>
            <a:off x="1243584" y="4059936"/>
            <a:ext cx="768096" cy="768096"/>
            <a:chOff x="0" y="0"/>
            <a:chExt cx="1024128" cy="1024128"/>
          </a:xfrm>
        </p:grpSpPr>
        <p:sp>
          <p:nvSpPr>
            <p:cNvPr id="19" name="Freeform 19"/>
            <p:cNvSpPr/>
            <p:nvPr/>
          </p:nvSpPr>
          <p:spPr>
            <a:xfrm>
              <a:off x="0" y="0"/>
              <a:ext cx="1024128" cy="1024128"/>
            </a:xfrm>
            <a:custGeom>
              <a:avLst/>
              <a:gdLst/>
              <a:ahLst/>
              <a:cxnLst/>
              <a:rect l="l" t="t" r="r" b="b"/>
              <a:pathLst>
                <a:path w="1024128" h="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D7EBAE"/>
            </a:solidFill>
          </p:spPr>
        </p:sp>
      </p:grpSp>
      <p:grpSp>
        <p:nvGrpSpPr>
          <p:cNvPr id="20" name="Group 20"/>
          <p:cNvGrpSpPr/>
          <p:nvPr/>
        </p:nvGrpSpPr>
        <p:grpSpPr>
          <a:xfrm>
            <a:off x="1435608" y="4251960"/>
            <a:ext cx="384048" cy="384048"/>
            <a:chOff x="0" y="0"/>
            <a:chExt cx="512064" cy="512064"/>
          </a:xfrm>
        </p:grpSpPr>
        <p:sp>
          <p:nvSpPr>
            <p:cNvPr id="21" name="Freeform 21" descr="LuHandshake.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4"/>
              <a:stretch>
                <a:fillRect/>
              </a:stretch>
            </a:blipFill>
          </p:spPr>
        </p:sp>
      </p:grpSp>
      <p:sp>
        <p:nvSpPr>
          <p:cNvPr id="22" name="TextBox 22"/>
          <p:cNvSpPr txBox="1"/>
          <p:nvPr/>
        </p:nvSpPr>
        <p:spPr>
          <a:xfrm>
            <a:off x="2194560" y="4021836"/>
            <a:ext cx="2560320" cy="403860"/>
          </a:xfrm>
          <a:prstGeom prst="rect">
            <a:avLst/>
          </a:prstGeom>
        </p:spPr>
        <p:txBody>
          <a:bodyPr lIns="0" tIns="0" rIns="0" bIns="0" rtlCol="0" anchor="t">
            <a:spAutoFit/>
          </a:bodyPr>
          <a:lstStyle/>
          <a:p>
            <a:pPr algn="l">
              <a:lnSpc>
                <a:spcPts val="2040"/>
              </a:lnSpc>
            </a:pPr>
            <a:r>
              <a:rPr lang="en-US" sz="1700" b="1">
                <a:solidFill>
                  <a:srgbClr val="5F6B62"/>
                </a:solidFill>
                <a:latin typeface="Calibri (MS) Bold"/>
                <a:ea typeface="Calibri (MS) Bold"/>
                <a:cs typeface="Calibri (MS) Bold"/>
                <a:sym typeface="Calibri (MS) Bold"/>
              </a:rPr>
              <a:t>Months 0–3</a:t>
            </a:r>
          </a:p>
        </p:txBody>
      </p:sp>
      <p:sp>
        <p:nvSpPr>
          <p:cNvPr id="23" name="TextBox 23"/>
          <p:cNvSpPr txBox="1"/>
          <p:nvPr/>
        </p:nvSpPr>
        <p:spPr>
          <a:xfrm>
            <a:off x="2194560" y="4350258"/>
            <a:ext cx="3657600" cy="532638"/>
          </a:xfrm>
          <a:prstGeom prst="rect">
            <a:avLst/>
          </a:prstGeom>
        </p:spPr>
        <p:txBody>
          <a:bodyPr lIns="0" tIns="0" rIns="0" bIns="0" rtlCol="0" anchor="t">
            <a:spAutoFit/>
          </a:bodyPr>
          <a:lstStyle/>
          <a:p>
            <a:pPr algn="l">
              <a:lnSpc>
                <a:spcPts val="3120"/>
              </a:lnSpc>
            </a:pPr>
            <a:r>
              <a:rPr lang="en-US" sz="2600" b="1">
                <a:solidFill>
                  <a:srgbClr val="1A231C"/>
                </a:solidFill>
                <a:latin typeface="Calibri (MS) Bold"/>
                <a:ea typeface="Calibri (MS) Bold"/>
                <a:cs typeface="Calibri (MS) Bold"/>
                <a:sym typeface="Calibri (MS) Bold"/>
              </a:rPr>
              <a:t>Founder-led</a:t>
            </a:r>
          </a:p>
        </p:txBody>
      </p:sp>
      <p:sp>
        <p:nvSpPr>
          <p:cNvPr id="24" name="TextBox 24"/>
          <p:cNvSpPr txBox="1"/>
          <p:nvPr/>
        </p:nvSpPr>
        <p:spPr>
          <a:xfrm>
            <a:off x="1243584" y="5082540"/>
            <a:ext cx="4626864" cy="2141220"/>
          </a:xfrm>
          <a:prstGeom prst="rect">
            <a:avLst/>
          </a:prstGeom>
        </p:spPr>
        <p:txBody>
          <a:bodyPr lIns="0" tIns="0" rIns="0" bIns="0" rtlCol="0" anchor="t">
            <a:spAutoFit/>
          </a:bodyPr>
          <a:lstStyle/>
          <a:p>
            <a:pPr algn="l">
              <a:lnSpc>
                <a:spcPts val="2279"/>
              </a:lnSpc>
            </a:pPr>
            <a:r>
              <a:rPr lang="en-US" sz="1899">
                <a:solidFill>
                  <a:srgbClr val="1A231C"/>
                </a:solidFill>
                <a:latin typeface="Calibri (MS)"/>
                <a:ea typeface="Calibri (MS)"/>
                <a:cs typeface="Calibri (MS)"/>
                <a:sym typeface="Calibri (MS)"/>
              </a:rPr>
              <a:t>·  10 interviews via Japan–India startup programmes and Tokyo / Osaka dev meetups</a:t>
            </a:r>
          </a:p>
          <a:p>
            <a:pPr algn="l">
              <a:lnSpc>
                <a:spcPts val="2279"/>
              </a:lnSpc>
            </a:pPr>
            <a:r>
              <a:rPr lang="en-US" sz="1899">
                <a:solidFill>
                  <a:srgbClr val="1A231C"/>
                </a:solidFill>
                <a:latin typeface="Calibri (MS)"/>
                <a:ea typeface="Calibri (MS)"/>
                <a:cs typeface="Calibri (MS)"/>
                <a:sym typeface="Calibri (MS)"/>
              </a:rPr>
              <a:t>·  3 design partners on owned fixtures</a:t>
            </a:r>
          </a:p>
          <a:p>
            <a:pPr algn="l">
              <a:lnSpc>
                <a:spcPts val="2279"/>
              </a:lnSpc>
            </a:pPr>
            <a:r>
              <a:rPr lang="en-US" sz="1899">
                <a:solidFill>
                  <a:srgbClr val="1A231C"/>
                </a:solidFill>
                <a:latin typeface="Calibri (MS)"/>
                <a:ea typeface="Calibri (MS)"/>
                <a:cs typeface="Calibri (MS)"/>
                <a:sym typeface="Calibri (MS)"/>
              </a:rPr>
              <a:t>·  Live demo: JPCERT alert to draft PR</a:t>
            </a:r>
          </a:p>
        </p:txBody>
      </p:sp>
      <p:grpSp>
        <p:nvGrpSpPr>
          <p:cNvPr id="25" name="Group 25"/>
          <p:cNvGrpSpPr/>
          <p:nvPr/>
        </p:nvGrpSpPr>
        <p:grpSpPr>
          <a:xfrm>
            <a:off x="1243584" y="7315200"/>
            <a:ext cx="4626864" cy="585216"/>
            <a:chOff x="0" y="0"/>
            <a:chExt cx="6169152" cy="780288"/>
          </a:xfrm>
        </p:grpSpPr>
        <p:sp>
          <p:nvSpPr>
            <p:cNvPr id="26" name="Freeform 26"/>
            <p:cNvSpPr/>
            <p:nvPr/>
          </p:nvSpPr>
          <p:spPr>
            <a:xfrm>
              <a:off x="0" y="0"/>
              <a:ext cx="6169152" cy="780288"/>
            </a:xfrm>
            <a:custGeom>
              <a:avLst/>
              <a:gdLst/>
              <a:ahLst/>
              <a:cxnLst/>
              <a:rect l="l" t="t" r="r" b="b"/>
              <a:pathLst>
                <a:path w="6169152" h="780288">
                  <a:moveTo>
                    <a:pt x="0" y="0"/>
                  </a:moveTo>
                  <a:lnTo>
                    <a:pt x="6169152" y="0"/>
                  </a:lnTo>
                  <a:lnTo>
                    <a:pt x="6169152" y="780288"/>
                  </a:lnTo>
                  <a:lnTo>
                    <a:pt x="0" y="780288"/>
                  </a:lnTo>
                  <a:close/>
                </a:path>
              </a:pathLst>
            </a:custGeom>
            <a:blipFill>
              <a:blip r:embed="rId2">
                <a:alphaModFix amt="0"/>
              </a:blip>
              <a:stretch>
                <a:fillRect t="-104053" b="-104053"/>
              </a:stretch>
            </a:blipFill>
          </p:spPr>
        </p:sp>
        <p:sp>
          <p:nvSpPr>
            <p:cNvPr id="27" name="TextBox 27"/>
            <p:cNvSpPr txBox="1"/>
            <p:nvPr/>
          </p:nvSpPr>
          <p:spPr>
            <a:xfrm>
              <a:off x="0" y="-38100"/>
              <a:ext cx="6169152" cy="818388"/>
            </a:xfrm>
            <a:prstGeom prst="rect">
              <a:avLst/>
            </a:prstGeom>
          </p:spPr>
          <p:txBody>
            <a:bodyPr lIns="0" tIns="0" rIns="0" bIns="0" rtlCol="0" anchor="b"/>
            <a:lstStyle/>
            <a:p>
              <a:pPr algn="l">
                <a:lnSpc>
                  <a:spcPts val="2279"/>
                </a:lnSpc>
              </a:pPr>
              <a:r>
                <a:rPr lang="en-US" sz="1899" b="1">
                  <a:solidFill>
                    <a:srgbClr val="2F6B3A"/>
                  </a:solidFill>
                  <a:latin typeface="Calibri (MS) Bold"/>
                  <a:ea typeface="Calibri (MS) Bold"/>
                  <a:cs typeface="Calibri (MS) Bold"/>
                  <a:sym typeface="Calibri (MS) Bold"/>
                </a:rPr>
                <a:t>Target: 2 paid commitments</a:t>
              </a:r>
            </a:p>
          </p:txBody>
        </p:sp>
      </p:grpSp>
      <p:grpSp>
        <p:nvGrpSpPr>
          <p:cNvPr id="28" name="Group 28"/>
          <p:cNvGrpSpPr/>
          <p:nvPr/>
        </p:nvGrpSpPr>
        <p:grpSpPr>
          <a:xfrm>
            <a:off x="6181344" y="5769864"/>
            <a:ext cx="310896" cy="292608"/>
            <a:chOff x="0" y="0"/>
            <a:chExt cx="414528" cy="390144"/>
          </a:xfrm>
        </p:grpSpPr>
        <p:sp>
          <p:nvSpPr>
            <p:cNvPr id="29" name="Freeform 29"/>
            <p:cNvSpPr/>
            <p:nvPr/>
          </p:nvSpPr>
          <p:spPr>
            <a:xfrm>
              <a:off x="0" y="0"/>
              <a:ext cx="414528" cy="390144"/>
            </a:xfrm>
            <a:custGeom>
              <a:avLst/>
              <a:gdLst/>
              <a:ahLst/>
              <a:cxnLst/>
              <a:rect l="l" t="t" r="r" b="b"/>
              <a:pathLst>
                <a:path w="414528" h="390144">
                  <a:moveTo>
                    <a:pt x="0" y="97536"/>
                  </a:moveTo>
                  <a:lnTo>
                    <a:pt x="219456" y="97536"/>
                  </a:lnTo>
                  <a:lnTo>
                    <a:pt x="219456" y="0"/>
                  </a:lnTo>
                  <a:lnTo>
                    <a:pt x="414528" y="195072"/>
                  </a:lnTo>
                  <a:lnTo>
                    <a:pt x="219456" y="390144"/>
                  </a:lnTo>
                  <a:lnTo>
                    <a:pt x="219456" y="292608"/>
                  </a:lnTo>
                  <a:lnTo>
                    <a:pt x="0" y="292608"/>
                  </a:lnTo>
                  <a:close/>
                </a:path>
              </a:pathLst>
            </a:custGeom>
            <a:solidFill>
              <a:srgbClr val="2F6B3A"/>
            </a:solidFill>
          </p:spPr>
        </p:sp>
      </p:grpSp>
      <p:grpSp>
        <p:nvGrpSpPr>
          <p:cNvPr id="30" name="Group 30"/>
          <p:cNvGrpSpPr/>
          <p:nvPr/>
        </p:nvGrpSpPr>
        <p:grpSpPr>
          <a:xfrm>
            <a:off x="6519291" y="3739515"/>
            <a:ext cx="5249418" cy="4353306"/>
            <a:chOff x="0" y="0"/>
            <a:chExt cx="6999224" cy="5804408"/>
          </a:xfrm>
        </p:grpSpPr>
        <p:sp>
          <p:nvSpPr>
            <p:cNvPr id="31" name="Freeform 31"/>
            <p:cNvSpPr/>
            <p:nvPr/>
          </p:nvSpPr>
          <p:spPr>
            <a:xfrm>
              <a:off x="0" y="0"/>
              <a:ext cx="6999224" cy="5804408"/>
            </a:xfrm>
            <a:custGeom>
              <a:avLst/>
              <a:gdLst/>
              <a:ahLst/>
              <a:cxnLst/>
              <a:rect l="l" t="t" r="r" b="b"/>
              <a:pathLst>
                <a:path w="6999224" h="5804408">
                  <a:moveTo>
                    <a:pt x="0" y="290195"/>
                  </a:moveTo>
                  <a:cubicBezTo>
                    <a:pt x="0" y="129921"/>
                    <a:pt x="129921" y="0"/>
                    <a:pt x="290195" y="0"/>
                  </a:cubicBezTo>
                  <a:lnTo>
                    <a:pt x="6709029" y="0"/>
                  </a:lnTo>
                  <a:cubicBezTo>
                    <a:pt x="6869303" y="0"/>
                    <a:pt x="6999224" y="129921"/>
                    <a:pt x="6999224" y="290195"/>
                  </a:cubicBezTo>
                  <a:lnTo>
                    <a:pt x="6999224" y="5514213"/>
                  </a:lnTo>
                  <a:cubicBezTo>
                    <a:pt x="6999224" y="5674487"/>
                    <a:pt x="6869303" y="5804408"/>
                    <a:pt x="6709029" y="5804408"/>
                  </a:cubicBezTo>
                  <a:lnTo>
                    <a:pt x="290195" y="5804408"/>
                  </a:lnTo>
                  <a:cubicBezTo>
                    <a:pt x="129921" y="5804408"/>
                    <a:pt x="0" y="5674487"/>
                    <a:pt x="0" y="5514213"/>
                  </a:cubicBezTo>
                  <a:close/>
                </a:path>
              </a:pathLst>
            </a:custGeom>
            <a:solidFill>
              <a:srgbClr val="FFFFFF"/>
            </a:solidFill>
            <a:ln w="19050" cap="sq">
              <a:solidFill>
                <a:srgbClr val="DDE3D8"/>
              </a:solidFill>
              <a:prstDash val="solid"/>
              <a:miter/>
            </a:ln>
          </p:spPr>
        </p:sp>
      </p:grpSp>
      <p:grpSp>
        <p:nvGrpSpPr>
          <p:cNvPr id="32" name="Group 32"/>
          <p:cNvGrpSpPr/>
          <p:nvPr/>
        </p:nvGrpSpPr>
        <p:grpSpPr>
          <a:xfrm>
            <a:off x="6858000" y="4059936"/>
            <a:ext cx="768096" cy="768096"/>
            <a:chOff x="0" y="0"/>
            <a:chExt cx="1024128" cy="1024128"/>
          </a:xfrm>
        </p:grpSpPr>
        <p:sp>
          <p:nvSpPr>
            <p:cNvPr id="33" name="Freeform 33"/>
            <p:cNvSpPr/>
            <p:nvPr/>
          </p:nvSpPr>
          <p:spPr>
            <a:xfrm>
              <a:off x="0" y="0"/>
              <a:ext cx="1024128" cy="1024128"/>
            </a:xfrm>
            <a:custGeom>
              <a:avLst/>
              <a:gdLst/>
              <a:ahLst/>
              <a:cxnLst/>
              <a:rect l="l" t="t" r="r" b="b"/>
              <a:pathLst>
                <a:path w="1024128" h="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D7EBAE"/>
            </a:solidFill>
          </p:spPr>
        </p:sp>
      </p:grpSp>
      <p:grpSp>
        <p:nvGrpSpPr>
          <p:cNvPr id="34" name="Group 34"/>
          <p:cNvGrpSpPr/>
          <p:nvPr/>
        </p:nvGrpSpPr>
        <p:grpSpPr>
          <a:xfrm>
            <a:off x="7050024" y="4251960"/>
            <a:ext cx="384048" cy="384048"/>
            <a:chOff x="0" y="0"/>
            <a:chExt cx="512064" cy="512064"/>
          </a:xfrm>
        </p:grpSpPr>
        <p:sp>
          <p:nvSpPr>
            <p:cNvPr id="35" name="Freeform 35" descr="LuRocket.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5"/>
              <a:stretch>
                <a:fillRect/>
              </a:stretch>
            </a:blipFill>
          </p:spPr>
        </p:sp>
      </p:grpSp>
      <p:sp>
        <p:nvSpPr>
          <p:cNvPr id="36" name="TextBox 36"/>
          <p:cNvSpPr txBox="1"/>
          <p:nvPr/>
        </p:nvSpPr>
        <p:spPr>
          <a:xfrm>
            <a:off x="7808976" y="4021836"/>
            <a:ext cx="2560320" cy="403860"/>
          </a:xfrm>
          <a:prstGeom prst="rect">
            <a:avLst/>
          </a:prstGeom>
        </p:spPr>
        <p:txBody>
          <a:bodyPr lIns="0" tIns="0" rIns="0" bIns="0" rtlCol="0" anchor="t">
            <a:spAutoFit/>
          </a:bodyPr>
          <a:lstStyle/>
          <a:p>
            <a:pPr algn="l">
              <a:lnSpc>
                <a:spcPts val="2040"/>
              </a:lnSpc>
            </a:pPr>
            <a:r>
              <a:rPr lang="en-US" sz="1700" b="1">
                <a:solidFill>
                  <a:srgbClr val="5F6B62"/>
                </a:solidFill>
                <a:latin typeface="Calibri (MS) Bold"/>
                <a:ea typeface="Calibri (MS) Bold"/>
                <a:cs typeface="Calibri (MS) Bold"/>
                <a:sym typeface="Calibri (MS) Bold"/>
              </a:rPr>
              <a:t>Months 3–9</a:t>
            </a:r>
          </a:p>
        </p:txBody>
      </p:sp>
      <p:sp>
        <p:nvSpPr>
          <p:cNvPr id="37" name="TextBox 37"/>
          <p:cNvSpPr txBox="1"/>
          <p:nvPr/>
        </p:nvSpPr>
        <p:spPr>
          <a:xfrm>
            <a:off x="7808976" y="4350258"/>
            <a:ext cx="3657600" cy="532638"/>
          </a:xfrm>
          <a:prstGeom prst="rect">
            <a:avLst/>
          </a:prstGeom>
        </p:spPr>
        <p:txBody>
          <a:bodyPr lIns="0" tIns="0" rIns="0" bIns="0" rtlCol="0" anchor="t">
            <a:spAutoFit/>
          </a:bodyPr>
          <a:lstStyle/>
          <a:p>
            <a:pPr algn="l">
              <a:lnSpc>
                <a:spcPts val="3120"/>
              </a:lnSpc>
            </a:pPr>
            <a:r>
              <a:rPr lang="en-US" sz="2600" b="1">
                <a:solidFill>
                  <a:srgbClr val="1A231C"/>
                </a:solidFill>
                <a:latin typeface="Calibri (MS) Bold"/>
                <a:ea typeface="Calibri (MS) Bold"/>
                <a:cs typeface="Calibri (MS) Bold"/>
                <a:sym typeface="Calibri (MS) Bold"/>
              </a:rPr>
              <a:t>Product-led</a:t>
            </a:r>
          </a:p>
        </p:txBody>
      </p:sp>
      <p:sp>
        <p:nvSpPr>
          <p:cNvPr id="38" name="TextBox 38"/>
          <p:cNvSpPr txBox="1"/>
          <p:nvPr/>
        </p:nvSpPr>
        <p:spPr>
          <a:xfrm>
            <a:off x="6858000" y="5082540"/>
            <a:ext cx="4626864" cy="2141220"/>
          </a:xfrm>
          <a:prstGeom prst="rect">
            <a:avLst/>
          </a:prstGeom>
        </p:spPr>
        <p:txBody>
          <a:bodyPr lIns="0" tIns="0" rIns="0" bIns="0" rtlCol="0" anchor="t">
            <a:spAutoFit/>
          </a:bodyPr>
          <a:lstStyle/>
          <a:p>
            <a:pPr algn="l">
              <a:lnSpc>
                <a:spcPts val="2279"/>
              </a:lnSpc>
            </a:pPr>
            <a:r>
              <a:rPr lang="en-US" sz="1899">
                <a:solidFill>
                  <a:srgbClr val="1A231C"/>
                </a:solidFill>
                <a:latin typeface="Calibri (MS)"/>
                <a:ea typeface="Calibri (MS)"/>
                <a:cs typeface="Calibri (MS)"/>
                <a:sym typeface="Calibri (MS)"/>
              </a:rPr>
              <a:t>·  Free alert matcher: JPCERT / JVN against your repos, 5 runs a month</a:t>
            </a:r>
          </a:p>
          <a:p>
            <a:pPr algn="l">
              <a:lnSpc>
                <a:spcPts val="2279"/>
              </a:lnSpc>
            </a:pPr>
            <a:r>
              <a:rPr lang="en-US" sz="1899">
                <a:solidFill>
                  <a:srgbClr val="1A231C"/>
                </a:solidFill>
                <a:latin typeface="Calibri (MS)"/>
                <a:ea typeface="Calibri (MS)"/>
                <a:cs typeface="Calibri (MS)"/>
                <a:sym typeface="Calibri (MS)"/>
              </a:rPr>
              <a:t>·  GitHub Marketplace app; Japanese guides on Qiita and Zenn</a:t>
            </a:r>
          </a:p>
          <a:p>
            <a:pPr algn="l">
              <a:lnSpc>
                <a:spcPts val="2279"/>
              </a:lnSpc>
            </a:pPr>
            <a:r>
              <a:rPr lang="en-US" sz="1899">
                <a:solidFill>
                  <a:srgbClr val="1A231C"/>
                </a:solidFill>
                <a:latin typeface="Calibri (MS)"/>
                <a:ea typeface="Calibri (MS)"/>
                <a:cs typeface="Calibri (MS)"/>
                <a:sym typeface="Calibri (MS)"/>
              </a:rPr>
              <a:t>·  Each client evidence packet carries our name</a:t>
            </a:r>
          </a:p>
        </p:txBody>
      </p:sp>
      <p:grpSp>
        <p:nvGrpSpPr>
          <p:cNvPr id="39" name="Group 39"/>
          <p:cNvGrpSpPr/>
          <p:nvPr/>
        </p:nvGrpSpPr>
        <p:grpSpPr>
          <a:xfrm>
            <a:off x="6858000" y="7315200"/>
            <a:ext cx="4626864" cy="585216"/>
            <a:chOff x="0" y="0"/>
            <a:chExt cx="6169152" cy="780288"/>
          </a:xfrm>
        </p:grpSpPr>
        <p:sp>
          <p:nvSpPr>
            <p:cNvPr id="40" name="Freeform 40"/>
            <p:cNvSpPr/>
            <p:nvPr/>
          </p:nvSpPr>
          <p:spPr>
            <a:xfrm>
              <a:off x="0" y="0"/>
              <a:ext cx="6169152" cy="780288"/>
            </a:xfrm>
            <a:custGeom>
              <a:avLst/>
              <a:gdLst/>
              <a:ahLst/>
              <a:cxnLst/>
              <a:rect l="l" t="t" r="r" b="b"/>
              <a:pathLst>
                <a:path w="6169152" h="780288">
                  <a:moveTo>
                    <a:pt x="0" y="0"/>
                  </a:moveTo>
                  <a:lnTo>
                    <a:pt x="6169152" y="0"/>
                  </a:lnTo>
                  <a:lnTo>
                    <a:pt x="6169152" y="780288"/>
                  </a:lnTo>
                  <a:lnTo>
                    <a:pt x="0" y="780288"/>
                  </a:lnTo>
                  <a:close/>
                </a:path>
              </a:pathLst>
            </a:custGeom>
            <a:blipFill>
              <a:blip r:embed="rId2">
                <a:alphaModFix amt="0"/>
              </a:blip>
              <a:stretch>
                <a:fillRect t="-104053" b="-104053"/>
              </a:stretch>
            </a:blipFill>
          </p:spPr>
        </p:sp>
        <p:sp>
          <p:nvSpPr>
            <p:cNvPr id="41" name="TextBox 41"/>
            <p:cNvSpPr txBox="1"/>
            <p:nvPr/>
          </p:nvSpPr>
          <p:spPr>
            <a:xfrm>
              <a:off x="0" y="-38100"/>
              <a:ext cx="6169152" cy="818388"/>
            </a:xfrm>
            <a:prstGeom prst="rect">
              <a:avLst/>
            </a:prstGeom>
          </p:spPr>
          <p:txBody>
            <a:bodyPr lIns="0" tIns="0" rIns="0" bIns="0" rtlCol="0" anchor="b"/>
            <a:lstStyle/>
            <a:p>
              <a:pPr algn="l">
                <a:lnSpc>
                  <a:spcPts val="2279"/>
                </a:lnSpc>
              </a:pPr>
              <a:r>
                <a:rPr lang="en-US" sz="1899" b="1">
                  <a:solidFill>
                    <a:srgbClr val="2F6B3A"/>
                  </a:solidFill>
                  <a:latin typeface="Calibri (MS) Bold"/>
                  <a:ea typeface="Calibri (MS) Bold"/>
                  <a:cs typeface="Calibri (MS) Bold"/>
                  <a:sym typeface="Calibri (MS) Bold"/>
                </a:rPr>
                <a:t>Target: 5% free to paid</a:t>
              </a:r>
            </a:p>
          </p:txBody>
        </p:sp>
      </p:grpSp>
      <p:grpSp>
        <p:nvGrpSpPr>
          <p:cNvPr id="42" name="Group 42"/>
          <p:cNvGrpSpPr/>
          <p:nvPr/>
        </p:nvGrpSpPr>
        <p:grpSpPr>
          <a:xfrm>
            <a:off x="11795760" y="5769864"/>
            <a:ext cx="310896" cy="292608"/>
            <a:chOff x="0" y="0"/>
            <a:chExt cx="414528" cy="390144"/>
          </a:xfrm>
        </p:grpSpPr>
        <p:sp>
          <p:nvSpPr>
            <p:cNvPr id="43" name="Freeform 43"/>
            <p:cNvSpPr/>
            <p:nvPr/>
          </p:nvSpPr>
          <p:spPr>
            <a:xfrm>
              <a:off x="0" y="0"/>
              <a:ext cx="414528" cy="390144"/>
            </a:xfrm>
            <a:custGeom>
              <a:avLst/>
              <a:gdLst/>
              <a:ahLst/>
              <a:cxnLst/>
              <a:rect l="l" t="t" r="r" b="b"/>
              <a:pathLst>
                <a:path w="414528" h="390144">
                  <a:moveTo>
                    <a:pt x="0" y="97536"/>
                  </a:moveTo>
                  <a:lnTo>
                    <a:pt x="219456" y="97536"/>
                  </a:lnTo>
                  <a:lnTo>
                    <a:pt x="219456" y="0"/>
                  </a:lnTo>
                  <a:lnTo>
                    <a:pt x="414528" y="195072"/>
                  </a:lnTo>
                  <a:lnTo>
                    <a:pt x="219456" y="390144"/>
                  </a:lnTo>
                  <a:lnTo>
                    <a:pt x="219456" y="292608"/>
                  </a:lnTo>
                  <a:lnTo>
                    <a:pt x="0" y="292608"/>
                  </a:lnTo>
                  <a:close/>
                </a:path>
              </a:pathLst>
            </a:custGeom>
            <a:solidFill>
              <a:srgbClr val="2F6B3A"/>
            </a:solidFill>
          </p:spPr>
        </p:sp>
      </p:grpSp>
      <p:grpSp>
        <p:nvGrpSpPr>
          <p:cNvPr id="44" name="Group 44"/>
          <p:cNvGrpSpPr/>
          <p:nvPr/>
        </p:nvGrpSpPr>
        <p:grpSpPr>
          <a:xfrm>
            <a:off x="12133707" y="3739515"/>
            <a:ext cx="5249418" cy="4353306"/>
            <a:chOff x="0" y="0"/>
            <a:chExt cx="6999224" cy="5804408"/>
          </a:xfrm>
        </p:grpSpPr>
        <p:sp>
          <p:nvSpPr>
            <p:cNvPr id="45" name="Freeform 45"/>
            <p:cNvSpPr/>
            <p:nvPr/>
          </p:nvSpPr>
          <p:spPr>
            <a:xfrm>
              <a:off x="0" y="0"/>
              <a:ext cx="6999224" cy="5804408"/>
            </a:xfrm>
            <a:custGeom>
              <a:avLst/>
              <a:gdLst/>
              <a:ahLst/>
              <a:cxnLst/>
              <a:rect l="l" t="t" r="r" b="b"/>
              <a:pathLst>
                <a:path w="6999224" h="5804408">
                  <a:moveTo>
                    <a:pt x="0" y="290195"/>
                  </a:moveTo>
                  <a:cubicBezTo>
                    <a:pt x="0" y="129921"/>
                    <a:pt x="129921" y="0"/>
                    <a:pt x="290195" y="0"/>
                  </a:cubicBezTo>
                  <a:lnTo>
                    <a:pt x="6709029" y="0"/>
                  </a:lnTo>
                  <a:cubicBezTo>
                    <a:pt x="6869303" y="0"/>
                    <a:pt x="6999224" y="129921"/>
                    <a:pt x="6999224" y="290195"/>
                  </a:cubicBezTo>
                  <a:lnTo>
                    <a:pt x="6999224" y="5514213"/>
                  </a:lnTo>
                  <a:cubicBezTo>
                    <a:pt x="6999224" y="5674487"/>
                    <a:pt x="6869303" y="5804408"/>
                    <a:pt x="6709029" y="5804408"/>
                  </a:cubicBezTo>
                  <a:lnTo>
                    <a:pt x="290195" y="5804408"/>
                  </a:lnTo>
                  <a:cubicBezTo>
                    <a:pt x="129921" y="5804408"/>
                    <a:pt x="0" y="5674487"/>
                    <a:pt x="0" y="5514213"/>
                  </a:cubicBezTo>
                  <a:close/>
                </a:path>
              </a:pathLst>
            </a:custGeom>
            <a:solidFill>
              <a:srgbClr val="FFFFFF"/>
            </a:solidFill>
            <a:ln w="19050" cap="sq">
              <a:solidFill>
                <a:srgbClr val="DDE3D8"/>
              </a:solidFill>
              <a:prstDash val="solid"/>
              <a:miter/>
            </a:ln>
          </p:spPr>
        </p:sp>
      </p:grpSp>
      <p:grpSp>
        <p:nvGrpSpPr>
          <p:cNvPr id="46" name="Group 46"/>
          <p:cNvGrpSpPr/>
          <p:nvPr/>
        </p:nvGrpSpPr>
        <p:grpSpPr>
          <a:xfrm>
            <a:off x="12472416" y="4059936"/>
            <a:ext cx="768096" cy="768096"/>
            <a:chOff x="0" y="0"/>
            <a:chExt cx="1024128" cy="1024128"/>
          </a:xfrm>
        </p:grpSpPr>
        <p:sp>
          <p:nvSpPr>
            <p:cNvPr id="47" name="Freeform 47"/>
            <p:cNvSpPr/>
            <p:nvPr/>
          </p:nvSpPr>
          <p:spPr>
            <a:xfrm>
              <a:off x="0" y="0"/>
              <a:ext cx="1024128" cy="1024128"/>
            </a:xfrm>
            <a:custGeom>
              <a:avLst/>
              <a:gdLst/>
              <a:ahLst/>
              <a:cxnLst/>
              <a:rect l="l" t="t" r="r" b="b"/>
              <a:pathLst>
                <a:path w="1024128" h="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D7EBAE"/>
            </a:solidFill>
          </p:spPr>
        </p:sp>
      </p:grpSp>
      <p:grpSp>
        <p:nvGrpSpPr>
          <p:cNvPr id="48" name="Group 48"/>
          <p:cNvGrpSpPr/>
          <p:nvPr/>
        </p:nvGrpSpPr>
        <p:grpSpPr>
          <a:xfrm>
            <a:off x="12664440" y="4251960"/>
            <a:ext cx="384048" cy="384048"/>
            <a:chOff x="0" y="0"/>
            <a:chExt cx="512064" cy="512064"/>
          </a:xfrm>
        </p:grpSpPr>
        <p:sp>
          <p:nvSpPr>
            <p:cNvPr id="49" name="Freeform 49" descr="LuNetwork.png"/>
            <p:cNvSpPr/>
            <p:nvPr/>
          </p:nvSpPr>
          <p:spPr>
            <a:xfrm>
              <a:off x="0" y="0"/>
              <a:ext cx="512064" cy="512064"/>
            </a:xfrm>
            <a:custGeom>
              <a:avLst/>
              <a:gdLst/>
              <a:ahLst/>
              <a:cxnLst/>
              <a:rect l="l" t="t" r="r" b="b"/>
              <a:pathLst>
                <a:path w="512064" h="512064">
                  <a:moveTo>
                    <a:pt x="0" y="0"/>
                  </a:moveTo>
                  <a:lnTo>
                    <a:pt x="512064" y="0"/>
                  </a:lnTo>
                  <a:lnTo>
                    <a:pt x="512064" y="512064"/>
                  </a:lnTo>
                  <a:lnTo>
                    <a:pt x="0" y="512064"/>
                  </a:lnTo>
                  <a:lnTo>
                    <a:pt x="0" y="0"/>
                  </a:lnTo>
                  <a:close/>
                </a:path>
              </a:pathLst>
            </a:custGeom>
            <a:blipFill>
              <a:blip r:embed="rId6"/>
              <a:stretch>
                <a:fillRect/>
              </a:stretch>
            </a:blipFill>
          </p:spPr>
        </p:sp>
      </p:grpSp>
      <p:sp>
        <p:nvSpPr>
          <p:cNvPr id="50" name="TextBox 50"/>
          <p:cNvSpPr txBox="1"/>
          <p:nvPr/>
        </p:nvSpPr>
        <p:spPr>
          <a:xfrm>
            <a:off x="13423392" y="4021836"/>
            <a:ext cx="2560320" cy="403860"/>
          </a:xfrm>
          <a:prstGeom prst="rect">
            <a:avLst/>
          </a:prstGeom>
        </p:spPr>
        <p:txBody>
          <a:bodyPr lIns="0" tIns="0" rIns="0" bIns="0" rtlCol="0" anchor="t">
            <a:spAutoFit/>
          </a:bodyPr>
          <a:lstStyle/>
          <a:p>
            <a:pPr algn="l">
              <a:lnSpc>
                <a:spcPts val="2040"/>
              </a:lnSpc>
            </a:pPr>
            <a:r>
              <a:rPr lang="en-US" sz="1700" b="1">
                <a:solidFill>
                  <a:srgbClr val="5F6B62"/>
                </a:solidFill>
                <a:latin typeface="Calibri (MS) Bold"/>
                <a:ea typeface="Calibri (MS) Bold"/>
                <a:cs typeface="Calibri (MS) Bold"/>
                <a:sym typeface="Calibri (MS) Bold"/>
              </a:rPr>
              <a:t>Months 9–18</a:t>
            </a:r>
          </a:p>
        </p:txBody>
      </p:sp>
      <p:sp>
        <p:nvSpPr>
          <p:cNvPr id="51" name="TextBox 51"/>
          <p:cNvSpPr txBox="1"/>
          <p:nvPr/>
        </p:nvSpPr>
        <p:spPr>
          <a:xfrm>
            <a:off x="13423392" y="4350258"/>
            <a:ext cx="3657600" cy="532638"/>
          </a:xfrm>
          <a:prstGeom prst="rect">
            <a:avLst/>
          </a:prstGeom>
        </p:spPr>
        <p:txBody>
          <a:bodyPr lIns="0" tIns="0" rIns="0" bIns="0" rtlCol="0" anchor="t">
            <a:spAutoFit/>
          </a:bodyPr>
          <a:lstStyle/>
          <a:p>
            <a:pPr algn="l">
              <a:lnSpc>
                <a:spcPts val="3120"/>
              </a:lnSpc>
            </a:pPr>
            <a:r>
              <a:rPr lang="en-US" sz="2600" b="1">
                <a:solidFill>
                  <a:srgbClr val="1A231C"/>
                </a:solidFill>
                <a:latin typeface="Calibri (MS) Bold"/>
                <a:ea typeface="Calibri (MS) Bold"/>
                <a:cs typeface="Calibri (MS) Bold"/>
                <a:sym typeface="Calibri (MS) Bold"/>
              </a:rPr>
              <a:t>Partner-led</a:t>
            </a:r>
          </a:p>
        </p:txBody>
      </p:sp>
      <p:sp>
        <p:nvSpPr>
          <p:cNvPr id="52" name="TextBox 52"/>
          <p:cNvSpPr txBox="1"/>
          <p:nvPr/>
        </p:nvSpPr>
        <p:spPr>
          <a:xfrm>
            <a:off x="12472416" y="5082540"/>
            <a:ext cx="4626864" cy="2141220"/>
          </a:xfrm>
          <a:prstGeom prst="rect">
            <a:avLst/>
          </a:prstGeom>
        </p:spPr>
        <p:txBody>
          <a:bodyPr lIns="0" tIns="0" rIns="0" bIns="0" rtlCol="0" anchor="t">
            <a:spAutoFit/>
          </a:bodyPr>
          <a:lstStyle/>
          <a:p>
            <a:pPr algn="l">
              <a:lnSpc>
                <a:spcPts val="2279"/>
              </a:lnSpc>
            </a:pPr>
            <a:r>
              <a:rPr lang="en-US" sz="1899">
                <a:solidFill>
                  <a:srgbClr val="1A231C"/>
                </a:solidFill>
                <a:latin typeface="Calibri (MS)"/>
                <a:ea typeface="Calibri (MS)"/>
                <a:cs typeface="Calibri (MS)"/>
                <a:sym typeface="Calibri (MS)"/>
              </a:rPr>
              <a:t>·  Reseller programme: 20% revenue share for dev partners</a:t>
            </a:r>
          </a:p>
          <a:p>
            <a:pPr algn="l">
              <a:lnSpc>
                <a:spcPts val="2279"/>
              </a:lnSpc>
            </a:pPr>
            <a:r>
              <a:rPr lang="en-US" sz="1899">
                <a:solidFill>
                  <a:srgbClr val="1A231C"/>
                </a:solidFill>
                <a:latin typeface="Calibri (MS)"/>
                <a:ea typeface="Calibri (MS)"/>
                <a:cs typeface="Calibri (MS)"/>
                <a:sym typeface="Calibri (MS)"/>
              </a:rPr>
              <a:t>·  Hosting providers, MSPs and ISMS consultants refer</a:t>
            </a:r>
          </a:p>
          <a:p>
            <a:pPr algn="l">
              <a:lnSpc>
                <a:spcPts val="2279"/>
              </a:lnSpc>
            </a:pPr>
            <a:r>
              <a:rPr lang="en-US" sz="1899">
                <a:solidFill>
                  <a:srgbClr val="1A231C"/>
                </a:solidFill>
                <a:latin typeface="Calibri (MS)"/>
                <a:ea typeface="Calibri (MS)"/>
                <a:cs typeface="Calibri (MS)"/>
                <a:sym typeface="Calibri (MS)"/>
              </a:rPr>
              <a:t>·  Then India, US and Europe: add a feed and a language</a:t>
            </a:r>
          </a:p>
        </p:txBody>
      </p:sp>
      <p:grpSp>
        <p:nvGrpSpPr>
          <p:cNvPr id="53" name="Group 53"/>
          <p:cNvGrpSpPr/>
          <p:nvPr/>
        </p:nvGrpSpPr>
        <p:grpSpPr>
          <a:xfrm>
            <a:off x="12472416" y="7315200"/>
            <a:ext cx="4626864" cy="585216"/>
            <a:chOff x="0" y="0"/>
            <a:chExt cx="6169152" cy="780288"/>
          </a:xfrm>
        </p:grpSpPr>
        <p:sp>
          <p:nvSpPr>
            <p:cNvPr id="54" name="Freeform 54"/>
            <p:cNvSpPr/>
            <p:nvPr/>
          </p:nvSpPr>
          <p:spPr>
            <a:xfrm>
              <a:off x="0" y="0"/>
              <a:ext cx="6169152" cy="780288"/>
            </a:xfrm>
            <a:custGeom>
              <a:avLst/>
              <a:gdLst/>
              <a:ahLst/>
              <a:cxnLst/>
              <a:rect l="l" t="t" r="r" b="b"/>
              <a:pathLst>
                <a:path w="6169152" h="780288">
                  <a:moveTo>
                    <a:pt x="0" y="0"/>
                  </a:moveTo>
                  <a:lnTo>
                    <a:pt x="6169152" y="0"/>
                  </a:lnTo>
                  <a:lnTo>
                    <a:pt x="6169152" y="780288"/>
                  </a:lnTo>
                  <a:lnTo>
                    <a:pt x="0" y="780288"/>
                  </a:lnTo>
                  <a:close/>
                </a:path>
              </a:pathLst>
            </a:custGeom>
            <a:blipFill>
              <a:blip r:embed="rId2">
                <a:alphaModFix amt="0"/>
              </a:blip>
              <a:stretch>
                <a:fillRect t="-104053" b="-104053"/>
              </a:stretch>
            </a:blipFill>
          </p:spPr>
        </p:sp>
        <p:sp>
          <p:nvSpPr>
            <p:cNvPr id="55" name="TextBox 55"/>
            <p:cNvSpPr txBox="1"/>
            <p:nvPr/>
          </p:nvSpPr>
          <p:spPr>
            <a:xfrm>
              <a:off x="0" y="-38100"/>
              <a:ext cx="6169152" cy="818388"/>
            </a:xfrm>
            <a:prstGeom prst="rect">
              <a:avLst/>
            </a:prstGeom>
          </p:spPr>
          <p:txBody>
            <a:bodyPr lIns="0" tIns="0" rIns="0" bIns="0" rtlCol="0" anchor="b"/>
            <a:lstStyle/>
            <a:p>
              <a:pPr algn="l">
                <a:lnSpc>
                  <a:spcPts val="2279"/>
                </a:lnSpc>
              </a:pPr>
              <a:r>
                <a:rPr lang="en-US" sz="1899" b="1">
                  <a:solidFill>
                    <a:srgbClr val="2F6B3A"/>
                  </a:solidFill>
                  <a:latin typeface="Calibri (MS) Bold"/>
                  <a:ea typeface="Calibri (MS) Bold"/>
                  <a:cs typeface="Calibri (MS) Bold"/>
                  <a:sym typeface="Calibri (MS) Bold"/>
                </a:rPr>
                <a:t>Target: 60 workspaces, payback &lt; 6 months</a:t>
              </a:r>
            </a:p>
          </p:txBody>
        </p:sp>
      </p:grpSp>
      <p:grpSp>
        <p:nvGrpSpPr>
          <p:cNvPr id="56" name="Group 56"/>
          <p:cNvGrpSpPr/>
          <p:nvPr/>
        </p:nvGrpSpPr>
        <p:grpSpPr>
          <a:xfrm>
            <a:off x="914400" y="8321040"/>
            <a:ext cx="16459200" cy="658368"/>
            <a:chOff x="0" y="0"/>
            <a:chExt cx="21945600" cy="877824"/>
          </a:xfrm>
        </p:grpSpPr>
        <p:sp>
          <p:nvSpPr>
            <p:cNvPr id="57" name="Freeform 57"/>
            <p:cNvSpPr/>
            <p:nvPr/>
          </p:nvSpPr>
          <p:spPr>
            <a:xfrm>
              <a:off x="0" y="0"/>
              <a:ext cx="21945600" cy="877824"/>
            </a:xfrm>
            <a:custGeom>
              <a:avLst/>
              <a:gdLst/>
              <a:ahLst/>
              <a:cxnLst/>
              <a:rect l="l" t="t" r="r" b="b"/>
              <a:pathLst>
                <a:path w="21945600" h="877824">
                  <a:moveTo>
                    <a:pt x="0" y="175514"/>
                  </a:moveTo>
                  <a:cubicBezTo>
                    <a:pt x="0" y="78613"/>
                    <a:pt x="78613" y="0"/>
                    <a:pt x="175514" y="0"/>
                  </a:cubicBezTo>
                  <a:lnTo>
                    <a:pt x="21770087" y="0"/>
                  </a:lnTo>
                  <a:cubicBezTo>
                    <a:pt x="21866988" y="0"/>
                    <a:pt x="21945600" y="78613"/>
                    <a:pt x="21945600" y="175514"/>
                  </a:cubicBezTo>
                  <a:lnTo>
                    <a:pt x="21945600" y="702310"/>
                  </a:lnTo>
                  <a:cubicBezTo>
                    <a:pt x="21945600" y="799211"/>
                    <a:pt x="21866988" y="877824"/>
                    <a:pt x="21770087" y="877824"/>
                  </a:cubicBezTo>
                  <a:lnTo>
                    <a:pt x="175514" y="877824"/>
                  </a:lnTo>
                  <a:cubicBezTo>
                    <a:pt x="78613" y="877824"/>
                    <a:pt x="0" y="799211"/>
                    <a:pt x="0" y="702310"/>
                  </a:cubicBezTo>
                  <a:close/>
                </a:path>
              </a:pathLst>
            </a:custGeom>
            <a:solidFill>
              <a:srgbClr val="D7EBAE"/>
            </a:solidFill>
          </p:spPr>
        </p:sp>
      </p:grpSp>
      <p:grpSp>
        <p:nvGrpSpPr>
          <p:cNvPr id="58" name="Group 58"/>
          <p:cNvGrpSpPr/>
          <p:nvPr/>
        </p:nvGrpSpPr>
        <p:grpSpPr>
          <a:xfrm>
            <a:off x="1280160" y="8321040"/>
            <a:ext cx="15727680" cy="658368"/>
            <a:chOff x="0" y="0"/>
            <a:chExt cx="20970240" cy="877824"/>
          </a:xfrm>
        </p:grpSpPr>
        <p:sp>
          <p:nvSpPr>
            <p:cNvPr id="59" name="Freeform 59"/>
            <p:cNvSpPr/>
            <p:nvPr/>
          </p:nvSpPr>
          <p:spPr>
            <a:xfrm>
              <a:off x="0" y="0"/>
              <a:ext cx="20970239" cy="877824"/>
            </a:xfrm>
            <a:custGeom>
              <a:avLst/>
              <a:gdLst/>
              <a:ahLst/>
              <a:cxnLst/>
              <a:rect l="l" t="t" r="r" b="b"/>
              <a:pathLst>
                <a:path w="20970239" h="877824">
                  <a:moveTo>
                    <a:pt x="0" y="0"/>
                  </a:moveTo>
                  <a:lnTo>
                    <a:pt x="20970239" y="0"/>
                  </a:lnTo>
                  <a:lnTo>
                    <a:pt x="20970239" y="877824"/>
                  </a:lnTo>
                  <a:lnTo>
                    <a:pt x="0" y="877824"/>
                  </a:lnTo>
                  <a:close/>
                </a:path>
              </a:pathLst>
            </a:custGeom>
            <a:blipFill>
              <a:blip r:embed="rId2">
                <a:alphaModFix amt="0"/>
              </a:blip>
              <a:stretch>
                <a:fillRect t="-415475" b="-415475"/>
              </a:stretch>
            </a:blipFill>
          </p:spPr>
        </p:sp>
        <p:sp>
          <p:nvSpPr>
            <p:cNvPr id="60" name="TextBox 60"/>
            <p:cNvSpPr txBox="1"/>
            <p:nvPr/>
          </p:nvSpPr>
          <p:spPr>
            <a:xfrm>
              <a:off x="0" y="-47625"/>
              <a:ext cx="20970240" cy="925449"/>
            </a:xfrm>
            <a:prstGeom prst="rect">
              <a:avLst/>
            </a:prstGeom>
          </p:spPr>
          <p:txBody>
            <a:bodyPr lIns="0" tIns="0" rIns="0" bIns="0" rtlCol="0" anchor="ctr"/>
            <a:lstStyle/>
            <a:p>
              <a:pPr algn="l">
                <a:lnSpc>
                  <a:spcPts val="2520"/>
                </a:lnSpc>
              </a:pPr>
              <a:r>
                <a:rPr lang="en-US" sz="2100" b="1">
                  <a:solidFill>
                    <a:srgbClr val="2F6B3A"/>
                  </a:solidFill>
                  <a:latin typeface="Calibri (MS) Bold"/>
                  <a:ea typeface="Calibri (MS) Bold"/>
                  <a:cs typeface="Calibri (MS) Bold"/>
                  <a:sym typeface="Calibri (MS) Bold"/>
                </a:rPr>
                <a:t>North star  </a:t>
              </a:r>
              <a:r>
                <a:rPr lang="en-US" sz="2100" b="1">
                  <a:solidFill>
                    <a:srgbClr val="1A231C"/>
                  </a:solidFill>
                  <a:latin typeface="Calibri (MS) Bold"/>
                  <a:ea typeface="Calibri (MS) Bold"/>
                  <a:cs typeface="Calibri (MS) Bold"/>
                  <a:sym typeface="Calibri (MS) Bold"/>
                </a:rPr>
                <a:t>advisories closed with a tested draft PR, per workspace, per month</a:t>
              </a:r>
            </a:p>
          </p:txBody>
        </p:sp>
      </p:grpSp>
      <p:grpSp>
        <p:nvGrpSpPr>
          <p:cNvPr id="61" name="Group 61"/>
          <p:cNvGrpSpPr/>
          <p:nvPr/>
        </p:nvGrpSpPr>
        <p:grpSpPr>
          <a:xfrm>
            <a:off x="16550640" y="273395"/>
            <a:ext cx="1308336" cy="675295"/>
            <a:chOff x="0" y="0"/>
            <a:chExt cx="1744448" cy="900394"/>
          </a:xfrm>
        </p:grpSpPr>
        <p:sp>
          <p:nvSpPr>
            <p:cNvPr id="62" name="Freeform 62"/>
            <p:cNvSpPr/>
            <p:nvPr/>
          </p:nvSpPr>
          <p:spPr>
            <a:xfrm>
              <a:off x="553380" y="0"/>
              <a:ext cx="557097" cy="535741"/>
            </a:xfrm>
            <a:custGeom>
              <a:avLst/>
              <a:gdLst/>
              <a:ahLst/>
              <a:cxnLst/>
              <a:rect l="l" t="t" r="r" b="b"/>
              <a:pathLst>
                <a:path w="557097" h="535741">
                  <a:moveTo>
                    <a:pt x="0" y="0"/>
                  </a:moveTo>
                  <a:lnTo>
                    <a:pt x="557096" y="0"/>
                  </a:lnTo>
                  <a:lnTo>
                    <a:pt x="557096" y="535741"/>
                  </a:lnTo>
                  <a:lnTo>
                    <a:pt x="0" y="53574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63" name="TextBox 63"/>
            <p:cNvSpPr txBox="1"/>
            <p:nvPr/>
          </p:nvSpPr>
          <p:spPr>
            <a:xfrm>
              <a:off x="0" y="509587"/>
              <a:ext cx="1744448" cy="390807"/>
            </a:xfrm>
            <a:prstGeom prst="rect">
              <a:avLst/>
            </a:prstGeom>
          </p:spPr>
          <p:txBody>
            <a:bodyPr lIns="0" tIns="0" rIns="0" bIns="0" rtlCol="0" anchor="t">
              <a:spAutoFit/>
            </a:bodyPr>
            <a:lstStyle/>
            <a:p>
              <a:pPr algn="ctr">
                <a:lnSpc>
                  <a:spcPts val="2366"/>
                </a:lnSpc>
                <a:spcBef>
                  <a:spcPct val="0"/>
                </a:spcBef>
              </a:pPr>
              <a:r>
                <a:rPr lang="en-US" sz="1690" b="1">
                  <a:solidFill>
                    <a:srgbClr val="1E1C1C"/>
                  </a:solidFill>
                  <a:latin typeface="Neue Machina Ultra-Bold"/>
                  <a:ea typeface="Neue Machina Ultra-Bold"/>
                  <a:cs typeface="Neue Machina Ultra-Bold"/>
                  <a:sym typeface="Neue Machina Ultra-Bold"/>
                </a:rPr>
                <a:t>ProofPatch</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1876</Words>
  <Application>Microsoft Office PowerPoint</Application>
  <PresentationFormat>Custom</PresentationFormat>
  <Paragraphs>213</Paragraphs>
  <Slides>15</Slides>
  <Notes>8</Notes>
  <HiddenSlides>0</HiddenSlides>
  <MMClips>3</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Calibri (MS)</vt:lpstr>
      <vt:lpstr>Arimo Bold</vt:lpstr>
      <vt:lpstr>Arial Bold</vt:lpstr>
      <vt:lpstr>Courier New</vt:lpstr>
      <vt:lpstr>Calibri (MS) Bold</vt:lpstr>
      <vt:lpstr>Calibri</vt:lpstr>
      <vt:lpstr>Arial</vt:lpstr>
      <vt:lpstr>Calibri (MS) Bold Italics</vt:lpstr>
      <vt:lpstr>Neue Machina Ultra-Bold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jetro</dc:title>
  <cp:lastModifiedBy>Arsh Chatrath</cp:lastModifiedBy>
  <cp:revision>1</cp:revision>
  <dcterms:created xsi:type="dcterms:W3CDTF">2006-08-16T00:00:00Z</dcterms:created>
  <dcterms:modified xsi:type="dcterms:W3CDTF">2026-10-25T15:42:19Z</dcterms:modified>
  <dc:identifier>DAHY8zLs4lU</dc:identifier>
</cp:coreProperties>
</file>