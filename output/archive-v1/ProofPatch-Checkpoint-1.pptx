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de57719964a5f" /><Relationship Type="http://schemas.openxmlformats.org/officeDocument/2006/relationships/extended-properties" Target="/docProps/app.xml" Id="Rf26da86e87484f96" /><Relationship Type="http://schemas.openxmlformats.org/officeDocument/2006/relationships/officeDocument" Target="/ppt/presentation.xml" Id="R425ef4a5e4e5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5aed51ec04c09"/>
  </p:sldMasterIdLst>
  <p:notesMasterIdLst>
    <p:notesMasterId xmlns:r="http://schemas.openxmlformats.org/officeDocument/2006/relationships" r:id="Rbf09913afbb34c23"/>
  </p:notesMasterIdLst>
  <p:sldIdLst>
    <p:sldId xmlns:r="http://schemas.openxmlformats.org/officeDocument/2006/relationships" id="256" r:id="R99aa2950973f40ef"/>
    <p:sldId xmlns:r="http://schemas.openxmlformats.org/officeDocument/2006/relationships" id="257" r:id="Ra9432d20f1394fa2"/>
    <p:sldId xmlns:r="http://schemas.openxmlformats.org/officeDocument/2006/relationships" id="258" r:id="Rce8a3e44f56f4f17"/>
    <p:sldId xmlns:r="http://schemas.openxmlformats.org/officeDocument/2006/relationships" id="259" r:id="R9c8e653605f340db"/>
    <p:sldId xmlns:r="http://schemas.openxmlformats.org/officeDocument/2006/relationships" id="260" r:id="Rb5cafca5aec54a8c"/>
    <p:sldId xmlns:r="http://schemas.openxmlformats.org/officeDocument/2006/relationships" id="261" r:id="Re34f21fc82314d7e"/>
    <p:sldId xmlns:r="http://schemas.openxmlformats.org/officeDocument/2006/relationships" id="262" r:id="Ree34b7c5dd6f4853"/>
    <p:sldId xmlns:r="http://schemas.openxmlformats.org/officeDocument/2006/relationships" id="263" r:id="Rc8e9ad444e194f15"/>
    <p:sldId xmlns:r="http://schemas.openxmlformats.org/officeDocument/2006/relationships" id="264" r:id="Rcaab93808e8d4980"/>
    <p:sldId xmlns:r="http://schemas.openxmlformats.org/officeDocument/2006/relationships" id="265" r:id="Rbc34f5c3684d455b"/>
    <p:sldId xmlns:r="http://schemas.openxmlformats.org/officeDocument/2006/relationships" id="266" r:id="Rc493c5153cc742f7"/>
    <p:sldId xmlns:r="http://schemas.openxmlformats.org/officeDocument/2006/relationships" id="267" r:id="R42e0a31a0a8c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3c1fb374043aa" /><Relationship Type="http://schemas.openxmlformats.org/officeDocument/2006/relationships/slideMaster" Target="/ppt/slideMasters/slideMaster1.xml" Id="R55d5aed51ec04c09" /><Relationship Type="http://schemas.openxmlformats.org/officeDocument/2006/relationships/notesMaster" Target="/ppt/notesMasters/notesMaster1.xml" Id="Rbf09913afbb34c23" /><Relationship Type="http://schemas.openxmlformats.org/officeDocument/2006/relationships/presProps" Target="/ppt/presProps.xml" Id="R91c972fe4ad04247" /><Relationship Type="http://schemas.openxmlformats.org/officeDocument/2006/relationships/tableStyles" Target="/ppt/tableStyles.xml" Id="R268c56195c474aa1" /><Relationship Type="http://schemas.openxmlformats.org/officeDocument/2006/relationships/slide" Target="/ppt/slides/slide1.xml" Id="R99aa2950973f40ef" /><Relationship Type="http://schemas.openxmlformats.org/officeDocument/2006/relationships/slide" Target="/ppt/slides/slide2.xml" Id="Ra9432d20f1394fa2" /><Relationship Type="http://schemas.openxmlformats.org/officeDocument/2006/relationships/slide" Target="/ppt/slides/slide3.xml" Id="Rce8a3e44f56f4f17" /><Relationship Type="http://schemas.openxmlformats.org/officeDocument/2006/relationships/slide" Target="/ppt/slides/slide4.xml" Id="R9c8e653605f340db" /><Relationship Type="http://schemas.openxmlformats.org/officeDocument/2006/relationships/slide" Target="/ppt/slides/slide5.xml" Id="Rb5cafca5aec54a8c" /><Relationship Type="http://schemas.openxmlformats.org/officeDocument/2006/relationships/slide" Target="/ppt/slides/slide6.xml" Id="Re34f21fc82314d7e" /><Relationship Type="http://schemas.openxmlformats.org/officeDocument/2006/relationships/slide" Target="/ppt/slides/slide7.xml" Id="Ree34b7c5dd6f4853" /><Relationship Type="http://schemas.openxmlformats.org/officeDocument/2006/relationships/slide" Target="/ppt/slides/slide8.xml" Id="Rc8e9ad444e194f15" /><Relationship Type="http://schemas.openxmlformats.org/officeDocument/2006/relationships/slide" Target="/ppt/slides/slide9.xml" Id="Rcaab93808e8d4980" /><Relationship Type="http://schemas.openxmlformats.org/officeDocument/2006/relationships/slide" Target="/ppt/slides/slide10.xml" Id="Rbc34f5c3684d455b" /><Relationship Type="http://schemas.openxmlformats.org/officeDocument/2006/relationships/slide" Target="/ppt/slides/slide11.xml" Id="Rc493c5153cc742f7" /><Relationship Type="http://schemas.openxmlformats.org/officeDocument/2006/relationships/slide" Target="/ppt/slides/slide12.xml" Id="R42e0a31a0a8c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78c3c8dd9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62f8fd0934c1f" /><Relationship Type="http://schemas.openxmlformats.org/officeDocument/2006/relationships/notesMaster" Target="/ppt/notesMasters/notesMaster1.xml" Id="R0cb87872a6874f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c221cd7894ead" /><Relationship Type="http://schemas.openxmlformats.org/officeDocument/2006/relationships/notesMaster" Target="/ppt/notesMasters/notesMaster1.xml" Id="R2571bb9f9c4f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293d99cfe64efb" /><Relationship Type="http://schemas.openxmlformats.org/officeDocument/2006/relationships/notesMaster" Target="/ppt/notesMasters/notesMaster1.xml" Id="Re9b08656f272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a1f8911534ebe" /><Relationship Type="http://schemas.openxmlformats.org/officeDocument/2006/relationships/notesMaster" Target="/ppt/notesMasters/notesMaster1.xml" Id="Rc6adfe3cb0de44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ebed2da5644690" /><Relationship Type="http://schemas.openxmlformats.org/officeDocument/2006/relationships/notesMaster" Target="/ppt/notesMasters/notesMaster1.xml" Id="R30e37aec478e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0874b52f194c37" /><Relationship Type="http://schemas.openxmlformats.org/officeDocument/2006/relationships/notesMaster" Target="/ppt/notesMasters/notesMaster1.xml" Id="R09bced9f1260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aa9ce1be0e484e" /><Relationship Type="http://schemas.openxmlformats.org/officeDocument/2006/relationships/notesMaster" Target="/ppt/notesMasters/notesMaster1.xml" Id="R13a884a88dd1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ab97458c94422" /><Relationship Type="http://schemas.openxmlformats.org/officeDocument/2006/relationships/notesMaster" Target="/ppt/notesMasters/notesMaster1.xml" Id="R3df1e3b8d43e4e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22b2d80f8a4526" /><Relationship Type="http://schemas.openxmlformats.org/officeDocument/2006/relationships/notesMaster" Target="/ppt/notesMasters/notesMaster1.xml" Id="Re2ba92196cce47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314877cd3e4a70" /><Relationship Type="http://schemas.openxmlformats.org/officeDocument/2006/relationships/notesMaster" Target="/ppt/notesMasters/notesMaster1.xml" Id="Re5da56df107d41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5613e96b8440fd" /><Relationship Type="http://schemas.openxmlformats.org/officeDocument/2006/relationships/notesMaster" Target="/ppt/notesMasters/notesMaster1.xml" Id="R77608b38d8c54b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2d50dbf7ee42d1" /><Relationship Type="http://schemas.openxmlformats.org/officeDocument/2006/relationships/notesMaster" Target="/ppt/notesMasters/notesMaster1.xml" Id="R2fd82b70ac29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seconds. Working name, not trademark-cleared. Introduce the user: small TypeScript SaaS teams. This is a Checkpoint 1 concept and simulated prototype. Four-member team. No customer traction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Industry context only, not target-customer prevalence. Verizon 2026 DBIR uses 2025 incident data. The workflow pain is a hypothesis to validate, not a result from interviews. Source: https://www.verizon.com/about/news/breach-industry-wide-dbir-finds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Customer profile and pain remain hypotheses. No interviews completed. We will ask for a walkthrough of actual recent remediation work and artifacts instead of hypothetical enthusiasm.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seconds. Scout reads approved signals. Challenger runs bounded checks. Fixer proposes a minimal change. Challenger reruns frozen tests. Separate agents alone do not prove independence. Deterministic evidence requirements and permission boundaries matter more than agent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seconds. This example is synthetic. Tenant B must not read Tenant A invoice. After the tenant-scoped query, cross-tenant access returns 404 while the owner still gets 200. A failed legitimate-use test blocks promotion. This is a regression demonstration, not a claim of comprehensive pentesting.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seconds. No false novelty claims. All capability descriptions are official vendor claims, not independent benchmarks. GitHub GA on October 15 2026. Proposed focus needs validation against these products. Sources: github: https://github.blog/changelog/2026-10-15-agentic-autofix-for-code-scanning-alerts-general-availability/</a:t>
            </a:r>
          </a:p>
          <a:p xmlns:a="http://schemas.openxmlformats.org/drawingml/2006/main">
            <a:r>
              <a:t>dependabot: https://docs.github.com/en/code-security/concepts/supply-chain-security/dependabot-security-updates</a:t>
            </a:r>
          </a:p>
          <a:p xmlns:a="http://schemas.openxmlformats.org/drawingml/2006/main">
            <a:r>
              <a:t>snyk: https://docs.snyk.io/scan-fix-and-prevent/scan-with-snyk/snyk-code/manage-code-vulnerabilities/fix-code-vulnerabilities-automatically</a:t>
            </a:r>
          </a:p>
          <a:p xmlns:a="http://schemas.openxmlformats.org/drawingml/2006/main">
            <a:r>
              <a:t>aikido: https://www.aikido.dev/blog/introducing-aikido-infinite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seconds. Pricing is a hypothesis. ₹4,999/workspace/month for three repos and 30 bounded runs. Base illustrative cost is 30 × ₹25 plus ₹500 infrastructure = ₹1,250. Contribution ₹3,749, about 75%. At ₹100/run contribution drops to ₹1,499, about 30%. Excludes salaries, support, tax, payment fees and sales. No measured costs or willingness to pay.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seconds. No existing customers or partnerships. Proposed channels: incubators, founder and developer communities, public reproducible demo. Recruit five prospects, prioritize three pilots. The validation targets are ten interviews, five workflow observations, three pilots, two paid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seconds. Target at least 30% lower median active developer remediation time, on matched tasks versus current tools, without increased invalid fixes. Track costs including retries. The revenue scenario is 100 × 4,999 × 12 = ₹5,998,800 = ₹59.988 lakh, not TAM or forecast. If evidence does not improve review or onboarding is too expensive, narrow the product or stop.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 including short demo. Open http://127.0.0.1:3000 and Run demo. Frontend, state, filters, failure gate and export are built. Agents, live scans, sandbox and GitHub integration are planned. Four-member provisional 48-hour plan: A frontend/demo, B scan ingestion, C tests/fixer, D orchestration/research/pitch. Request three design 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slide. Proposed architecture, not deployed infrastructure. Next.js frontend only is implemented. Hono API orchestrates bounded jobs. Customer-owned ephemeral runners execute tests. Postgres stores entities and jobs, object storage stores scrubbed evidence. No production exploitation or automatic merging. OSV for dependency intelligence. ZAP baseline is passive, not a pentest. Sources: https://google.github.io/osv-scanner/</a:t>
            </a:r>
          </a:p>
          <a:p xmlns:a="http://schemas.openxmlformats.org/drawingml/2006/main">
            <a:r>
              <a:t>https://www.zaproxy.org/docs/docker/baseline-scan/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sources. All checked 24 October 2026. Vendor claims not independently benchmarked. Full URLs: verizon: https://www.verizon.com/about/news/breach-industry-wide-dbir-finds</a:t>
            </a:r>
          </a:p>
          <a:p xmlns:a="http://schemas.openxmlformats.org/drawingml/2006/main">
            <a:r>
              <a:t>github: https://github.blog/changelog/2026-10-15-agentic-autofix-for-code-scanning-alerts-general-availability/</a:t>
            </a:r>
          </a:p>
          <a:p xmlns:a="http://schemas.openxmlformats.org/drawingml/2006/main">
            <a:r>
              <a:t>dependabot: https://docs.github.com/en/code-security/concepts/supply-chain-security/dependabot-security-updates</a:t>
            </a:r>
          </a:p>
          <a:p xmlns:a="http://schemas.openxmlformats.org/drawingml/2006/main">
            <a:r>
              <a:t>snyk: https://docs.snyk.io/scan-fix-and-prevent/scan-with-snyk/snyk-code/manage-code-vulnerabilities/fix-code-vulnerabilities-automatically</a:t>
            </a:r>
          </a:p>
          <a:p xmlns:a="http://schemas.openxmlformats.org/drawingml/2006/main">
            <a:r>
              <a:t>aikido: https://www.aikido.dev/blog/introducing-aikido-infinite</a:t>
            </a:r>
          </a:p>
          <a:p xmlns:a="http://schemas.openxmlformats.org/drawingml/2006/main">
            <a:r>
              <a:t>osv: https://google.github.io/osv-scanner/</a:t>
            </a:r>
          </a:p>
          <a:p xmlns:a="http://schemas.openxmlformats.org/drawingml/2006/main">
            <a:r>
              <a:t>zap: https://www.zaproxy.org/docs/docker/baseline-scan/</a:t>
            </a:r>
          </a:p>
          <a:p xmlns:a="http://schemas.openxmlformats.org/drawingml/2006/main">
            <a:r>
              <a:t>All prices, adoption targets, differentiation and time savings are hypotheses. The prototype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83ecb0c764d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d60b4431d47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81e47d8d344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42eb7ef3042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7183d8ab640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1cb5a6b07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3F0672-1ACF-4BAB-9277-13F73B6B5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C6E73E-D938-482E-BA2C-C799291407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68D459-42E3-4FD0-8DD4-8518F4337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4A7026-7884-442A-935C-80586DC44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44CF8D-FC28-4B4C-9C86-8C43752AC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CED1EC-0C6B-42E3-AC70-2C8C6ACF9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E66D5D-C125-4F73-94D4-4D6D3BBF3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78B5CC-58F5-4DF1-A52A-210B36BBD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053342-B451-4A7F-961B-52B0030C9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E71EB0-7E1F-436B-8C6A-015F74F43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8d288854db486b" /><Relationship Type="http://schemas.openxmlformats.org/officeDocument/2006/relationships/slideLayout" Target="/ppt/slideLayouts/slideLayout1.xml" Id="R546966e9d3ca49bd" /><Relationship Type="http://schemas.openxmlformats.org/officeDocument/2006/relationships/slideLayout" Target="/ppt/slideLayouts/slideLayout2.xml" Id="R067c6ba176c74007" /><Relationship Type="http://schemas.openxmlformats.org/officeDocument/2006/relationships/slideLayout" Target="/ppt/slideLayouts/slideLayout3.xml" Id="R8d647072c62e44ae" /><Relationship Type="http://schemas.openxmlformats.org/officeDocument/2006/relationships/slideLayout" Target="/ppt/slideLayouts/slideLayout4.xml" Id="Rf97da951ab904a80" /><Relationship Type="http://schemas.openxmlformats.org/officeDocument/2006/relationships/slideLayout" Target="/ppt/slideLayouts/slideLayout5.xml" Id="Rdd8dc8706e77461a" /><Relationship Type="http://schemas.openxmlformats.org/officeDocument/2006/relationships/slideLayout" Target="/ppt/slideLayouts/slideLayout6.xml" Id="R8113f5e96b3a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966e9d3ca49bd"/>
    <p:sldLayoutId xmlns:r="http://schemas.openxmlformats.org/officeDocument/2006/relationships" id="2147483650" r:id="R067c6ba176c74007"/>
    <p:sldLayoutId xmlns:r="http://schemas.openxmlformats.org/officeDocument/2006/relationships" id="2147483651" r:id="R8d647072c62e44ae"/>
    <p:sldLayoutId xmlns:r="http://schemas.openxmlformats.org/officeDocument/2006/relationships" id="2147483652" r:id="Rf97da951ab904a80"/>
    <p:sldLayoutId xmlns:r="http://schemas.openxmlformats.org/officeDocument/2006/relationships" id="2147483653" r:id="Rdd8dc8706e77461a"/>
    <p:sldLayoutId xmlns:r="http://schemas.openxmlformats.org/officeDocument/2006/relationships" id="2147483654" r:id="R8113f5e96b3a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9369f1718440d" /><Relationship Type="http://schemas.openxmlformats.org/officeDocument/2006/relationships/notesSlide" Target="/ppt/notesSlides/notesSlide1.xml" Id="R9bd074c53044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7c561aa2d4da6" /><Relationship Type="http://schemas.openxmlformats.org/officeDocument/2006/relationships/notesSlide" Target="/ppt/notesSlides/notesSlide2.xml" Id="R42dabcd43762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9e90563414dc4" /><Relationship Type="http://schemas.openxmlformats.org/officeDocument/2006/relationships/notesSlide" Target="/ppt/notesSlides/notesSlide3.xml" Id="Rdcc030e754a3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8f383b26b4b78" /><Relationship Type="http://schemas.openxmlformats.org/officeDocument/2006/relationships/notesSlide" Target="/ppt/notesSlides/notesSlide4.xml" Id="R1eabe0e0be4740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9dc18493b40f5" /><Relationship Type="http://schemas.openxmlformats.org/officeDocument/2006/relationships/notesSlide" Target="/ppt/notesSlides/notesSlide5.xml" Id="Rf2a5bed1f5d7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0f3b4148f42d6" /><Relationship Type="http://schemas.openxmlformats.org/officeDocument/2006/relationships/notesSlide" Target="/ppt/notesSlides/notesSlide6.xml" Id="R835a9478715f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7c351445749d6" /><Relationship Type="http://schemas.openxmlformats.org/officeDocument/2006/relationships/notesSlide" Target="/ppt/notesSlides/notesSlide7.xml" Id="R5c9e06a1ec5c45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58b7d0d5c4739" /><Relationship Type="http://schemas.openxmlformats.org/officeDocument/2006/relationships/notesSlide" Target="/ppt/notesSlides/notesSlide8.xml" Id="Rf11e7eb919e3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891e9e234472d" /><Relationship Type="http://schemas.openxmlformats.org/officeDocument/2006/relationships/notesSlide" Target="/ppt/notesSlides/notesSlide9.xml" Id="Rd95668a8b13c48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15e1f074d4fcc" /><Relationship Type="http://schemas.openxmlformats.org/officeDocument/2006/relationships/image" Target="/ppt/media/image.png" Id="R5f6471a615c245e9" /><Relationship Type="http://schemas.openxmlformats.org/officeDocument/2006/relationships/notesSlide" Target="/ppt/notesSlides/notesSlide10.xml" Id="R12c8120866124a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71a66bf514fe0" /><Relationship Type="http://schemas.openxmlformats.org/officeDocument/2006/relationships/notesSlide" Target="/ppt/notesSlides/notesSlide11.xml" Id="R8040181e5e2a4d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3377c61584915" /><Relationship Type="http://schemas.openxmlformats.org/officeDocument/2006/relationships/notesSlide" Target="/ppt/notesSlides/notesSlide12.xml" Id="Rf369b1e9bf69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8403F-4E58-4A90-A5CD-909F44C1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ProofPatch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1881D-40FE-4851-B39B-0F75D9CE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221FE-B3E9-441F-B433-BFEEF40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F106-59F8-49CF-93A1-0DEA127D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6A872-AA0F-41C5-B4AF-F15B2574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00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Ship the fix.</a:t>
            </a:r>
          </a:p>
          <a:p xmlns:a="http://schemas.openxmlformats.org/drawingml/2006/main">
            <a:pPr>
              <a:defRPr sz="55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Keep the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5FB73-2997-4B7D-A33E-6DE3FA80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Three agents. One reviewable security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BCE0E-2CF2-4305-8286-2912CB5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EBF78-EC00-4995-A4EA-EDA924EA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9582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For small SaaS teams protecting customer data</a:t>
            </a:r>
          </a:p>
          <a:p xmlns:a="http://schemas.openxmlformats.org/drawingml/2006/main">
            <a:pPr>
              <a:defRPr sz="19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without a dedicated AppSec engineer.</a:t>
            </a:r>
          </a:p>
        </p:txBody>
      </p:sp>
    </p:spTree>
    <p:extLst>
      <p:ext uri="{BB962C8B-B14F-4D97-AF65-F5344CB8AC3E}">
        <p14:creationId xmlns:p14="http://schemas.microsoft.com/office/powerpoint/2010/main" val="1383288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DD3DB-8584-4B88-857E-45ED40B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The gap between finding and fixing matters.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148FD-DB22-427F-B911-5443B8E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48ACF-1B7B-4B12-8A8B-E69222D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370A-2CE6-47F8-B2ED-BB9AAF19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D47BB-91C7-4ADC-B491-C94CB6E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975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63686-54E4-4E75-BEEF-2B53E8CF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95675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of breaches began with</a:t>
            </a:r>
          </a:p>
          <a:p xmlns:a="http://schemas.openxmlformats.org/drawingml/2006/main">
            <a:pPr>
              <a:defRPr sz="22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vulnerability exploitation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1EFB-91A5-4D89-BCDB-888F9CA2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Verizon 2026 DBIR</a:t>
            </a:r>
          </a:p>
          <a:p xmlns:a="http://schemas.openxmlformats.org/drawingml/2006/main">
            <a:pPr>
              <a:defRPr sz="15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Based on 2025 incident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97A64-67FD-4ED7-A0BF-C52DC0E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383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D07E1-86A1-405E-BE30-AACDCD7E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887C4-B17A-4FC6-8A7E-D719B32F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669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Find the relevant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F0600-0CAC-4FA1-8468-A98AC91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D19AF-63A3-4F95-AA77-3BEECA73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7E5AF-6F85-4365-BDAB-C6E79B5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Reproduce it in our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5807D-917C-46F2-BCB0-0B7634C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385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A6D48-7D02-4C47-A2A0-944594EF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1F61A-E91F-4572-8A46-AACFE2C4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Patch without breaking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4DB2B-E266-412E-A6F4-12DEBAF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2F5E1-C84D-4D81-BF3B-E23852E5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672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1B2AD-81EF-47ED-BC18-0782A74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Give the reviewer usable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B7903-4554-4C28-A926-1A39084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96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E2A7D-C4CE-4140-B40E-B994E20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Source: Verizon 2026 DBIR announcement. Industry context does not establish demand for ProofPatch.</a:t>
            </a:r>
          </a:p>
        </p:txBody>
      </p:sp>
    </p:spTree>
    <p:extLst>
      <p:ext uri="{BB962C8B-B14F-4D97-AF65-F5344CB8AC3E}">
        <p14:creationId xmlns:p14="http://schemas.microsoft.com/office/powerpoint/2010/main" val="1966106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61BE4-5F5F-4747-BAEE-F1BF364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Start with a specific developer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986E2-7F49-4BD4-8C99-D287590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5DE77-49EA-4AD3-B0A2-F0C4F431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7004B-77F8-4ED5-B9C2-DF8A4E9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B540-E273-4594-9BE8-1C46FA23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381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D2E21-41A9-4D8B-A88D-1CABA20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Initial customer hypothesis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A330C-5606-4912-BD6A-825A8A81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3857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5–30 developers</a:t>
            </a:r>
          </a:p>
          <a:p xmlns:a="http://schemas.openxmlformats.org/drawingml/2006/main">
            <a: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TypeScript / Node SaaS</a:t>
            </a:r>
          </a:p>
          <a:p xmlns:a="http://schemas.openxmlformats.org/drawingml/2006/main">
            <a:pPr>
              <a:defRPr sz="23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Tenant-scoped customer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1E76F-ED5B-4367-B2FC-83CB105F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CTO buys. Developer uses.</a:t>
            </a:r>
          </a:p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No dedicated AppSec engineer.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0F6A1-C28E-42FD-BC8D-AB0A00F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600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“Can I merge this fix</a:t>
            </a:r>
          </a:p>
          <a:p xmlns:a="http://schemas.openxmlformats.org/drawingml/2006/main">
            <a:pPr>
              <a:defRPr sz="27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without breaking a customer?”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8331E-7A76-4AB0-9079-3CB3CB13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76650"/>
            <a:ext cx="581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Alert context is incomplete.</a:t>
            </a:r>
          </a:p>
          <a:p xmlns:a="http://schemas.openxmlformats.org/drawingml/2006/main">
            <a: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Reproduction needs real application setup.</a:t>
            </a:r>
          </a:p>
          <a:p xmlns:a="http://schemas.openxmlformats.org/drawingml/2006/main">
            <a:pPr>
              <a:defRPr sz="18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Review evidence is scattered.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01446-7C9C-4221-A6DA-2C7D860A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Validation needed: observe five real workflows and identify the largest source of active developer effort.</a:t>
            </a:r>
          </a:p>
        </p:txBody>
      </p:sp>
    </p:spTree>
    <p:extLst>
      <p:ext uri="{BB962C8B-B14F-4D97-AF65-F5344CB8AC3E}">
        <p14:creationId xmlns:p14="http://schemas.microsoft.com/office/powerpoint/2010/main" val="1995164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41B0F-2D07-435E-9E39-2ECD94F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Three roles. A gate no agent can override.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470D6-3608-4C0C-A734-121367AD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AAE63-1355-46DC-AF88-ADC1ADE6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FEE64-EA80-433B-97CE-86B73E7F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5BC73-4A44-484D-86A6-4776F4F4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3F4F0-C144-4E15-B506-519C86CA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97322-B07E-4624-8A55-221179B0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Map dependencies and code signals. Prioritize with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9C5A7-7354-4BBA-94EC-A01CD8A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60243-5791-4F1D-B370-55D7CFD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Challenger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B5EE-9BE2-40E0-AA74-C2231C2B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Reproduce the failure. Freeze the security test and benign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B66BD-9A29-4A72-AF02-0C0287EA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CD060-31B9-4C4B-BA77-12F52E68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28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Fixer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D6771-111A-4426-8997-6F9CEBD4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Propose a scoped patch. Explain compatibility and tradeoffs.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16E3B-4E9E-4CC0-A349-DF658547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A993A-3414-48F4-9D0E-72E66AF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148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REPLAY + POLICY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6311C-0382-4714-AD16-0C850D3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Baseline fails. Candidate passes. Normal behavior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E7A23-CD06-45ED-84A2-CCCBA10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Matching test and commit identities. Human review owns the merge.</a:t>
            </a:r>
          </a:p>
        </p:txBody>
      </p:sp>
    </p:spTree>
    <p:extLst>
      <p:ext uri="{BB962C8B-B14F-4D97-AF65-F5344CB8AC3E}">
        <p14:creationId xmlns:p14="http://schemas.microsoft.com/office/powerpoint/2010/main" val="1560316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4BB8B-BDF4-4ABF-BEA5-872C9F6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One failure a judge can understand.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47144-E747-410D-B7BF-AED1F6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E3F5-6FD7-46AF-8D39-CD11926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657A1-FA32-459E-B868-7CD32C76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A2E02-1B5F-4404-BCD2-E44BBBFB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Tenant B requests Tenant A’s invoice.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B708-BD6E-4F65-883E-3DA66C33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BB7D6-1C87-4FF4-894F-42A52CF1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3810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BC293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2937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2FBB7-4DAC-4E32-9BCF-1E7C215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24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Unauthorized data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FD2FD-3A8B-47B9-A619-7C5E94F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After proposed 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65640-DBD8-4513-BFEF-12AB099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7525"/>
            <a:ext cx="3810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4794E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38003-1D84-49AB-9C54-7818815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Access denied; owner still gets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8E8C4-6C38-4D02-A140-77F7C68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F74F6-7599-424C-8E14-6029EB1F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If legitimate access breaks, the patch is blocked. All outcomes here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113134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D5E1B-8E42-43EF-9B8D-13DAE1D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The competition already fixes and verifies.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A5B41-44DE-4888-A507-E64E065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CB5F4-F1DF-452E-A2FA-690C5743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616C4-E8E9-4680-B7E1-73B6D44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39BD9-54AD-45EA-84D6-D44B81275C4F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429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Documented capability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Dependabot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Dependency security-update pull requests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GitHub Agentic Autofix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Code fixes, CodeQL rerun, draft PR for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Snyk Agent Fix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Agentic remediation for Snyk Code findings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Aikido Infinite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A36"/>
                          </a:solidFill>
                          <a:latin typeface="Arial"/>
                          <a:ea typeface="Arial"/>
                          <a:cs typeface="Arial"/>
                        </a:rPr>
                        <a:t>Continuous testing, AutoFix and retesting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8557C-55E7-45E3-B48D-6ED90FBD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Our proposed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94DBD-A6AC-4310-9D63-FA448A0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Portable tenant-boundary regression packs, customer-owned execution,</a:t>
            </a:r>
          </a:p>
          <a:p xmlns:a="http://schemas.openxmlformats.org/drawingml/2006/main">
            <a:pPr>
              <a:defRPr sz="1875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and bounded onboarding for small teams.</a:t>
            </a:r>
          </a:p>
        </p:txBody>
      </p:sp>
    </p:spTree>
    <p:extLst>
      <p:ext uri="{BB962C8B-B14F-4D97-AF65-F5344CB8AC3E}">
        <p14:creationId xmlns:p14="http://schemas.microsoft.com/office/powerpoint/2010/main" val="254505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27E09-890A-4B7F-B2FF-D091290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A pilot offer with measurable economics.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69A3F-FC3D-4E34-949C-E32F93F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C877F-0118-4097-8ECB-E24C8BB2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672C8-8C36-4968-B2AF-FD7BC18E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EDEF0-C583-4648-8A60-A53217A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₹4,999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8F5B6-2781-4A78-98ED-C520945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per workspace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D7B73-18D3-46CD-8204-005AF18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3 repositories</a:t>
            </a:r>
          </a:p>
          <a:p xmlns:a="http://schemas.openxmlformats.org/drawingml/2006/main">
            <a: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30 bounded validation runs</a:t>
            </a:r>
          </a:p>
          <a:p xmlns:a="http://schemas.openxmlformats.org/drawingml/2006/main">
            <a:pPr>
              <a:defRPr sz="19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CTO or engineering lead buys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D46F8-2D79-494E-BCC6-2EC533A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57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Illustrative monthly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F1512-BF76-49C4-97E3-37F7F42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Model + compute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CCFFF-133C-4002-A57C-D94F8AC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146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₹750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3C0D6-BC95-40F9-B369-5D345A2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23D54-E9BF-4090-9B94-908EB579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BD180-BA76-472B-B956-AD721D0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₹500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9B2F9-0DFA-4116-AAFF-AF12E4F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50DDC-E1CA-4B67-9435-CDA39F8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Total variable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6F3F8-CEA0-4F4A-8649-16087C9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957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₹1,250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28928-018E-49C5-B8A5-8CEDA02B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F5D39-4B69-49CD-9B00-CD55D95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FC969-0045-408D-97DC-3C3747B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862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794E"/>
                </a:solidFill>
                <a:latin typeface="Arial"/>
                <a:ea typeface="Arial"/>
                <a:cs typeface="Arial"/>
              </a:rPr>
              <a:t>₹3,749 / 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6DAD6-94E8-41FE-A2E4-DC8CF53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27C8C-5912-42CA-AB49-FD89947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Hypotheses, not results. At ₹100/run, contribution falls to 30%. Excludes support, salaries, tax and sales.</a:t>
            </a:r>
          </a:p>
        </p:txBody>
      </p:sp>
    </p:spTree>
    <p:extLst>
      <p:ext uri="{BB962C8B-B14F-4D97-AF65-F5344CB8AC3E}">
        <p14:creationId xmlns:p14="http://schemas.microsoft.com/office/powerpoint/2010/main" val="1605491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B6FD7-7884-4F10-9689-52E2318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Earn three pilots before building a platform.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87CF5-4D30-4D4B-B36C-4C55C275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63469-DF2C-4AD1-B05A-04FA667A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CABBC-56CE-4675-BB2C-402AF3D9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7AFC1-88E6-4A42-9CF0-F74F452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06AC1-CF40-4217-A946-3F901AFA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interviews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CDFBE-97D2-456E-8516-1B374EB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Understand recent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880FF-F07C-467A-92F6-ED4183E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669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B1F9E-D1AF-4EAE-8862-E066945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956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54B2A-D3E5-41F5-9486-A38691C2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052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Watch real alert 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5AE4D-1921-467A-BF1F-F225C3F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9C07F-E201-4BE5-A786-F258855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scoped pilots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3ECC8-6888-4DEB-804D-98D0C889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Use owned staging fixtures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23980-F160-499B-821C-D652909C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669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01FFA-8985-423C-B2A6-24A5513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paid commitments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91DDD-1FA5-4FC4-A75C-2FCA4A43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Test willingness to pay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D96A5-35A7-43BC-9A97-E29EF70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BB8DC-6318-4FA0-AC21-D385874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054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Distribution hypothesis: incubators, SaaS communities, then a reproducible GitHub demo.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DE1CF-D6D9-45C7-94F9-5944733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Two-week validation targets. No interviews, pilots, paid commitments or partnerships are claimed today.</a:t>
            </a:r>
          </a:p>
        </p:txBody>
      </p:sp>
    </p:spTree>
    <p:extLst>
      <p:ext uri="{BB962C8B-B14F-4D97-AF65-F5344CB8AC3E}">
        <p14:creationId xmlns:p14="http://schemas.microsoft.com/office/powerpoint/2010/main" val="1063589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0AC11-E7E4-4A49-BA05-0EB3F72D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Measure value. Keep the business claims honest.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9EBB0-5244-44AD-835C-C9A53652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D49AC-5895-43BF-B540-EB584705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74773-46EB-424C-B2ED-9D929F4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BFD5-CC61-429E-ACCC-93B62AB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Outcome to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19A08-E84E-4CB8-8718-19B261E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30% less active remediation time on matched pilot tasks. A target, not an achieved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E8A66-39F3-4C2F-BE97-9DA4969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Trust to 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6CA74-15E2-4224-B748-A47CA71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479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No bad-patch promotion on the controlled benchmark. Publish failures and coverage limits.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0EDD6-1993-43C3-8496-1B3A299F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E1285-0EDF-4AC2-B256-C7E01D1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₹59.988 lakh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820A6-2BEF-46DE-ADFF-1663330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05325"/>
            <a:ext cx="509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100 paying workspaces × ₹4,999 ×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F886E-A8FB-4E29-84A0-7F8C96B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Illustrative annual revenue scenario.</a:t>
            </a:r>
          </a:p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Not market size, traction or a forecast.</a:t>
            </a:r>
          </a:p>
        </p:txBody>
      </p:sp>
    </p:spTree>
    <p:extLst>
      <p:ext uri="{BB962C8B-B14F-4D97-AF65-F5344CB8AC3E}">
        <p14:creationId xmlns:p14="http://schemas.microsoft.com/office/powerpoint/2010/main" val="2137050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E740-40B8-42C0-B584-EE35DBC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Checkpoint 1: show the workflow, state the limits.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21A81-6F72-4CAE-9327-8C766029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75C9-2128-4F30-8133-C33D3FD2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06D7A-48E0-4D26-AE4B-AF05CA6F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1DA7A-012C-411B-80F9-AD052154CB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471a615c245e9"/>
          <a:stretch xmlns:a="http://schemas.openxmlformats.org/drawingml/2006/main"/>
        </p:blipFill>
        <p:spPr>
          <a:xfrm xmlns:a="http://schemas.openxmlformats.org/drawingml/2006/main">
            <a:off x="1109663" y="1724025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5AC44-CF46-401B-93F8-228D315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383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79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94E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B505F-17C6-42F5-B087-4BD220E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Interactive prototype</a:t>
            </a:r>
          </a:p>
          <a:p xmlns:a="http://schemas.openxmlformats.org/drawingml/2006/main">
            <a: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Local workflow + failure gate</a:t>
            </a:r>
          </a:p>
          <a:p xmlns:a="http://schemas.openxmlformats.org/drawingml/2006/main">
            <a:pPr>
              <a:defRPr sz="1650" b="0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A36"/>
                </a:solidFill>
                <a:latin typeface="Arial"/>
                <a:ea typeface="Arial"/>
                <a:cs typeface="Arial"/>
              </a:rPr>
              <a:t>Synthetic evidence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93D6C-7B95-4858-A20B-0F5FE7E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Next: working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CA87-F8CB-4DED-B3B9-92B7336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Real scanner + isolated fixture</a:t>
            </a:r>
          </a:p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Before/after test execution</a:t>
            </a:r>
          </a:p>
          <a:p xmlns:a="http://schemas.openxmlformats.org/drawingml/2006/main">
            <a:pPr>
              <a:defRPr sz="16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Draft PR with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A7A01-7209-4FCC-9F85-9D6D481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Four-member team. Provisional 48-hour MVP plan. Ask: three design partners and feedback on trust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536763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D1C40-0072-4B85-A21C-691C945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Architecture: evidence crosses every boundary.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B00D-F5EB-48DE-84D0-33108EA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0B5C-9220-4729-A3D0-DD4AC99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DA36A-1EFC-49A6-B73B-B55E79CD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BA372-F984-430A-B058-810996B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241AC-7D45-4F64-BB29-430EB39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Reviewer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56B1D-B8AF-4429-B920-7EA0F47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06992-EB87-4892-A122-C6C218C7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3E6DC-9E54-40E5-B276-C76E5E9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64A39-6C2C-4B36-94A1-B5A73607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Hono + bounded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48E99-8DAD-4083-A17A-08FCB0A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62125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54B43-F48F-41B6-8E1A-98B12D2E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33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86CC5-031D-4A8A-8D31-8C22BA8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52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Customer-owned 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E6318-A290-414E-B9F7-958E94E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DAEA2-7C98-4CD4-8ADE-B17C4DD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BCB4B-1A96-4A91-AC42-8FEBBAE8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Advisory / code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3766A-B204-4AB0-B44E-602949DA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A6428-F03B-4B6D-B264-EC8D513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337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Challenger + Fixer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5D7F9-5AE0-4E7C-B7D0-2B95B579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52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Baseline / patch /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27847-12AD-494A-80A0-41F18C4C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62325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C0E4C-5F76-465D-B31D-9C70919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337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Evidence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7D6AD-96F3-4395-82F4-B921EC58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52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Deterministic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9FD16-E668-4B1F-A628-CEA4DF1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97184-267E-4838-88A0-EB14BAB2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3B639-4FCE-4218-A654-5DD11171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BD473-836F-4E8A-94E7-975C0B0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098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A71AC-14D9-49AD-95E3-BB13D521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1957E9-B6D9-4983-9EF1-7B847228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9B068F-B61F-49AB-9AF0-5BD6FCA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B5FB0-6C7E-4BA5-A529-E5844AF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100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64D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15BFC6-6A10-49B9-B6D2-9AE99D8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Postgres records + scrubbed artifact store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675BD-6783-4D70-8B4E-8335F1A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Pinned commits and frozen tests. Scoped tokens. Allowlisted staging.</a:t>
            </a:r>
          </a:p>
          <a:p xmlns:a="http://schemas.openxmlformats.org/drawingml/2006/main">
            <a:pPr>
              <a:defRPr sz="172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Run budgets. Human review. No autonomous production merge.</a:t>
            </a:r>
          </a:p>
        </p:txBody>
      </p:sp>
    </p:spTree>
    <p:extLst>
      <p:ext uri="{BB962C8B-B14F-4D97-AF65-F5344CB8AC3E}">
        <p14:creationId xmlns:p14="http://schemas.microsoft.com/office/powerpoint/2010/main" val="210513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4E01B-35E2-4E89-B1B1-A633584C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Sources and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A8B92-AC43-407E-8B62-549B0965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8AEB5-5E6C-4F03-9C86-3C28198E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ProofPatch / Checkpoint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58CB3-F590-4CAB-B643-6127AD0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64D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DF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59844-EC3D-4586-AF0D-498C850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Verizon 2026 DBIR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A2977-3A01-4BF4-A6F8-F3D6114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Industry breach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46F2-88B6-4A47-9B59-0E4F0829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8A04D-946E-4B24-8074-D6212A1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GitHub Dependabot + Agentic Autofix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87703-4FD3-41E8-A17A-F1567886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05075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Security-update PRs and code remediation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073FD-B8FA-4841-AA07-05AC6C1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70ADB-6A32-42B2-A593-90D564E0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Snyk Agent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DDAF7-B07C-4022-92FD-DFFCF26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Agentic remediation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A8EA7-6AA1-4D07-9DC9-9B9DFF0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94BEE-0E84-4A66-B548-E0B339DF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Aikido Infinite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C49BE-A1AC-440D-ABE6-0CD2D21D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95725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Continuous testing, fixes and retesting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53A68-6BF6-48B2-ABC8-59F308B4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C595D-0D9A-429D-8362-8F38B68C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A36"/>
                </a:solidFill>
                <a:latin typeface="Arial"/>
                <a:ea typeface="Arial"/>
                <a:cs typeface="Arial"/>
              </a:rPr>
              <a:t>OSV-Scanner + ZAP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DC072-01E9-4A1A-8B1E-87E1191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Tool options and passive-scan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6D543-83D7-442A-AA2F-EDBAAD8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C6BA8-7E62-45F4-8455-82DCA165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67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782"/>
                </a:solidFill>
                <a:latin typeface="Arial"/>
                <a:ea typeface="Arial"/>
                <a:cs typeface="Arial"/>
              </a:rPr>
              <a:t>Checked 24 Oct 2026. Full URLs in speaker notes and PRD. Prototype results, pricing and pilot targets are not production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4189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2026-10-24T09:53:02.9630000Z</dcterms:created>
  <dcterms:modified xsi:type="dcterms:W3CDTF">2026-10-24T09:53:02.9630000Z</dcterms:modified>
</coreProperties>
</file>