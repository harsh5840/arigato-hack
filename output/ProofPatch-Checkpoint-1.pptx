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charts/chart1.xml" ContentType="application/vnd.openxmlformats-officedocument.drawingml.chart+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Breach entry</c:v>
                </c:pt>
              </c:strCache>
            </c:strRef>
          </c:tx>
          <c:spPr>
            <a:solidFill>
              <a:schemeClr val="accent1"/>
            </a:solidFill>
            <a:ln w="9525" cap="flat">
              <a:solidFill>
                <a:srgbClr val="F9F9F9"/>
              </a:solidFill>
              <a:prstDash val="solid"/>
              <a:round/>
            </a:ln>
            <a:effectLst/>
          </c:spPr>
          <c:dPt>
            <c:idx val="0"/>
            <c:bubble3D val="0"/>
            <c:spPr>
              <a:solidFill>
                <a:srgbClr val="6D8B46"/>
              </a:solidFill>
              <a:effectLst/>
            </c:spPr>
          </c:dPt>
          <c:dPt>
            <c:idx val="1"/>
            <c:bubble3D val="0"/>
            <c:spPr>
              <a:solidFill>
                <a:srgbClr val="D9DFD1"/>
              </a:solidFill>
              <a:effectLst/>
            </c:spPr>
          </c:dPt>
          <c:dLbls>
            <c:dLbl>
              <c:idx val="0"/>
              <c:numFmt formatCode="General" sourceLinked="0"/>
              <c:spPr/>
              <c:txPr>
                <a:bodyPr/>
                <a:lstStyle/>
                <a:p>
                  <a:pPr>
                    <a:defRPr sz="1200" b="0" i="0" u="none" strike="noStrike">
                      <a:solidFill>
                        <a:srgbClr val="20271A"/>
                      </a:solidFill>
                      <a:latin typeface="Calibri"/>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20271A"/>
                      </a:solidFill>
                      <a:latin typeface="Calibri"/>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Calibri"/>
                  </a:defRPr>
                </a:pPr>
              </a:p>
            </c:txPr>
            <c:showLegendKey val="0"/>
            <c:showVal val="0"/>
            <c:showCatName val="1"/>
            <c:showSerName val="0"/>
            <c:showPercent val="1"/>
            <c:showBubbleSize val="0"/>
            <c:showLeaderLines val="0"/>
          </c:dLbls>
          <c:cat>
            <c:strRef>
              <c:f>Sheet1!$A$2:$A$3</c:f>
              <c:strCache>
                <c:ptCount val="2"/>
                <c:pt idx="0">
                  <c:v>Vulnerability exploitation</c:v>
                </c:pt>
                <c:pt idx="1">
                  <c:v>Other entry</c:v>
                </c:pt>
              </c:strCache>
            </c:strRef>
          </c:cat>
          <c:val>
            <c:numRef>
              <c:f>Sheet1!$B$2:$B$3</c:f>
              <c:numCache>
                <c:ptCount val="2"/>
                <c:pt idx="0">
                  <c:v>31</c:v>
                </c:pt>
                <c:pt idx="1">
                  <c:v>69</c:v>
                </c:pt>
              </c:numCache>
            </c:numRef>
          </c:val>
        </c:ser>
        <c:firstSliceAng val="0"/>
        <c:holeSize val="7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seconds. ProofPatch helps a reviewer check a proposed security fix. Our four-person team is testing this concept for small TypeScript SaaS teams. Today’s prototype uses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An alert starts a sequence of triage, reproduction, repair and review. We hypothesize that realistic reproduction and trustworthy review evidence consume valuable developer time. Verizon reports 31% of breaches started with vulnerability exploitation in the 2026 DBIR, based on 2025 incident data. That is industry context, not proof of demand in our target segment.
Sources:
https://www.verizon.com/about/news/breach-industry-wide-dbir-finds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Our initial customer hypothesis is a SaaS team of 5–30 developers without dedicated AppSec staff. The CTO buys and a developer uses the product. In this synthetic invoice fixture, Tenant B receives Tenant A’s invoice. The reviewer must establish the tenant boundary without breaking the legitimate owner’s access. We have not conducted customer interviews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Supply Chain matches inventory to upstream advisories and compromise signals. Remediation proposes supported updates and scoped repairs. Development Security monitors local changes, records the baseline before candidate writes, freezes checks and verifies repairs. The controller routes jobs; a deterministic gate enforces checks and outstanding incident/configuration review. Remediation cannot edit frozen tests. A human owns the merge. PHP runtime and compromised Composer releases require different responses. Sources: https://www.php.net/archive/2026.php and https://github.com/intercom/intercom-php/security/advisories/GHSA-gr3r-crp5-qrrm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The cross-tenant request changes from 200 to 404, while the owner still receives 200. Security replay passing is insufficient if benign behavior fails. In the demo, choose Regression fails to hold the interlock, then retry with all checks passing. These results are simulated; this is a bounded regression workflow, not comprehensive pentesting.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Existing vendors already cover automated fixes and verification. The listed capabilities are vendor-documented claims, not independent benchmarks. Our proposed focus is portable tenant-boundary regression packs, customer-owned execution and low-friction onboarding for small teams. We must compare that proposition with existing tools before claiming an advantage.
Sources:
https://docs.github.com/en/code-security/concepts/supply-chain-security/dependabot-security-updates
https://github.blog/changelog/2026-10-15-agentic-autofix-for-code-scanning-alerts-general-availability/
https://docs.snyk.io/scan-fix-and-prevent/scan-with-snyk/snyk-code/manage-code-vulnerabilities/fix-code-vulnerabilities-automatically
https://www.aikido.dev/blog/introducing-aikido-infinite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Pricing hypothesis: ₹4,999 per workspace per month, including three repositories and 30 bounded runs. At an assumed ₹25 per run plus ₹500 infrastructure, monthly variable cost is ₹1,250 and contribution is approximately 75%. At ₹100 per run, cost rises to ₹3,500 and contribution falls to 30%. These assumptions exclude support, salaries, tax, payment fees and sales. Willingness to pay and actual costs are unmeasured.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Before expanding, target ten interviews, five observed remediation workflows, three scoped pilots and two paid commitments. Start with incubators and SaaS communities, then publish a reproducible demo. These are proposed validation targets, not achieved traction or existing partnerships.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Target 30% less active developer remediation time on matched pilot tasks compared with the current workflow. Track invalid patch promotion, review usefulness, onboarding and compute costs including retries. No savings have been demonstrated. A revenue scenario of 100 workspaces at ₹4,999 for 12 months equals ₹59.988 lakh; this is not market size, traction or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including a short demo. Show Run demo, the patch, evidence and the failed-regression gate. The Next.js frontend, Anatomy interlock, Bklit gauge, local draft preview and JSON export are implemented with synthetic data. Real scanners, agent execution, isolated tests and GitHub integration are next. Four members own frontend, scan ingestion, testing/fixing, and orchestration/research respectively. The 48-hour window is provisional. Ask for three design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Proposed architecture: Next.js reviewer UI; Hono orchestration and a bounded queue; customer-owned isolated runner; Postgres records and scrubbed evidence artifacts. Pin commits and test identity, scope tokens, enforce budgets and require human merge review. Only the frontend is implemented today. OSV supplies dependency intelligence. ZAP baseline is passive scanning, not a pentest.
Sources:
https://google.github.io/osv-scanner/
https://www.zaproxy.org/docs/docker/baseline-scan/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Sources were checked on 24 October 2026. Vendor capabilities have not been independently benchmarked. The prototype is synthetic. Pricing, demand, differentiation, adoption and savings remain hypotheses. Full links follow.
Sources:
https://www.verizon.com/about/news/breach-industry-wide-dbir-finds
https://github.blog/changelog/2026-10-15-agentic-autofix-for-code-scanning-alerts-general-availability/
https://docs.github.com/en/code-security/concepts/supply-chain-security/dependabot-security-updates
https://docs.snyk.io/scan-fix-and-prevent/scan-with-snyk/snyk-code/manage-code-vulnerabilities/fix-code-vulnerabilities-automatically
https://www.aikido.dev/blog/introducing-aikido-infinite
https://google.github.io/osv-scanner/
https://www.zaproxy.org/docs/docker/baseline-scan/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01</a:t>
            </a:r>
            <a:endParaRPr lang="en-US" sz="1100" dirty="0"/>
          </a:p>
        </p:txBody>
      </p:sp>
      <p:sp>
        <p:nvSpPr>
          <p:cNvPr id="5" name="Text 2"/>
          <p:cNvSpPr/>
          <p:nvPr/>
        </p:nvSpPr>
        <p:spPr>
          <a:xfrm>
            <a:off x="594360" y="1517904"/>
            <a:ext cx="5577840" cy="2148840"/>
          </a:xfrm>
          <a:prstGeom prst="rect">
            <a:avLst/>
          </a:prstGeom>
          <a:noFill/>
          <a:ln/>
        </p:spPr>
        <p:txBody>
          <a:bodyPr wrap="square" lIns="0" tIns="0" rIns="0" bIns="0" rtlCol="0" anchor="t"/>
          <a:lstStyle/>
          <a:p>
            <a:pPr indent="0" marL="0">
              <a:buNone/>
            </a:pPr>
            <a:r>
              <a:rPr lang="en-US" sz="5900" b="1" dirty="0">
                <a:solidFill>
                  <a:srgbClr val="F1F1EB"/>
                </a:solidFill>
                <a:latin typeface="Calibri" pitchFamily="34" charset="0"/>
                <a:ea typeface="Calibri" pitchFamily="34" charset="-122"/>
                <a:cs typeface="Calibri" pitchFamily="34" charset="-120"/>
              </a:rPr>
              <a:t>The fix.</a:t>
            </a:r>
            <a:endParaRPr lang="en-US" sz="5900" dirty="0"/>
          </a:p>
          <a:p>
            <a:pPr indent="0" marL="0">
              <a:buNone/>
            </a:pPr>
            <a:r>
              <a:rPr lang="en-US" sz="5900" b="1" dirty="0">
                <a:solidFill>
                  <a:srgbClr val="F1F1EB"/>
                </a:solidFill>
                <a:latin typeface="Calibri" pitchFamily="34" charset="0"/>
                <a:ea typeface="Calibri" pitchFamily="34" charset="-122"/>
                <a:cs typeface="Calibri" pitchFamily="34" charset="-120"/>
              </a:rPr>
              <a:t>And the proof.</a:t>
            </a:r>
            <a:endParaRPr lang="en-US" sz="5900" dirty="0"/>
          </a:p>
        </p:txBody>
      </p:sp>
      <p:sp>
        <p:nvSpPr>
          <p:cNvPr id="6" name="Text 3"/>
          <p:cNvSpPr/>
          <p:nvPr/>
        </p:nvSpPr>
        <p:spPr>
          <a:xfrm>
            <a:off x="640080" y="3977640"/>
            <a:ext cx="5212080" cy="822960"/>
          </a:xfrm>
          <a:prstGeom prst="rect">
            <a:avLst/>
          </a:prstGeom>
          <a:noFill/>
          <a:ln/>
        </p:spPr>
        <p:txBody>
          <a:bodyPr wrap="square" lIns="0" tIns="0" rIns="0" bIns="0" rtlCol="0" anchor="t"/>
          <a:lstStyle/>
          <a:p>
            <a:pPr indent="0" marL="0">
              <a:buNone/>
            </a:pPr>
            <a:r>
              <a:rPr lang="en-US" sz="2200" dirty="0">
                <a:solidFill>
                  <a:srgbClr val="ABB2A2"/>
                </a:solidFill>
                <a:latin typeface="Calibri" pitchFamily="34" charset="0"/>
                <a:ea typeface="Calibri" pitchFamily="34" charset="-122"/>
                <a:cs typeface="Calibri" pitchFamily="34" charset="-120"/>
              </a:rPr>
              <a:t>Security remediation that a</a:t>
            </a:r>
            <a:endParaRPr lang="en-US" sz="2200" dirty="0"/>
          </a:p>
          <a:p>
            <a:pPr indent="0" marL="0">
              <a:buNone/>
            </a:pPr>
            <a:r>
              <a:rPr lang="en-US" sz="2200" dirty="0">
                <a:solidFill>
                  <a:srgbClr val="ABB2A2"/>
                </a:solidFill>
                <a:latin typeface="Calibri" pitchFamily="34" charset="0"/>
                <a:ea typeface="Calibri" pitchFamily="34" charset="-122"/>
                <a:cs typeface="Calibri" pitchFamily="34" charset="-120"/>
              </a:rPr>
              <a:t>reviewer can actually verify.</a:t>
            </a:r>
            <a:endParaRPr lang="en-US" sz="2200" dirty="0"/>
          </a:p>
        </p:txBody>
      </p:sp>
      <p:pic>
        <p:nvPicPr>
          <p:cNvPr id="7" name="Image 0" descr="D:/ProofPatch/design/verification-machine.png">    </p:cNvPr>
          <p:cNvPicPr>
            <a:picLocks noChangeAspect="1"/>
          </p:cNvPicPr>
          <p:nvPr/>
        </p:nvPicPr>
        <p:blipFill>
          <a:blip r:embed="rId1"/>
          <a:stretch>
            <a:fillRect/>
          </a:stretch>
        </p:blipFill>
        <p:spPr>
          <a:xfrm>
            <a:off x="5669280" y="1261872"/>
            <a:ext cx="6217920" cy="3730752"/>
          </a:xfrm>
          <a:prstGeom prst="rect">
            <a:avLst/>
          </a:prstGeom>
        </p:spPr>
      </p:pic>
      <p:sp>
        <p:nvSpPr>
          <p:cNvPr id="8" name="Text 4"/>
          <p:cNvSpPr/>
          <p:nvPr/>
        </p:nvSpPr>
        <p:spPr>
          <a:xfrm>
            <a:off x="640080" y="5577840"/>
            <a:ext cx="1600200" cy="365760"/>
          </a:xfrm>
          <a:prstGeom prst="rect">
            <a:avLst/>
          </a:prstGeom>
          <a:noFill/>
          <a:ln/>
        </p:spPr>
        <p:txBody>
          <a:bodyPr wrap="square" lIns="0" tIns="0" rIns="0" bIns="0" rtlCol="0" anchor="t"/>
          <a:lstStyle/>
          <a:p>
            <a:pPr indent="0" marL="0">
              <a:buNone/>
            </a:pPr>
            <a:r>
              <a:rPr lang="en-US" sz="1800" b="1" dirty="0">
                <a:solidFill>
                  <a:srgbClr val="C7EF79"/>
                </a:solidFill>
                <a:latin typeface="Calibri" pitchFamily="34" charset="0"/>
                <a:ea typeface="Calibri" pitchFamily="34" charset="-122"/>
                <a:cs typeface="Calibri" pitchFamily="34" charset="-120"/>
              </a:rPr>
              <a:t>Supply Chain</a:t>
            </a:r>
            <a:endParaRPr lang="en-US" sz="1800" dirty="0"/>
          </a:p>
        </p:txBody>
      </p:sp>
      <p:sp>
        <p:nvSpPr>
          <p:cNvPr id="9" name="Text 5"/>
          <p:cNvSpPr/>
          <p:nvPr/>
        </p:nvSpPr>
        <p:spPr>
          <a:xfrm>
            <a:off x="2697480" y="5577840"/>
            <a:ext cx="1691640" cy="365760"/>
          </a:xfrm>
          <a:prstGeom prst="rect">
            <a:avLst/>
          </a:prstGeom>
          <a:noFill/>
          <a:ln/>
        </p:spPr>
        <p:txBody>
          <a:bodyPr wrap="square" lIns="0" tIns="0" rIns="0" bIns="0" rtlCol="0" anchor="t"/>
          <a:lstStyle/>
          <a:p>
            <a:pPr indent="0" marL="0">
              <a:buNone/>
            </a:pPr>
            <a:r>
              <a:rPr lang="en-US" sz="1800" b="1" dirty="0">
                <a:solidFill>
                  <a:srgbClr val="C7EF79"/>
                </a:solidFill>
                <a:latin typeface="Calibri" pitchFamily="34" charset="0"/>
                <a:ea typeface="Calibri" pitchFamily="34" charset="-122"/>
                <a:cs typeface="Calibri" pitchFamily="34" charset="-120"/>
              </a:rPr>
              <a:t>Remediation</a:t>
            </a:r>
            <a:endParaRPr lang="en-US" sz="1800" dirty="0"/>
          </a:p>
        </p:txBody>
      </p:sp>
      <p:sp>
        <p:nvSpPr>
          <p:cNvPr id="10" name="Text 6"/>
          <p:cNvSpPr/>
          <p:nvPr/>
        </p:nvSpPr>
        <p:spPr>
          <a:xfrm>
            <a:off x="4846320" y="5577840"/>
            <a:ext cx="1005840" cy="365760"/>
          </a:xfrm>
          <a:prstGeom prst="rect">
            <a:avLst/>
          </a:prstGeom>
          <a:noFill/>
          <a:ln/>
        </p:spPr>
        <p:txBody>
          <a:bodyPr wrap="square" lIns="0" tIns="0" rIns="0" bIns="0" rtlCol="0" anchor="t"/>
          <a:lstStyle/>
          <a:p>
            <a:pPr indent="0" marL="0">
              <a:buNone/>
            </a:pPr>
            <a:r>
              <a:rPr lang="en-US" sz="1800" b="1" dirty="0">
                <a:solidFill>
                  <a:srgbClr val="C7EF79"/>
                </a:solidFill>
                <a:latin typeface="Calibri" pitchFamily="34" charset="0"/>
                <a:ea typeface="Calibri" pitchFamily="34" charset="-122"/>
                <a:cs typeface="Calibri" pitchFamily="34" charset="-120"/>
              </a:rPr>
              <a:t>DevSec</a:t>
            </a:r>
            <a:endParaRPr lang="en-US" sz="1800" dirty="0"/>
          </a:p>
        </p:txBody>
      </p:sp>
      <p:sp>
        <p:nvSpPr>
          <p:cNvPr id="11" name="Shape 7"/>
          <p:cNvSpPr/>
          <p:nvPr/>
        </p:nvSpPr>
        <p:spPr>
          <a:xfrm>
            <a:off x="2313432" y="5724144"/>
            <a:ext cx="228600" cy="0"/>
          </a:xfrm>
          <a:prstGeom prst="line">
            <a:avLst/>
          </a:prstGeom>
          <a:noFill/>
          <a:ln w="12700">
            <a:solidFill>
              <a:srgbClr val="3D4633"/>
            </a:solidFill>
            <a:prstDash val="solid"/>
            <a:tailEnd type="triangle"/>
          </a:ln>
        </p:spPr>
      </p:sp>
      <p:sp>
        <p:nvSpPr>
          <p:cNvPr id="12" name="Shape 8"/>
          <p:cNvSpPr/>
          <p:nvPr/>
        </p:nvSpPr>
        <p:spPr>
          <a:xfrm>
            <a:off x="4453128" y="5724144"/>
            <a:ext cx="228600" cy="0"/>
          </a:xfrm>
          <a:prstGeom prst="line">
            <a:avLst/>
          </a:prstGeom>
          <a:noFill/>
          <a:ln w="12700">
            <a:solidFill>
              <a:srgbClr val="3D4633"/>
            </a:solidFill>
            <a:prstDash val="solid"/>
            <a:tailEnd type="triangle"/>
          </a:ln>
        </p:spPr>
      </p:sp>
      <p:sp>
        <p:nvSpPr>
          <p:cNvPr id="13" name="Text 9"/>
          <p:cNvSpPr/>
          <p:nvPr/>
        </p:nvSpPr>
        <p:spPr>
          <a:xfrm>
            <a:off x="7680960" y="5623560"/>
            <a:ext cx="3840480" cy="365760"/>
          </a:xfrm>
          <a:prstGeom prst="rect">
            <a:avLst/>
          </a:prstGeom>
          <a:noFill/>
          <a:ln/>
        </p:spPr>
        <p:txBody>
          <a:bodyPr wrap="square" lIns="0" tIns="0" rIns="0" bIns="0" rtlCol="0" anchor="t"/>
          <a:lstStyle/>
          <a:p>
            <a:pPr algn="r" indent="0" marL="0">
              <a:buNone/>
            </a:pPr>
            <a:r>
              <a:rPr lang="en-US" sz="1400" dirty="0">
                <a:solidFill>
                  <a:srgbClr val="ABB2A2"/>
                </a:solidFill>
                <a:latin typeface="Calibri" pitchFamily="34" charset="0"/>
                <a:ea typeface="Calibri" pitchFamily="34" charset="-122"/>
                <a:cs typeface="Calibri" pitchFamily="34" charset="-120"/>
              </a:rPr>
              <a:t>Hackathon / Checkpoint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02</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An alert starts the work.</a:t>
            </a:r>
            <a:endParaRPr lang="en-US" sz="4000" dirty="0"/>
          </a:p>
        </p:txBody>
      </p:sp>
      <p:graphicFrame>
        <p:nvGraphicFramePr>
          <p:cNvPr id="6" name="Chart 0" descr=""/>
          <p:cNvGraphicFramePr/>
          <p:nvPr/>
        </p:nvGraphicFramePr>
        <p:xfrm>
          <a:off x="640080" y="2148840"/>
          <a:ext cx="3200400" cy="320040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1307592" y="3099816"/>
            <a:ext cx="1828800" cy="777240"/>
          </a:xfrm>
          <a:prstGeom prst="rect">
            <a:avLst/>
          </a:prstGeom>
          <a:noFill/>
          <a:ln/>
        </p:spPr>
        <p:txBody>
          <a:bodyPr wrap="square" lIns="0" tIns="0" rIns="0" bIns="0" rtlCol="0" anchor="t"/>
          <a:lstStyle/>
          <a:p>
            <a:pPr algn="ctr" indent="0" marL="0">
              <a:buNone/>
            </a:pPr>
            <a:r>
              <a:rPr lang="en-US" sz="5700" b="1" dirty="0">
                <a:solidFill>
                  <a:srgbClr val="20271A"/>
                </a:solidFill>
                <a:latin typeface="Calibri" pitchFamily="34" charset="0"/>
                <a:ea typeface="Calibri" pitchFamily="34" charset="-122"/>
                <a:cs typeface="Calibri" pitchFamily="34" charset="-120"/>
              </a:rPr>
              <a:t>31%</a:t>
            </a:r>
            <a:endParaRPr lang="en-US" sz="5700" dirty="0"/>
          </a:p>
        </p:txBody>
      </p:sp>
      <p:sp>
        <p:nvSpPr>
          <p:cNvPr id="8" name="Text 4"/>
          <p:cNvSpPr/>
          <p:nvPr/>
        </p:nvSpPr>
        <p:spPr>
          <a:xfrm>
            <a:off x="658368" y="5257800"/>
            <a:ext cx="3246120" cy="640080"/>
          </a:xfrm>
          <a:prstGeom prst="rect">
            <a:avLst/>
          </a:prstGeom>
          <a:noFill/>
          <a:ln/>
        </p:spPr>
        <p:txBody>
          <a:bodyPr wrap="square" lIns="0" tIns="0" rIns="0" bIns="0" rtlCol="0" anchor="t"/>
          <a:lstStyle/>
          <a:p>
            <a:pPr algn="ctr" indent="0" marL="0">
              <a:buNone/>
            </a:pPr>
            <a:r>
              <a:rPr lang="en-US" sz="1800" dirty="0">
                <a:solidFill>
                  <a:srgbClr val="20271A"/>
                </a:solidFill>
                <a:latin typeface="Calibri" pitchFamily="34" charset="0"/>
                <a:ea typeface="Calibri" pitchFamily="34" charset="-122"/>
                <a:cs typeface="Calibri" pitchFamily="34" charset="-120"/>
              </a:rPr>
              <a:t>of breaches began with</a:t>
            </a:r>
            <a:endParaRPr lang="en-US" sz="1800" dirty="0"/>
          </a:p>
          <a:p>
            <a:pPr algn="ctr" indent="0" marL="0">
              <a:buNone/>
            </a:pPr>
            <a:r>
              <a:rPr lang="en-US" sz="1800" dirty="0">
                <a:solidFill>
                  <a:srgbClr val="20271A"/>
                </a:solidFill>
                <a:latin typeface="Calibri" pitchFamily="34" charset="0"/>
                <a:ea typeface="Calibri" pitchFamily="34" charset="-122"/>
                <a:cs typeface="Calibri" pitchFamily="34" charset="-120"/>
              </a:rPr>
              <a:t>vulnerability exploitation</a:t>
            </a:r>
            <a:endParaRPr lang="en-US" sz="1800" dirty="0"/>
          </a:p>
        </p:txBody>
      </p:sp>
      <p:sp>
        <p:nvSpPr>
          <p:cNvPr id="9" name="Shape 5"/>
          <p:cNvSpPr/>
          <p:nvPr/>
        </p:nvSpPr>
        <p:spPr>
          <a:xfrm>
            <a:off x="4718304" y="2221992"/>
            <a:ext cx="320040" cy="320040"/>
          </a:xfrm>
          <a:prstGeom prst="ellipse">
            <a:avLst/>
          </a:prstGeom>
          <a:solidFill>
            <a:srgbClr val="6D8B46"/>
          </a:solidFill>
          <a:ln w="12700">
            <a:solidFill>
              <a:srgbClr val="6D8B46"/>
            </a:solidFill>
            <a:prstDash val="solid"/>
          </a:ln>
        </p:spPr>
      </p:sp>
      <p:sp>
        <p:nvSpPr>
          <p:cNvPr id="10" name="Shape 6"/>
          <p:cNvSpPr/>
          <p:nvPr/>
        </p:nvSpPr>
        <p:spPr>
          <a:xfrm>
            <a:off x="4878324" y="2542032"/>
            <a:ext cx="0" cy="512064"/>
          </a:xfrm>
          <a:prstGeom prst="line">
            <a:avLst/>
          </a:prstGeom>
          <a:noFill/>
          <a:ln w="19050">
            <a:solidFill>
              <a:srgbClr val="C0C8B5"/>
            </a:solidFill>
            <a:prstDash val="solid"/>
          </a:ln>
        </p:spPr>
      </p:sp>
      <p:sp>
        <p:nvSpPr>
          <p:cNvPr id="11" name="Text 7"/>
          <p:cNvSpPr/>
          <p:nvPr/>
        </p:nvSpPr>
        <p:spPr>
          <a:xfrm>
            <a:off x="5440680" y="2176272"/>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Triage</a:t>
            </a:r>
            <a:endParaRPr lang="en-US" sz="2300" dirty="0"/>
          </a:p>
        </p:txBody>
      </p:sp>
      <p:sp>
        <p:nvSpPr>
          <p:cNvPr id="12" name="Text 8"/>
          <p:cNvSpPr/>
          <p:nvPr/>
        </p:nvSpPr>
        <p:spPr>
          <a:xfrm>
            <a:off x="7498080" y="2212848"/>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Does this affect our app?</a:t>
            </a:r>
            <a:endParaRPr lang="en-US" sz="2000" dirty="0"/>
          </a:p>
        </p:txBody>
      </p:sp>
      <p:sp>
        <p:nvSpPr>
          <p:cNvPr id="13" name="Shape 9"/>
          <p:cNvSpPr/>
          <p:nvPr/>
        </p:nvSpPr>
        <p:spPr>
          <a:xfrm>
            <a:off x="4718304" y="3072384"/>
            <a:ext cx="320040" cy="320040"/>
          </a:xfrm>
          <a:prstGeom prst="ellipse">
            <a:avLst/>
          </a:prstGeom>
          <a:solidFill>
            <a:srgbClr val="D9DFD1"/>
          </a:solidFill>
          <a:ln w="12700">
            <a:solidFill>
              <a:srgbClr val="D9DFD1"/>
            </a:solidFill>
            <a:prstDash val="solid"/>
          </a:ln>
        </p:spPr>
      </p:sp>
      <p:sp>
        <p:nvSpPr>
          <p:cNvPr id="14" name="Shape 10"/>
          <p:cNvSpPr/>
          <p:nvPr/>
        </p:nvSpPr>
        <p:spPr>
          <a:xfrm>
            <a:off x="4878324" y="3392424"/>
            <a:ext cx="0" cy="512064"/>
          </a:xfrm>
          <a:prstGeom prst="line">
            <a:avLst/>
          </a:prstGeom>
          <a:noFill/>
          <a:ln w="19050">
            <a:solidFill>
              <a:srgbClr val="C0C8B5"/>
            </a:solidFill>
            <a:prstDash val="solid"/>
          </a:ln>
        </p:spPr>
      </p:sp>
      <p:sp>
        <p:nvSpPr>
          <p:cNvPr id="15" name="Text 11"/>
          <p:cNvSpPr/>
          <p:nvPr/>
        </p:nvSpPr>
        <p:spPr>
          <a:xfrm>
            <a:off x="5440680" y="3026664"/>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Reproduce</a:t>
            </a:r>
            <a:endParaRPr lang="en-US" sz="2300" dirty="0"/>
          </a:p>
        </p:txBody>
      </p:sp>
      <p:sp>
        <p:nvSpPr>
          <p:cNvPr id="16" name="Text 12"/>
          <p:cNvSpPr/>
          <p:nvPr/>
        </p:nvSpPr>
        <p:spPr>
          <a:xfrm>
            <a:off x="7498080" y="3063240"/>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Can we show the failure?</a:t>
            </a:r>
            <a:endParaRPr lang="en-US" sz="2000" dirty="0"/>
          </a:p>
        </p:txBody>
      </p:sp>
      <p:sp>
        <p:nvSpPr>
          <p:cNvPr id="17" name="Shape 13"/>
          <p:cNvSpPr/>
          <p:nvPr/>
        </p:nvSpPr>
        <p:spPr>
          <a:xfrm>
            <a:off x="4718304" y="3922776"/>
            <a:ext cx="320040" cy="320040"/>
          </a:xfrm>
          <a:prstGeom prst="ellipse">
            <a:avLst/>
          </a:prstGeom>
          <a:solidFill>
            <a:srgbClr val="D9DFD1"/>
          </a:solidFill>
          <a:ln w="12700">
            <a:solidFill>
              <a:srgbClr val="D9DFD1"/>
            </a:solidFill>
            <a:prstDash val="solid"/>
          </a:ln>
        </p:spPr>
      </p:sp>
      <p:sp>
        <p:nvSpPr>
          <p:cNvPr id="18" name="Shape 14"/>
          <p:cNvSpPr/>
          <p:nvPr/>
        </p:nvSpPr>
        <p:spPr>
          <a:xfrm>
            <a:off x="4878324" y="4242816"/>
            <a:ext cx="0" cy="512064"/>
          </a:xfrm>
          <a:prstGeom prst="line">
            <a:avLst/>
          </a:prstGeom>
          <a:noFill/>
          <a:ln w="19050">
            <a:solidFill>
              <a:srgbClr val="C0C8B5"/>
            </a:solidFill>
            <a:prstDash val="solid"/>
          </a:ln>
        </p:spPr>
      </p:sp>
      <p:sp>
        <p:nvSpPr>
          <p:cNvPr id="19" name="Text 15"/>
          <p:cNvSpPr/>
          <p:nvPr/>
        </p:nvSpPr>
        <p:spPr>
          <a:xfrm>
            <a:off x="5440680" y="3877056"/>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Repair</a:t>
            </a:r>
            <a:endParaRPr lang="en-US" sz="2300" dirty="0"/>
          </a:p>
        </p:txBody>
      </p:sp>
      <p:sp>
        <p:nvSpPr>
          <p:cNvPr id="20" name="Text 16"/>
          <p:cNvSpPr/>
          <p:nvPr/>
        </p:nvSpPr>
        <p:spPr>
          <a:xfrm>
            <a:off x="7498080" y="3913632"/>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Will it break normal behavior?</a:t>
            </a:r>
            <a:endParaRPr lang="en-US" sz="2000" dirty="0"/>
          </a:p>
        </p:txBody>
      </p:sp>
      <p:sp>
        <p:nvSpPr>
          <p:cNvPr id="21" name="Shape 17"/>
          <p:cNvSpPr/>
          <p:nvPr/>
        </p:nvSpPr>
        <p:spPr>
          <a:xfrm>
            <a:off x="4718304" y="4773168"/>
            <a:ext cx="320040" cy="320040"/>
          </a:xfrm>
          <a:prstGeom prst="ellipse">
            <a:avLst/>
          </a:prstGeom>
          <a:solidFill>
            <a:srgbClr val="D9DFD1"/>
          </a:solidFill>
          <a:ln w="12700">
            <a:solidFill>
              <a:srgbClr val="D9DFD1"/>
            </a:solidFill>
            <a:prstDash val="solid"/>
          </a:ln>
        </p:spPr>
      </p:sp>
      <p:sp>
        <p:nvSpPr>
          <p:cNvPr id="22" name="Text 18"/>
          <p:cNvSpPr/>
          <p:nvPr/>
        </p:nvSpPr>
        <p:spPr>
          <a:xfrm>
            <a:off x="5440680" y="4727448"/>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Review</a:t>
            </a:r>
            <a:endParaRPr lang="en-US" sz="2300" dirty="0"/>
          </a:p>
        </p:txBody>
      </p:sp>
      <p:sp>
        <p:nvSpPr>
          <p:cNvPr id="23" name="Text 19"/>
          <p:cNvSpPr/>
          <p:nvPr/>
        </p:nvSpPr>
        <p:spPr>
          <a:xfrm>
            <a:off x="7498080" y="4764024"/>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What evidence can we trust?</a:t>
            </a:r>
            <a:endParaRPr lang="en-US" sz="2000" dirty="0"/>
          </a:p>
        </p:txBody>
      </p:sp>
      <p:sp>
        <p:nvSpPr>
          <p:cNvPr id="24" name="Text 20"/>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Verizon 2026 DBIR, using 2025 incident data. Workflow pain still needs customer validation.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03</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A small team. A real review problem.</a:t>
            </a:r>
            <a:endParaRPr lang="en-US" sz="4000" dirty="0"/>
          </a:p>
        </p:txBody>
      </p:sp>
      <p:sp>
        <p:nvSpPr>
          <p:cNvPr id="6" name="Text 3"/>
          <p:cNvSpPr/>
          <p:nvPr/>
        </p:nvSpPr>
        <p:spPr>
          <a:xfrm>
            <a:off x="621792" y="2057400"/>
            <a:ext cx="3749040" cy="1051560"/>
          </a:xfrm>
          <a:prstGeom prst="rect">
            <a:avLst/>
          </a:prstGeom>
          <a:noFill/>
          <a:ln/>
        </p:spPr>
        <p:txBody>
          <a:bodyPr wrap="square" lIns="0" tIns="0" rIns="0" bIns="0" rtlCol="0" anchor="t"/>
          <a:lstStyle/>
          <a:p>
            <a:pPr indent="0" marL="0">
              <a:buNone/>
            </a:pPr>
            <a:r>
              <a:rPr lang="en-US" sz="7600" b="1" dirty="0">
                <a:solidFill>
                  <a:srgbClr val="20271A"/>
                </a:solidFill>
                <a:latin typeface="Calibri" pitchFamily="34" charset="0"/>
                <a:ea typeface="Calibri" pitchFamily="34" charset="-122"/>
                <a:cs typeface="Calibri" pitchFamily="34" charset="-120"/>
              </a:rPr>
              <a:t>5–30</a:t>
            </a:r>
            <a:endParaRPr lang="en-US" sz="7600" dirty="0"/>
          </a:p>
        </p:txBody>
      </p:sp>
      <p:sp>
        <p:nvSpPr>
          <p:cNvPr id="7" name="Text 4"/>
          <p:cNvSpPr/>
          <p:nvPr/>
        </p:nvSpPr>
        <p:spPr>
          <a:xfrm>
            <a:off x="658368" y="3145536"/>
            <a:ext cx="3657600" cy="457200"/>
          </a:xfrm>
          <a:prstGeom prst="rect">
            <a:avLst/>
          </a:prstGeom>
          <a:noFill/>
          <a:ln/>
        </p:spPr>
        <p:txBody>
          <a:bodyPr wrap="square" lIns="0" tIns="0" rIns="0" bIns="0" rtlCol="0" anchor="t"/>
          <a:lstStyle/>
          <a:p>
            <a:pPr indent="0" marL="0">
              <a:buNone/>
            </a:pPr>
            <a:r>
              <a:rPr lang="en-US" sz="2500" dirty="0">
                <a:solidFill>
                  <a:srgbClr val="20271A"/>
                </a:solidFill>
                <a:latin typeface="Calibri" pitchFamily="34" charset="0"/>
                <a:ea typeface="Calibri" pitchFamily="34" charset="-122"/>
                <a:cs typeface="Calibri" pitchFamily="34" charset="-120"/>
              </a:rPr>
              <a:t>developers</a:t>
            </a:r>
            <a:endParaRPr lang="en-US" sz="2500" dirty="0"/>
          </a:p>
        </p:txBody>
      </p:sp>
      <p:sp>
        <p:nvSpPr>
          <p:cNvPr id="8" name="Text 5"/>
          <p:cNvSpPr/>
          <p:nvPr/>
        </p:nvSpPr>
        <p:spPr>
          <a:xfrm>
            <a:off x="658368" y="4041648"/>
            <a:ext cx="3840480" cy="123444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TypeScript / Node SaaS</a:t>
            </a:r>
            <a:endParaRPr lang="en-US" sz="2000" dirty="0"/>
          </a:p>
          <a:p>
            <a:pPr indent="0" marL="0">
              <a:buNone/>
            </a:pPr>
            <a:r>
              <a:rPr lang="en-US" sz="2000" dirty="0">
                <a:solidFill>
                  <a:srgbClr val="59634F"/>
                </a:solidFill>
                <a:latin typeface="Calibri" pitchFamily="34" charset="0"/>
                <a:ea typeface="Calibri" pitchFamily="34" charset="-122"/>
                <a:cs typeface="Calibri" pitchFamily="34" charset="-120"/>
              </a:rPr>
              <a:t>CTO buys. Developer uses.</a:t>
            </a:r>
            <a:endParaRPr lang="en-US" sz="2000" dirty="0"/>
          </a:p>
          <a:p>
            <a:pPr indent="0" marL="0">
              <a:buNone/>
            </a:pPr>
            <a:r>
              <a:rPr lang="en-US" sz="2000" dirty="0">
                <a:solidFill>
                  <a:srgbClr val="59634F"/>
                </a:solidFill>
                <a:latin typeface="Calibri" pitchFamily="34" charset="0"/>
                <a:ea typeface="Calibri" pitchFamily="34" charset="-122"/>
                <a:cs typeface="Calibri" pitchFamily="34" charset="-120"/>
              </a:rPr>
              <a:t>No dedicated AppSec engineer.</a:t>
            </a:r>
            <a:endParaRPr lang="en-US" sz="2000" dirty="0"/>
          </a:p>
        </p:txBody>
      </p:sp>
      <p:sp>
        <p:nvSpPr>
          <p:cNvPr id="9" name="Shape 6"/>
          <p:cNvSpPr/>
          <p:nvPr/>
        </p:nvSpPr>
        <p:spPr>
          <a:xfrm>
            <a:off x="4937760" y="2084832"/>
            <a:ext cx="6629400" cy="3639312"/>
          </a:xfrm>
          <a:prstGeom prst="rect">
            <a:avLst/>
          </a:prstGeom>
          <a:solidFill>
            <a:srgbClr val="151713"/>
          </a:solidFill>
          <a:ln w="12700">
            <a:solidFill>
              <a:srgbClr val="151713"/>
            </a:solidFill>
            <a:prstDash val="solid"/>
          </a:ln>
        </p:spPr>
      </p:sp>
      <p:sp>
        <p:nvSpPr>
          <p:cNvPr id="10" name="Text 7"/>
          <p:cNvSpPr/>
          <p:nvPr/>
        </p:nvSpPr>
        <p:spPr>
          <a:xfrm>
            <a:off x="5303520" y="2468880"/>
            <a:ext cx="5760720" cy="411480"/>
          </a:xfrm>
          <a:prstGeom prst="rect">
            <a:avLst/>
          </a:prstGeom>
          <a:noFill/>
          <a:ln/>
        </p:spPr>
        <p:txBody>
          <a:bodyPr wrap="square" lIns="0" tIns="0" rIns="0" bIns="0" rtlCol="0" anchor="t"/>
          <a:lstStyle/>
          <a:p>
            <a:pPr indent="0" marL="0">
              <a:buNone/>
            </a:pPr>
            <a:r>
              <a:rPr lang="en-US" sz="2000" dirty="0">
                <a:solidFill>
                  <a:srgbClr val="F1F1EB"/>
                </a:solidFill>
                <a:latin typeface="Consolas" pitchFamily="34" charset="0"/>
                <a:ea typeface="Consolas" pitchFamily="34" charset="-122"/>
                <a:cs typeface="Consolas" pitchFamily="34" charset="-120"/>
              </a:rPr>
              <a:t>GET /invoices/inv_1042</a:t>
            </a:r>
            <a:endParaRPr lang="en-US" sz="2000" dirty="0"/>
          </a:p>
        </p:txBody>
      </p:sp>
      <p:sp>
        <p:nvSpPr>
          <p:cNvPr id="11" name="Text 8"/>
          <p:cNvSpPr/>
          <p:nvPr/>
        </p:nvSpPr>
        <p:spPr>
          <a:xfrm>
            <a:off x="5303520" y="3136392"/>
            <a:ext cx="512064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Signed in as Tenant B</a:t>
            </a:r>
            <a:endParaRPr lang="en-US" sz="1700" dirty="0"/>
          </a:p>
        </p:txBody>
      </p:sp>
      <p:sp>
        <p:nvSpPr>
          <p:cNvPr id="12" name="Text 9"/>
          <p:cNvSpPr/>
          <p:nvPr/>
        </p:nvSpPr>
        <p:spPr>
          <a:xfrm>
            <a:off x="5285232" y="3712464"/>
            <a:ext cx="1920240" cy="822960"/>
          </a:xfrm>
          <a:prstGeom prst="rect">
            <a:avLst/>
          </a:prstGeom>
          <a:noFill/>
          <a:ln/>
        </p:spPr>
        <p:txBody>
          <a:bodyPr wrap="square" lIns="0" tIns="0" rIns="0" bIns="0" rtlCol="0" anchor="t"/>
          <a:lstStyle/>
          <a:p>
            <a:pPr indent="0" marL="0">
              <a:buNone/>
            </a:pPr>
            <a:r>
              <a:rPr lang="en-US" sz="5800" b="1" dirty="0">
                <a:solidFill>
                  <a:srgbClr val="E99A8E"/>
                </a:solidFill>
                <a:latin typeface="Calibri" pitchFamily="34" charset="0"/>
                <a:ea typeface="Calibri" pitchFamily="34" charset="-122"/>
                <a:cs typeface="Calibri" pitchFamily="34" charset="-120"/>
              </a:rPr>
              <a:t>200</a:t>
            </a:r>
            <a:endParaRPr lang="en-US" sz="5800" dirty="0"/>
          </a:p>
        </p:txBody>
      </p:sp>
      <p:sp>
        <p:nvSpPr>
          <p:cNvPr id="13" name="Text 10"/>
          <p:cNvSpPr/>
          <p:nvPr/>
        </p:nvSpPr>
        <p:spPr>
          <a:xfrm>
            <a:off x="7498080" y="3886200"/>
            <a:ext cx="3337560" cy="777240"/>
          </a:xfrm>
          <a:prstGeom prst="rect">
            <a:avLst/>
          </a:prstGeom>
          <a:noFill/>
          <a:ln/>
        </p:spPr>
        <p:txBody>
          <a:bodyPr wrap="square" lIns="0" tIns="0" rIns="0" bIns="0" rtlCol="0" anchor="t"/>
          <a:lstStyle/>
          <a:p>
            <a:pPr indent="0" marL="0">
              <a:buNone/>
            </a:pPr>
            <a:r>
              <a:rPr lang="en-US" sz="2300" dirty="0">
                <a:solidFill>
                  <a:srgbClr val="F1F1EB"/>
                </a:solidFill>
                <a:latin typeface="Calibri" pitchFamily="34" charset="0"/>
                <a:ea typeface="Calibri" pitchFamily="34" charset="-122"/>
                <a:cs typeface="Calibri" pitchFamily="34" charset="-120"/>
              </a:rPr>
              <a:t>Tenant A’s invoice is returned.</a:t>
            </a:r>
            <a:endParaRPr lang="en-US" sz="2300" dirty="0"/>
          </a:p>
        </p:txBody>
      </p:sp>
      <p:sp>
        <p:nvSpPr>
          <p:cNvPr id="14" name="Text 11"/>
          <p:cNvSpPr/>
          <p:nvPr/>
        </p:nvSpPr>
        <p:spPr>
          <a:xfrm>
            <a:off x="5303520" y="5084064"/>
            <a:ext cx="576072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The reviewer needs to prove the boundary holds.</a:t>
            </a:r>
            <a:endParaRPr lang="en-US" sz="1700" dirty="0"/>
          </a:p>
        </p:txBody>
      </p:sp>
      <p:sp>
        <p:nvSpPr>
          <p:cNvPr id="15" name="Text 12"/>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Synthetic example. Initial customer segment and pain are hypotheses, not interview findings.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04</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Three roles. One evidence gate.</a:t>
            </a:r>
            <a:endParaRPr lang="en-US" sz="4000" dirty="0"/>
          </a:p>
        </p:txBody>
      </p:sp>
      <p:sp>
        <p:nvSpPr>
          <p:cNvPr id="6" name="Shape 3"/>
          <p:cNvSpPr/>
          <p:nvPr/>
        </p:nvSpPr>
        <p:spPr>
          <a:xfrm>
            <a:off x="640080" y="2286000"/>
            <a:ext cx="438912" cy="438912"/>
          </a:xfrm>
          <a:prstGeom prst="ellipse">
            <a:avLst/>
          </a:prstGeom>
          <a:solidFill>
            <a:srgbClr val="22271D"/>
          </a:solidFill>
          <a:ln w="12700">
            <a:solidFill>
              <a:srgbClr val="3D4633"/>
            </a:solidFill>
            <a:prstDash val="solid"/>
          </a:ln>
        </p:spPr>
      </p:sp>
      <p:sp>
        <p:nvSpPr>
          <p:cNvPr id="7" name="Text 4"/>
          <p:cNvSpPr/>
          <p:nvPr/>
        </p:nvSpPr>
        <p:spPr>
          <a:xfrm>
            <a:off x="640080" y="2350008"/>
            <a:ext cx="438912" cy="228600"/>
          </a:xfrm>
          <a:prstGeom prst="rect">
            <a:avLst/>
          </a:prstGeom>
          <a:noFill/>
          <a:ln/>
        </p:spPr>
        <p:txBody>
          <a:bodyPr wrap="square" lIns="0" tIns="0" rIns="0" bIns="0" rtlCol="0" anchor="t"/>
          <a:lstStyle/>
          <a:p>
            <a:pPr algn="ctr" indent="0" marL="0">
              <a:buNone/>
            </a:pPr>
            <a:r>
              <a:rPr lang="en-US" sz="1300" b="1" dirty="0">
                <a:solidFill>
                  <a:srgbClr val="C7EF79"/>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298448" y="2267712"/>
            <a:ext cx="2377440" cy="45720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Supply Chain</a:t>
            </a:r>
            <a:endParaRPr lang="en-US" sz="2500" dirty="0"/>
          </a:p>
        </p:txBody>
      </p:sp>
      <p:sp>
        <p:nvSpPr>
          <p:cNvPr id="9" name="Text 6"/>
          <p:cNvSpPr/>
          <p:nvPr/>
        </p:nvSpPr>
        <p:spPr>
          <a:xfrm>
            <a:off x="1307592" y="2852928"/>
            <a:ext cx="283464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Inventory + advisory risk</a:t>
            </a:r>
            <a:endParaRPr lang="en-US" sz="1900" dirty="0"/>
          </a:p>
        </p:txBody>
      </p:sp>
      <p:sp>
        <p:nvSpPr>
          <p:cNvPr id="10" name="Shape 7"/>
          <p:cNvSpPr/>
          <p:nvPr/>
        </p:nvSpPr>
        <p:spPr>
          <a:xfrm>
            <a:off x="3931920" y="2496312"/>
            <a:ext cx="320040" cy="0"/>
          </a:xfrm>
          <a:prstGeom prst="line">
            <a:avLst/>
          </a:prstGeom>
          <a:noFill/>
          <a:ln w="19050">
            <a:solidFill>
              <a:srgbClr val="3D4633"/>
            </a:solidFill>
            <a:prstDash val="solid"/>
            <a:tailEnd type="triangle"/>
          </a:ln>
        </p:spPr>
      </p:sp>
      <p:sp>
        <p:nvSpPr>
          <p:cNvPr id="11" name="Shape 8"/>
          <p:cNvSpPr/>
          <p:nvPr/>
        </p:nvSpPr>
        <p:spPr>
          <a:xfrm>
            <a:off x="4407408" y="2286000"/>
            <a:ext cx="438912" cy="438912"/>
          </a:xfrm>
          <a:prstGeom prst="ellipse">
            <a:avLst/>
          </a:prstGeom>
          <a:solidFill>
            <a:srgbClr val="22271D"/>
          </a:solidFill>
          <a:ln w="12700">
            <a:solidFill>
              <a:srgbClr val="3D4633"/>
            </a:solidFill>
            <a:prstDash val="solid"/>
          </a:ln>
        </p:spPr>
      </p:sp>
      <p:sp>
        <p:nvSpPr>
          <p:cNvPr id="12" name="Text 9"/>
          <p:cNvSpPr/>
          <p:nvPr/>
        </p:nvSpPr>
        <p:spPr>
          <a:xfrm>
            <a:off x="4407408" y="2350008"/>
            <a:ext cx="438912" cy="228600"/>
          </a:xfrm>
          <a:prstGeom prst="rect">
            <a:avLst/>
          </a:prstGeom>
          <a:noFill/>
          <a:ln/>
        </p:spPr>
        <p:txBody>
          <a:bodyPr wrap="square" lIns="0" tIns="0" rIns="0" bIns="0" rtlCol="0" anchor="t"/>
          <a:lstStyle/>
          <a:p>
            <a:pPr algn="ctr" indent="0" marL="0">
              <a:buNone/>
            </a:pPr>
            <a:r>
              <a:rPr lang="en-US" sz="1300" b="1" dirty="0">
                <a:solidFill>
                  <a:srgbClr val="C7EF79"/>
                </a:solidFill>
                <a:latin typeface="Calibri" pitchFamily="34" charset="0"/>
                <a:ea typeface="Calibri" pitchFamily="34" charset="-122"/>
                <a:cs typeface="Calibri" pitchFamily="34" charset="-120"/>
              </a:rPr>
              <a:t>3</a:t>
            </a:r>
            <a:endParaRPr lang="en-US" sz="1300" dirty="0"/>
          </a:p>
        </p:txBody>
      </p:sp>
      <p:sp>
        <p:nvSpPr>
          <p:cNvPr id="13" name="Text 10"/>
          <p:cNvSpPr/>
          <p:nvPr/>
        </p:nvSpPr>
        <p:spPr>
          <a:xfrm>
            <a:off x="5065776" y="2267712"/>
            <a:ext cx="2377440" cy="45720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DevSec</a:t>
            </a:r>
            <a:endParaRPr lang="en-US" sz="2500" dirty="0"/>
          </a:p>
        </p:txBody>
      </p:sp>
      <p:sp>
        <p:nvSpPr>
          <p:cNvPr id="14" name="Text 11"/>
          <p:cNvSpPr/>
          <p:nvPr/>
        </p:nvSpPr>
        <p:spPr>
          <a:xfrm>
            <a:off x="5074920" y="2852928"/>
            <a:ext cx="283464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Baseline + frozen checks</a:t>
            </a:r>
            <a:endParaRPr lang="en-US" sz="1900" dirty="0"/>
          </a:p>
        </p:txBody>
      </p:sp>
      <p:sp>
        <p:nvSpPr>
          <p:cNvPr id="15" name="Shape 12"/>
          <p:cNvSpPr/>
          <p:nvPr/>
        </p:nvSpPr>
        <p:spPr>
          <a:xfrm>
            <a:off x="7699248" y="2496312"/>
            <a:ext cx="320040" cy="0"/>
          </a:xfrm>
          <a:prstGeom prst="line">
            <a:avLst/>
          </a:prstGeom>
          <a:noFill/>
          <a:ln w="19050">
            <a:solidFill>
              <a:srgbClr val="3D4633"/>
            </a:solidFill>
            <a:prstDash val="solid"/>
            <a:tailEnd type="triangle"/>
          </a:ln>
        </p:spPr>
      </p:sp>
      <p:sp>
        <p:nvSpPr>
          <p:cNvPr id="16" name="Shape 13"/>
          <p:cNvSpPr/>
          <p:nvPr/>
        </p:nvSpPr>
        <p:spPr>
          <a:xfrm>
            <a:off x="8174736" y="2286000"/>
            <a:ext cx="438912" cy="438912"/>
          </a:xfrm>
          <a:prstGeom prst="ellipse">
            <a:avLst/>
          </a:prstGeom>
          <a:solidFill>
            <a:srgbClr val="22271D"/>
          </a:solidFill>
          <a:ln w="12700">
            <a:solidFill>
              <a:srgbClr val="3D4633"/>
            </a:solidFill>
            <a:prstDash val="solid"/>
          </a:ln>
        </p:spPr>
      </p:sp>
      <p:sp>
        <p:nvSpPr>
          <p:cNvPr id="17" name="Text 14"/>
          <p:cNvSpPr/>
          <p:nvPr/>
        </p:nvSpPr>
        <p:spPr>
          <a:xfrm>
            <a:off x="8174736" y="2350008"/>
            <a:ext cx="438912" cy="228600"/>
          </a:xfrm>
          <a:prstGeom prst="rect">
            <a:avLst/>
          </a:prstGeom>
          <a:noFill/>
          <a:ln/>
        </p:spPr>
        <p:txBody>
          <a:bodyPr wrap="square" lIns="0" tIns="0" rIns="0" bIns="0" rtlCol="0" anchor="t"/>
          <a:lstStyle/>
          <a:p>
            <a:pPr algn="ctr" indent="0" marL="0">
              <a:buNone/>
            </a:pPr>
            <a:r>
              <a:rPr lang="en-US" sz="1300" b="1" dirty="0">
                <a:solidFill>
                  <a:srgbClr val="C7EF79"/>
                </a:solidFill>
                <a:latin typeface="Calibri" pitchFamily="34" charset="0"/>
                <a:ea typeface="Calibri" pitchFamily="34" charset="-122"/>
                <a:cs typeface="Calibri" pitchFamily="34" charset="-120"/>
              </a:rPr>
              <a:t>2</a:t>
            </a:r>
            <a:endParaRPr lang="en-US" sz="1300" dirty="0"/>
          </a:p>
        </p:txBody>
      </p:sp>
      <p:sp>
        <p:nvSpPr>
          <p:cNvPr id="18" name="Text 15"/>
          <p:cNvSpPr/>
          <p:nvPr/>
        </p:nvSpPr>
        <p:spPr>
          <a:xfrm>
            <a:off x="8833104" y="2267712"/>
            <a:ext cx="2377440" cy="45720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Remediation</a:t>
            </a:r>
            <a:endParaRPr lang="en-US" sz="2500" dirty="0"/>
          </a:p>
        </p:txBody>
      </p:sp>
      <p:sp>
        <p:nvSpPr>
          <p:cNvPr id="19" name="Text 16"/>
          <p:cNvSpPr/>
          <p:nvPr/>
        </p:nvSpPr>
        <p:spPr>
          <a:xfrm>
            <a:off x="8842248" y="2852928"/>
            <a:ext cx="283464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Updates + code repairs</a:t>
            </a:r>
            <a:endParaRPr lang="en-US" sz="1900" dirty="0"/>
          </a:p>
        </p:txBody>
      </p:sp>
      <p:sp>
        <p:nvSpPr>
          <p:cNvPr id="20" name="Text 17"/>
          <p:cNvSpPr/>
          <p:nvPr/>
        </p:nvSpPr>
        <p:spPr>
          <a:xfrm>
            <a:off x="5093208" y="3502152"/>
            <a:ext cx="6217920" cy="274320"/>
          </a:xfrm>
          <a:prstGeom prst="rect">
            <a:avLst/>
          </a:prstGeom>
          <a:noFill/>
          <a:ln/>
        </p:spPr>
        <p:txBody>
          <a:bodyPr wrap="square" lIns="0" tIns="0" rIns="0" bIns="0" rtlCol="0" anchor="t"/>
          <a:lstStyle/>
          <a:p>
            <a:pPr indent="0" marL="0">
              <a:buNone/>
            </a:pPr>
            <a:r>
              <a:rPr lang="en-US" sz="1400" dirty="0">
                <a:solidFill>
                  <a:srgbClr val="C7EF79"/>
                </a:solidFill>
                <a:latin typeface="Calibri" pitchFamily="34" charset="0"/>
                <a:ea typeface="Calibri" pitchFamily="34" charset="-122"/>
                <a:cs typeface="Calibri" pitchFamily="34" charset="-120"/>
              </a:rPr>
              <a:t>Candidate returns to DevSec for independent replay.</a:t>
            </a:r>
            <a:endParaRPr lang="en-US" sz="1400" dirty="0"/>
          </a:p>
        </p:txBody>
      </p:sp>
      <p:sp>
        <p:nvSpPr>
          <p:cNvPr id="21" name="Shape 18"/>
          <p:cNvSpPr/>
          <p:nvPr/>
        </p:nvSpPr>
        <p:spPr>
          <a:xfrm>
            <a:off x="621792" y="3977640"/>
            <a:ext cx="10927080" cy="1572768"/>
          </a:xfrm>
          <a:prstGeom prst="rect">
            <a:avLst/>
          </a:prstGeom>
          <a:solidFill>
            <a:srgbClr val="22271D"/>
          </a:solidFill>
          <a:ln w="12700">
            <a:solidFill>
              <a:srgbClr val="22271D"/>
            </a:solidFill>
            <a:prstDash val="solid"/>
          </a:ln>
        </p:spPr>
      </p:sp>
      <p:sp>
        <p:nvSpPr>
          <p:cNvPr id="22" name="Shape 19"/>
          <p:cNvSpPr/>
          <p:nvPr/>
        </p:nvSpPr>
        <p:spPr>
          <a:xfrm>
            <a:off x="868680" y="4462272"/>
            <a:ext cx="82296" cy="82296"/>
          </a:xfrm>
          <a:prstGeom prst="line">
            <a:avLst/>
          </a:prstGeom>
          <a:noFill/>
          <a:ln w="25400">
            <a:solidFill>
              <a:srgbClr val="C7EF79"/>
            </a:solidFill>
            <a:prstDash val="solid"/>
          </a:ln>
        </p:spPr>
      </p:sp>
      <p:sp>
        <p:nvSpPr>
          <p:cNvPr id="23" name="Shape 20"/>
          <p:cNvSpPr/>
          <p:nvPr/>
        </p:nvSpPr>
        <p:spPr>
          <a:xfrm flipV="1">
            <a:off x="950976" y="4315968"/>
            <a:ext cx="182880" cy="228600"/>
          </a:xfrm>
          <a:prstGeom prst="line">
            <a:avLst/>
          </a:prstGeom>
          <a:noFill/>
          <a:ln w="25400">
            <a:solidFill>
              <a:srgbClr val="C7EF79"/>
            </a:solidFill>
            <a:prstDash val="solid"/>
          </a:ln>
        </p:spPr>
      </p:sp>
      <p:sp>
        <p:nvSpPr>
          <p:cNvPr id="24" name="Text 21"/>
          <p:cNvSpPr/>
          <p:nvPr/>
        </p:nvSpPr>
        <p:spPr>
          <a:xfrm>
            <a:off x="86868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Baseline fails</a:t>
            </a:r>
            <a:endParaRPr lang="en-US" sz="1600" dirty="0"/>
          </a:p>
        </p:txBody>
      </p:sp>
      <p:sp>
        <p:nvSpPr>
          <p:cNvPr id="25" name="Shape 22"/>
          <p:cNvSpPr/>
          <p:nvPr/>
        </p:nvSpPr>
        <p:spPr>
          <a:xfrm>
            <a:off x="3017520" y="4462272"/>
            <a:ext cx="82296" cy="82296"/>
          </a:xfrm>
          <a:prstGeom prst="line">
            <a:avLst/>
          </a:prstGeom>
          <a:noFill/>
          <a:ln w="25400">
            <a:solidFill>
              <a:srgbClr val="C7EF79"/>
            </a:solidFill>
            <a:prstDash val="solid"/>
          </a:ln>
        </p:spPr>
      </p:sp>
      <p:sp>
        <p:nvSpPr>
          <p:cNvPr id="26" name="Shape 23"/>
          <p:cNvSpPr/>
          <p:nvPr/>
        </p:nvSpPr>
        <p:spPr>
          <a:xfrm flipV="1">
            <a:off x="3099816" y="4315968"/>
            <a:ext cx="182880" cy="228600"/>
          </a:xfrm>
          <a:prstGeom prst="line">
            <a:avLst/>
          </a:prstGeom>
          <a:noFill/>
          <a:ln w="25400">
            <a:solidFill>
              <a:srgbClr val="C7EF79"/>
            </a:solidFill>
            <a:prstDash val="solid"/>
          </a:ln>
        </p:spPr>
      </p:sp>
      <p:sp>
        <p:nvSpPr>
          <p:cNvPr id="27" name="Text 24"/>
          <p:cNvSpPr/>
          <p:nvPr/>
        </p:nvSpPr>
        <p:spPr>
          <a:xfrm>
            <a:off x="301752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Candidate passes</a:t>
            </a:r>
            <a:endParaRPr lang="en-US" sz="1600" dirty="0"/>
          </a:p>
        </p:txBody>
      </p:sp>
      <p:sp>
        <p:nvSpPr>
          <p:cNvPr id="28" name="Shape 25"/>
          <p:cNvSpPr/>
          <p:nvPr/>
        </p:nvSpPr>
        <p:spPr>
          <a:xfrm>
            <a:off x="5166360" y="4462272"/>
            <a:ext cx="82296" cy="82296"/>
          </a:xfrm>
          <a:prstGeom prst="line">
            <a:avLst/>
          </a:prstGeom>
          <a:noFill/>
          <a:ln w="25400">
            <a:solidFill>
              <a:srgbClr val="C7EF79"/>
            </a:solidFill>
            <a:prstDash val="solid"/>
          </a:ln>
        </p:spPr>
      </p:sp>
      <p:sp>
        <p:nvSpPr>
          <p:cNvPr id="29" name="Shape 26"/>
          <p:cNvSpPr/>
          <p:nvPr/>
        </p:nvSpPr>
        <p:spPr>
          <a:xfrm flipV="1">
            <a:off x="5248656" y="4315968"/>
            <a:ext cx="182880" cy="228600"/>
          </a:xfrm>
          <a:prstGeom prst="line">
            <a:avLst/>
          </a:prstGeom>
          <a:noFill/>
          <a:ln w="25400">
            <a:solidFill>
              <a:srgbClr val="C7EF79"/>
            </a:solidFill>
            <a:prstDash val="solid"/>
          </a:ln>
        </p:spPr>
      </p:sp>
      <p:sp>
        <p:nvSpPr>
          <p:cNvPr id="30" name="Text 27"/>
          <p:cNvSpPr/>
          <p:nvPr/>
        </p:nvSpPr>
        <p:spPr>
          <a:xfrm>
            <a:off x="516636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Benign controls pass</a:t>
            </a:r>
            <a:endParaRPr lang="en-US" sz="1600" dirty="0"/>
          </a:p>
        </p:txBody>
      </p:sp>
      <p:sp>
        <p:nvSpPr>
          <p:cNvPr id="31" name="Shape 28"/>
          <p:cNvSpPr/>
          <p:nvPr/>
        </p:nvSpPr>
        <p:spPr>
          <a:xfrm>
            <a:off x="7315200" y="4462272"/>
            <a:ext cx="82296" cy="82296"/>
          </a:xfrm>
          <a:prstGeom prst="line">
            <a:avLst/>
          </a:prstGeom>
          <a:noFill/>
          <a:ln w="25400">
            <a:solidFill>
              <a:srgbClr val="C7EF79"/>
            </a:solidFill>
            <a:prstDash val="solid"/>
          </a:ln>
        </p:spPr>
      </p:sp>
      <p:sp>
        <p:nvSpPr>
          <p:cNvPr id="32" name="Shape 29"/>
          <p:cNvSpPr/>
          <p:nvPr/>
        </p:nvSpPr>
        <p:spPr>
          <a:xfrm flipV="1">
            <a:off x="7397496" y="4315968"/>
            <a:ext cx="182880" cy="228600"/>
          </a:xfrm>
          <a:prstGeom prst="line">
            <a:avLst/>
          </a:prstGeom>
          <a:noFill/>
          <a:ln w="25400">
            <a:solidFill>
              <a:srgbClr val="C7EF79"/>
            </a:solidFill>
            <a:prstDash val="solid"/>
          </a:ln>
        </p:spPr>
      </p:sp>
      <p:sp>
        <p:nvSpPr>
          <p:cNvPr id="33" name="Text 30"/>
          <p:cNvSpPr/>
          <p:nvPr/>
        </p:nvSpPr>
        <p:spPr>
          <a:xfrm>
            <a:off x="731520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Test IDs match</a:t>
            </a:r>
            <a:endParaRPr lang="en-US" sz="1600" dirty="0"/>
          </a:p>
        </p:txBody>
      </p:sp>
      <p:sp>
        <p:nvSpPr>
          <p:cNvPr id="34" name="Shape 31"/>
          <p:cNvSpPr/>
          <p:nvPr/>
        </p:nvSpPr>
        <p:spPr>
          <a:xfrm>
            <a:off x="9464040" y="4462272"/>
            <a:ext cx="82296" cy="82296"/>
          </a:xfrm>
          <a:prstGeom prst="line">
            <a:avLst/>
          </a:prstGeom>
          <a:noFill/>
          <a:ln w="25400">
            <a:solidFill>
              <a:srgbClr val="C7EF79"/>
            </a:solidFill>
            <a:prstDash val="solid"/>
          </a:ln>
        </p:spPr>
      </p:sp>
      <p:sp>
        <p:nvSpPr>
          <p:cNvPr id="35" name="Shape 32"/>
          <p:cNvSpPr/>
          <p:nvPr/>
        </p:nvSpPr>
        <p:spPr>
          <a:xfrm flipV="1">
            <a:off x="9546336" y="4315968"/>
            <a:ext cx="182880" cy="228600"/>
          </a:xfrm>
          <a:prstGeom prst="line">
            <a:avLst/>
          </a:prstGeom>
          <a:noFill/>
          <a:ln w="25400">
            <a:solidFill>
              <a:srgbClr val="C7EF79"/>
            </a:solidFill>
            <a:prstDash val="solid"/>
          </a:ln>
        </p:spPr>
      </p:sp>
      <p:sp>
        <p:nvSpPr>
          <p:cNvPr id="36" name="Text 33"/>
          <p:cNvSpPr/>
          <p:nvPr/>
        </p:nvSpPr>
        <p:spPr>
          <a:xfrm>
            <a:off x="946404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Commit IDs match</a:t>
            </a:r>
            <a:endParaRPr lang="en-US" sz="1600" dirty="0"/>
          </a:p>
        </p:txBody>
      </p:sp>
      <p:sp>
        <p:nvSpPr>
          <p:cNvPr id="37" name="Text 34"/>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DevSec freezes baseline checks before repair. Controller routes work; gate holds unresolved follow-up. Human merges.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05</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Block the attack. Preserve the customer.</a:t>
            </a:r>
            <a:endParaRPr lang="en-US" sz="4000" dirty="0"/>
          </a:p>
        </p:txBody>
      </p:sp>
      <p:sp>
        <p:nvSpPr>
          <p:cNvPr id="6" name="Shape 3"/>
          <p:cNvSpPr/>
          <p:nvPr/>
        </p:nvSpPr>
        <p:spPr>
          <a:xfrm>
            <a:off x="621792" y="2057400"/>
            <a:ext cx="5330952" cy="3383280"/>
          </a:xfrm>
          <a:prstGeom prst="rect">
            <a:avLst/>
          </a:prstGeom>
          <a:solidFill>
            <a:srgbClr val="22271D"/>
          </a:solidFill>
          <a:ln w="12700">
            <a:solidFill>
              <a:srgbClr val="22271D"/>
            </a:solidFill>
            <a:prstDash val="solid"/>
          </a:ln>
        </p:spPr>
      </p:sp>
      <p:sp>
        <p:nvSpPr>
          <p:cNvPr id="7" name="Shape 4"/>
          <p:cNvSpPr/>
          <p:nvPr/>
        </p:nvSpPr>
        <p:spPr>
          <a:xfrm>
            <a:off x="6199632" y="2057400"/>
            <a:ext cx="5330952" cy="3383280"/>
          </a:xfrm>
          <a:prstGeom prst="rect">
            <a:avLst/>
          </a:prstGeom>
          <a:solidFill>
            <a:srgbClr val="28231E"/>
          </a:solidFill>
          <a:ln w="12700">
            <a:solidFill>
              <a:srgbClr val="28231E"/>
            </a:solidFill>
            <a:prstDash val="solid"/>
          </a:ln>
        </p:spPr>
      </p:sp>
      <p:sp>
        <p:nvSpPr>
          <p:cNvPr id="8" name="Text 5"/>
          <p:cNvSpPr/>
          <p:nvPr/>
        </p:nvSpPr>
        <p:spPr>
          <a:xfrm>
            <a:off x="896112" y="2350008"/>
            <a:ext cx="4480560" cy="365760"/>
          </a:xfrm>
          <a:prstGeom prst="rect">
            <a:avLst/>
          </a:prstGeom>
          <a:noFill/>
          <a:ln/>
        </p:spPr>
        <p:txBody>
          <a:bodyPr wrap="square" lIns="0" tIns="0" rIns="0" bIns="0" rtlCol="0" anchor="t"/>
          <a:lstStyle/>
          <a:p>
            <a:pPr indent="0" marL="0">
              <a:buNone/>
            </a:pPr>
            <a:r>
              <a:rPr lang="en-US" sz="2200" b="1" dirty="0">
                <a:solidFill>
                  <a:srgbClr val="C7EF79"/>
                </a:solidFill>
                <a:latin typeface="Calibri" pitchFamily="34" charset="0"/>
                <a:ea typeface="Calibri" pitchFamily="34" charset="-122"/>
                <a:cs typeface="Calibri" pitchFamily="34" charset="-120"/>
              </a:rPr>
              <a:t>Security replay</a:t>
            </a:r>
            <a:endParaRPr lang="en-US" sz="2200" dirty="0"/>
          </a:p>
        </p:txBody>
      </p:sp>
      <p:sp>
        <p:nvSpPr>
          <p:cNvPr id="9" name="Text 6"/>
          <p:cNvSpPr/>
          <p:nvPr/>
        </p:nvSpPr>
        <p:spPr>
          <a:xfrm>
            <a:off x="896112" y="2971800"/>
            <a:ext cx="4572000" cy="365760"/>
          </a:xfrm>
          <a:prstGeom prst="rect">
            <a:avLst/>
          </a:prstGeom>
          <a:noFill/>
          <a:ln/>
        </p:spPr>
        <p:txBody>
          <a:bodyPr wrap="square" lIns="0" tIns="0" rIns="0" bIns="0" rtlCol="0" anchor="t"/>
          <a:lstStyle/>
          <a:p>
            <a:pPr indent="0" marL="0">
              <a:buNone/>
            </a:pPr>
            <a:r>
              <a:rPr lang="en-US" sz="1600" dirty="0">
                <a:solidFill>
                  <a:srgbClr val="ABB2A2"/>
                </a:solidFill>
                <a:latin typeface="Consolas" pitchFamily="34" charset="0"/>
                <a:ea typeface="Consolas" pitchFamily="34" charset="-122"/>
                <a:cs typeface="Consolas" pitchFamily="34" charset="-120"/>
              </a:rPr>
              <a:t>Tenant B → Tenant A invoice</a:t>
            </a:r>
            <a:endParaRPr lang="en-US" sz="1600" dirty="0"/>
          </a:p>
        </p:txBody>
      </p:sp>
      <p:sp>
        <p:nvSpPr>
          <p:cNvPr id="10" name="Text 7"/>
          <p:cNvSpPr/>
          <p:nvPr/>
        </p:nvSpPr>
        <p:spPr>
          <a:xfrm>
            <a:off x="896112" y="3657600"/>
            <a:ext cx="1874520" cy="822960"/>
          </a:xfrm>
          <a:prstGeom prst="rect">
            <a:avLst/>
          </a:prstGeom>
          <a:noFill/>
          <a:ln/>
        </p:spPr>
        <p:txBody>
          <a:bodyPr wrap="square" lIns="0" tIns="0" rIns="0" bIns="0" rtlCol="0" anchor="t"/>
          <a:lstStyle/>
          <a:p>
            <a:pPr indent="0" marL="0">
              <a:buNone/>
            </a:pPr>
            <a:r>
              <a:rPr lang="en-US" sz="5800" b="1" dirty="0">
                <a:solidFill>
                  <a:srgbClr val="E99A8E"/>
                </a:solidFill>
                <a:latin typeface="Calibri" pitchFamily="34" charset="0"/>
                <a:ea typeface="Calibri" pitchFamily="34" charset="-122"/>
                <a:cs typeface="Calibri" pitchFamily="34" charset="-120"/>
              </a:rPr>
              <a:t>200</a:t>
            </a:r>
            <a:endParaRPr lang="en-US" sz="5800" dirty="0"/>
          </a:p>
        </p:txBody>
      </p:sp>
      <p:sp>
        <p:nvSpPr>
          <p:cNvPr id="11" name="Shape 8"/>
          <p:cNvSpPr/>
          <p:nvPr/>
        </p:nvSpPr>
        <p:spPr>
          <a:xfrm>
            <a:off x="2907792" y="4050792"/>
            <a:ext cx="576072" cy="0"/>
          </a:xfrm>
          <a:prstGeom prst="line">
            <a:avLst/>
          </a:prstGeom>
          <a:noFill/>
          <a:ln w="19050">
            <a:solidFill>
              <a:srgbClr val="ABB2A2"/>
            </a:solidFill>
            <a:prstDash val="solid"/>
            <a:tailEnd type="triangle"/>
          </a:ln>
        </p:spPr>
      </p:sp>
      <p:sp>
        <p:nvSpPr>
          <p:cNvPr id="12" name="Text 9"/>
          <p:cNvSpPr/>
          <p:nvPr/>
        </p:nvSpPr>
        <p:spPr>
          <a:xfrm>
            <a:off x="3675888" y="3657600"/>
            <a:ext cx="1874520" cy="822960"/>
          </a:xfrm>
          <a:prstGeom prst="rect">
            <a:avLst/>
          </a:prstGeom>
          <a:noFill/>
          <a:ln/>
        </p:spPr>
        <p:txBody>
          <a:bodyPr wrap="square" lIns="0" tIns="0" rIns="0" bIns="0" rtlCol="0" anchor="t"/>
          <a:lstStyle/>
          <a:p>
            <a:pPr indent="0" marL="0">
              <a:buNone/>
            </a:pPr>
            <a:r>
              <a:rPr lang="en-US" sz="5800" b="1" dirty="0">
                <a:solidFill>
                  <a:srgbClr val="C7EF79"/>
                </a:solidFill>
                <a:latin typeface="Calibri" pitchFamily="34" charset="0"/>
                <a:ea typeface="Calibri" pitchFamily="34" charset="-122"/>
                <a:cs typeface="Calibri" pitchFamily="34" charset="-120"/>
              </a:rPr>
              <a:t>404</a:t>
            </a:r>
            <a:endParaRPr lang="en-US" sz="5800" dirty="0"/>
          </a:p>
        </p:txBody>
      </p:sp>
      <p:sp>
        <p:nvSpPr>
          <p:cNvPr id="13" name="Text 10"/>
          <p:cNvSpPr/>
          <p:nvPr/>
        </p:nvSpPr>
        <p:spPr>
          <a:xfrm>
            <a:off x="896112" y="4919472"/>
            <a:ext cx="457200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Unauthorized request denied</a:t>
            </a:r>
            <a:endParaRPr lang="en-US" sz="1700" dirty="0"/>
          </a:p>
        </p:txBody>
      </p:sp>
      <p:sp>
        <p:nvSpPr>
          <p:cNvPr id="14" name="Text 11"/>
          <p:cNvSpPr/>
          <p:nvPr/>
        </p:nvSpPr>
        <p:spPr>
          <a:xfrm>
            <a:off x="6473952" y="2350008"/>
            <a:ext cx="4480560" cy="365760"/>
          </a:xfrm>
          <a:prstGeom prst="rect">
            <a:avLst/>
          </a:prstGeom>
          <a:noFill/>
          <a:ln/>
        </p:spPr>
        <p:txBody>
          <a:bodyPr wrap="square" lIns="0" tIns="0" rIns="0" bIns="0" rtlCol="0" anchor="t"/>
          <a:lstStyle/>
          <a:p>
            <a:pPr indent="0" marL="0">
              <a:buNone/>
            </a:pPr>
            <a:r>
              <a:rPr lang="en-US" sz="2200" b="1" dirty="0">
                <a:solidFill>
                  <a:srgbClr val="F1F1EB"/>
                </a:solidFill>
                <a:latin typeface="Calibri" pitchFamily="34" charset="0"/>
                <a:ea typeface="Calibri" pitchFamily="34" charset="-122"/>
                <a:cs typeface="Calibri" pitchFamily="34" charset="-120"/>
              </a:rPr>
              <a:t>Benign regression</a:t>
            </a:r>
            <a:endParaRPr lang="en-US" sz="2200" dirty="0"/>
          </a:p>
        </p:txBody>
      </p:sp>
      <p:sp>
        <p:nvSpPr>
          <p:cNvPr id="15" name="Text 12"/>
          <p:cNvSpPr/>
          <p:nvPr/>
        </p:nvSpPr>
        <p:spPr>
          <a:xfrm>
            <a:off x="6473952" y="2971800"/>
            <a:ext cx="4572000" cy="365760"/>
          </a:xfrm>
          <a:prstGeom prst="rect">
            <a:avLst/>
          </a:prstGeom>
          <a:noFill/>
          <a:ln/>
        </p:spPr>
        <p:txBody>
          <a:bodyPr wrap="square" lIns="0" tIns="0" rIns="0" bIns="0" rtlCol="0" anchor="t"/>
          <a:lstStyle/>
          <a:p>
            <a:pPr indent="0" marL="0">
              <a:buNone/>
            </a:pPr>
            <a:r>
              <a:rPr lang="en-US" sz="1600" dirty="0">
                <a:solidFill>
                  <a:srgbClr val="ABB2A2"/>
                </a:solidFill>
                <a:latin typeface="Consolas" pitchFamily="34" charset="0"/>
                <a:ea typeface="Consolas" pitchFamily="34" charset="-122"/>
                <a:cs typeface="Consolas" pitchFamily="34" charset="-120"/>
              </a:rPr>
              <a:t>Invoice owner → own invoice</a:t>
            </a:r>
            <a:endParaRPr lang="en-US" sz="1600" dirty="0"/>
          </a:p>
        </p:txBody>
      </p:sp>
      <p:sp>
        <p:nvSpPr>
          <p:cNvPr id="16" name="Text 13"/>
          <p:cNvSpPr/>
          <p:nvPr/>
        </p:nvSpPr>
        <p:spPr>
          <a:xfrm>
            <a:off x="6473952" y="3657600"/>
            <a:ext cx="1874520" cy="822960"/>
          </a:xfrm>
          <a:prstGeom prst="rect">
            <a:avLst/>
          </a:prstGeom>
          <a:noFill/>
          <a:ln/>
        </p:spPr>
        <p:txBody>
          <a:bodyPr wrap="square" lIns="0" tIns="0" rIns="0" bIns="0" rtlCol="0" anchor="t"/>
          <a:lstStyle/>
          <a:p>
            <a:pPr indent="0" marL="0">
              <a:buNone/>
            </a:pPr>
            <a:r>
              <a:rPr lang="en-US" sz="5800" b="1" dirty="0">
                <a:solidFill>
                  <a:srgbClr val="F1F1EB"/>
                </a:solidFill>
                <a:latin typeface="Calibri" pitchFamily="34" charset="0"/>
                <a:ea typeface="Calibri" pitchFamily="34" charset="-122"/>
                <a:cs typeface="Calibri" pitchFamily="34" charset="-120"/>
              </a:rPr>
              <a:t>200</a:t>
            </a:r>
            <a:endParaRPr lang="en-US" sz="5800" dirty="0"/>
          </a:p>
        </p:txBody>
      </p:sp>
      <p:sp>
        <p:nvSpPr>
          <p:cNvPr id="17" name="Shape 14"/>
          <p:cNvSpPr/>
          <p:nvPr/>
        </p:nvSpPr>
        <p:spPr>
          <a:xfrm>
            <a:off x="8485632" y="4050792"/>
            <a:ext cx="576072" cy="0"/>
          </a:xfrm>
          <a:prstGeom prst="line">
            <a:avLst/>
          </a:prstGeom>
          <a:noFill/>
          <a:ln w="19050">
            <a:solidFill>
              <a:srgbClr val="ABB2A2"/>
            </a:solidFill>
            <a:prstDash val="solid"/>
            <a:tailEnd type="triangle"/>
          </a:ln>
        </p:spPr>
      </p:sp>
      <p:sp>
        <p:nvSpPr>
          <p:cNvPr id="18" name="Text 15"/>
          <p:cNvSpPr/>
          <p:nvPr/>
        </p:nvSpPr>
        <p:spPr>
          <a:xfrm>
            <a:off x="9253728" y="3657600"/>
            <a:ext cx="1874520" cy="822960"/>
          </a:xfrm>
          <a:prstGeom prst="rect">
            <a:avLst/>
          </a:prstGeom>
          <a:noFill/>
          <a:ln/>
        </p:spPr>
        <p:txBody>
          <a:bodyPr wrap="square" lIns="0" tIns="0" rIns="0" bIns="0" rtlCol="0" anchor="t"/>
          <a:lstStyle/>
          <a:p>
            <a:pPr indent="0" marL="0">
              <a:buNone/>
            </a:pPr>
            <a:r>
              <a:rPr lang="en-US" sz="5800" b="1" dirty="0">
                <a:solidFill>
                  <a:srgbClr val="C7EF79"/>
                </a:solidFill>
                <a:latin typeface="Calibri" pitchFamily="34" charset="0"/>
                <a:ea typeface="Calibri" pitchFamily="34" charset="-122"/>
                <a:cs typeface="Calibri" pitchFamily="34" charset="-120"/>
              </a:rPr>
              <a:t>200</a:t>
            </a:r>
            <a:endParaRPr lang="en-US" sz="5800" dirty="0"/>
          </a:p>
        </p:txBody>
      </p:sp>
      <p:sp>
        <p:nvSpPr>
          <p:cNvPr id="19" name="Text 16"/>
          <p:cNvSpPr/>
          <p:nvPr/>
        </p:nvSpPr>
        <p:spPr>
          <a:xfrm>
            <a:off x="6473952" y="4919472"/>
            <a:ext cx="457200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Legitimate access preserved</a:t>
            </a:r>
            <a:endParaRPr lang="en-US" sz="1700" dirty="0"/>
          </a:p>
        </p:txBody>
      </p:sp>
      <p:sp>
        <p:nvSpPr>
          <p:cNvPr id="20" name="Text 17"/>
          <p:cNvSpPr/>
          <p:nvPr/>
        </p:nvSpPr>
        <p:spPr>
          <a:xfrm>
            <a:off x="658368" y="5696712"/>
            <a:ext cx="9144000" cy="365760"/>
          </a:xfrm>
          <a:prstGeom prst="rect">
            <a:avLst/>
          </a:prstGeom>
          <a:noFill/>
          <a:ln/>
        </p:spPr>
        <p:txBody>
          <a:bodyPr wrap="square" lIns="0" tIns="0" rIns="0" bIns="0" rtlCol="0" anchor="t"/>
          <a:lstStyle/>
          <a:p>
            <a:pPr indent="0" marL="0">
              <a:buNone/>
            </a:pPr>
            <a:r>
              <a:rPr lang="en-US" sz="2100" b="1" dirty="0">
                <a:solidFill>
                  <a:srgbClr val="F1F1EB"/>
                </a:solidFill>
                <a:latin typeface="Calibri" pitchFamily="34" charset="0"/>
                <a:ea typeface="Calibri" pitchFamily="34" charset="-122"/>
                <a:cs typeface="Calibri" pitchFamily="34" charset="-120"/>
              </a:rPr>
              <a:t>If either check fails, hold the patch.</a:t>
            </a:r>
            <a:endParaRPr lang="en-US" sz="2100" dirty="0"/>
          </a:p>
        </p:txBody>
      </p:sp>
      <p:sp>
        <p:nvSpPr>
          <p:cNvPr id="21" name="Text 18"/>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Illustrative fixture results. This demonstrates a regression workflow, not comprehensive pentesting.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06</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Focus on the last mile of security review.</a:t>
            </a:r>
            <a:endParaRPr lang="en-US" sz="4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881360" cy="2395728"/>
        </p:xfrm>
        <a:graphic>
          <a:graphicData uri="http://schemas.openxmlformats.org/drawingml/2006/table">
            <a:tbl>
              <a:tblPr/>
              <a:tblGrid>
                <a:gridCol w="3383280"/>
                <a:gridCol w="7498080"/>
              </a:tblGrid>
              <a:tr h="466344">
                <a:tc>
                  <a:txBody>
                    <a:bodyPr/>
                    <a:lstStyle/>
                    <a:p>
                      <a:pPr indent="0" marL="0">
                        <a:buNone/>
                      </a:pPr>
                      <a:r>
                        <a:rPr lang="en-US" sz="1800" b="1" dirty="0">
                          <a:solidFill>
                            <a:srgbClr val="20271A"/>
                          </a:solidFill>
                          <a:latin typeface="Calibri" pitchFamily="34" charset="0"/>
                          <a:ea typeface="Calibri" pitchFamily="34" charset="-122"/>
                          <a:cs typeface="Calibri" pitchFamily="34" charset="-120"/>
                        </a:rPr>
                        <a:t>Existing product</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b="1" dirty="0">
                          <a:solidFill>
                            <a:srgbClr val="20271A"/>
                          </a:solidFill>
                          <a:latin typeface="Calibri" pitchFamily="34" charset="0"/>
                          <a:ea typeface="Calibri" pitchFamily="34" charset="-122"/>
                          <a:cs typeface="Calibri" pitchFamily="34" charset="-120"/>
                        </a:rPr>
                        <a:t>Documented capability</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Dependabot</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Dependency security-update PRs</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GitHub Agentic Autofix</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Code fixes, CodeQL rerun, draft PR</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Snyk Agent Fix</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Agentic remediation for code findings</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Aikido Infinite</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Continuous testing, AutoFix, retesting</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bl>
          </a:graphicData>
        </a:graphic>
      </p:graphicFrame>
      <p:sp>
        <p:nvSpPr>
          <p:cNvPr id="7" name="Shape 3"/>
          <p:cNvSpPr/>
          <p:nvPr/>
        </p:nvSpPr>
        <p:spPr>
          <a:xfrm>
            <a:off x="640080" y="4919472"/>
            <a:ext cx="10881360" cy="777240"/>
          </a:xfrm>
          <a:prstGeom prst="rect">
            <a:avLst/>
          </a:prstGeom>
          <a:solidFill>
            <a:srgbClr val="DFE8D3"/>
          </a:solidFill>
          <a:ln w="12700">
            <a:solidFill>
              <a:srgbClr val="DFE8D3"/>
            </a:solidFill>
            <a:prstDash val="solid"/>
          </a:ln>
        </p:spPr>
      </p:sp>
      <p:sp>
        <p:nvSpPr>
          <p:cNvPr id="8" name="Text 4"/>
          <p:cNvSpPr/>
          <p:nvPr/>
        </p:nvSpPr>
        <p:spPr>
          <a:xfrm>
            <a:off x="886968" y="5102352"/>
            <a:ext cx="2834640" cy="365760"/>
          </a:xfrm>
          <a:prstGeom prst="rect">
            <a:avLst/>
          </a:prstGeom>
          <a:noFill/>
          <a:ln/>
        </p:spPr>
        <p:txBody>
          <a:bodyPr wrap="square" lIns="0" tIns="0" rIns="0" bIns="0" rtlCol="0" anchor="t"/>
          <a:lstStyle/>
          <a:p>
            <a:pPr indent="0" marL="0">
              <a:buNone/>
            </a:pPr>
            <a:r>
              <a:rPr lang="en-US" sz="2000" b="1" dirty="0">
                <a:solidFill>
                  <a:srgbClr val="20271A"/>
                </a:solidFill>
                <a:latin typeface="Calibri" pitchFamily="34" charset="0"/>
                <a:ea typeface="Calibri" pitchFamily="34" charset="-122"/>
                <a:cs typeface="Calibri" pitchFamily="34" charset="-120"/>
              </a:rPr>
              <a:t>Our proposed focus</a:t>
            </a:r>
            <a:endParaRPr lang="en-US" sz="2000" dirty="0"/>
          </a:p>
        </p:txBody>
      </p:sp>
      <p:sp>
        <p:nvSpPr>
          <p:cNvPr id="9" name="Text 5"/>
          <p:cNvSpPr/>
          <p:nvPr/>
        </p:nvSpPr>
        <p:spPr>
          <a:xfrm>
            <a:off x="3858768" y="5129784"/>
            <a:ext cx="7269480" cy="365760"/>
          </a:xfrm>
          <a:prstGeom prst="rect">
            <a:avLst/>
          </a:prstGeom>
          <a:noFill/>
          <a:ln/>
        </p:spPr>
        <p:txBody>
          <a:bodyPr wrap="square" lIns="0" tIns="0" rIns="0" bIns="0" rtlCol="0" anchor="t"/>
          <a:lstStyle/>
          <a:p>
            <a:pPr indent="0" marL="0">
              <a:buNone/>
            </a:pPr>
            <a:r>
              <a:rPr lang="en-US" sz="1900" dirty="0">
                <a:solidFill>
                  <a:srgbClr val="20271A"/>
                </a:solidFill>
                <a:latin typeface="Calibri" pitchFamily="34" charset="0"/>
                <a:ea typeface="Calibri" pitchFamily="34" charset="-122"/>
                <a:cs typeface="Calibri" pitchFamily="34" charset="-120"/>
              </a:rPr>
              <a:t>Portable tenant-boundary tests + customer-owned execution</a:t>
            </a:r>
            <a:endParaRPr lang="en-US" sz="1900" dirty="0"/>
          </a:p>
        </p:txBody>
      </p:sp>
      <p:sp>
        <p:nvSpPr>
          <p:cNvPr id="10" name="Text 6"/>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Official vendor descriptions; full source links in notes. Product advantage remains unproven.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07</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Price the outcome. Bound the compute.</a:t>
            </a:r>
            <a:endParaRPr lang="en-US" sz="4000" dirty="0"/>
          </a:p>
        </p:txBody>
      </p:sp>
      <p:sp>
        <p:nvSpPr>
          <p:cNvPr id="6" name="Text 3"/>
          <p:cNvSpPr/>
          <p:nvPr/>
        </p:nvSpPr>
        <p:spPr>
          <a:xfrm>
            <a:off x="640080" y="2075688"/>
            <a:ext cx="5577840" cy="1143000"/>
          </a:xfrm>
          <a:prstGeom prst="rect">
            <a:avLst/>
          </a:prstGeom>
          <a:noFill/>
          <a:ln/>
        </p:spPr>
        <p:txBody>
          <a:bodyPr wrap="square" lIns="0" tIns="0" rIns="0" bIns="0" rtlCol="0" anchor="t"/>
          <a:lstStyle/>
          <a:p>
            <a:pPr indent="0" marL="0">
              <a:buNone/>
            </a:pPr>
            <a:r>
              <a:rPr lang="en-US" sz="7800" b="1" dirty="0">
                <a:solidFill>
                  <a:srgbClr val="C7EF79"/>
                </a:solidFill>
                <a:latin typeface="Calibri" pitchFamily="34" charset="0"/>
                <a:ea typeface="Calibri" pitchFamily="34" charset="-122"/>
                <a:cs typeface="Calibri" pitchFamily="34" charset="-120"/>
              </a:rPr>
              <a:t>₹4,999</a:t>
            </a:r>
            <a:endParaRPr lang="en-US" sz="7800" dirty="0"/>
          </a:p>
        </p:txBody>
      </p:sp>
      <p:sp>
        <p:nvSpPr>
          <p:cNvPr id="7" name="Text 4"/>
          <p:cNvSpPr/>
          <p:nvPr/>
        </p:nvSpPr>
        <p:spPr>
          <a:xfrm>
            <a:off x="685800" y="3337560"/>
            <a:ext cx="4846320" cy="457200"/>
          </a:xfrm>
          <a:prstGeom prst="rect">
            <a:avLst/>
          </a:prstGeom>
          <a:noFill/>
          <a:ln/>
        </p:spPr>
        <p:txBody>
          <a:bodyPr wrap="square" lIns="0" tIns="0" rIns="0" bIns="0" rtlCol="0" anchor="t"/>
          <a:lstStyle/>
          <a:p>
            <a:pPr indent="0" marL="0">
              <a:buNone/>
            </a:pPr>
            <a:r>
              <a:rPr lang="en-US" sz="2500" dirty="0">
                <a:solidFill>
                  <a:srgbClr val="F1F1EB"/>
                </a:solidFill>
                <a:latin typeface="Calibri" pitchFamily="34" charset="0"/>
                <a:ea typeface="Calibri" pitchFamily="34" charset="-122"/>
                <a:cs typeface="Calibri" pitchFamily="34" charset="-120"/>
              </a:rPr>
              <a:t>per workspace / month</a:t>
            </a:r>
            <a:endParaRPr lang="en-US" sz="2500" dirty="0"/>
          </a:p>
        </p:txBody>
      </p:sp>
      <p:sp>
        <p:nvSpPr>
          <p:cNvPr id="8" name="Text 5"/>
          <p:cNvSpPr/>
          <p:nvPr/>
        </p:nvSpPr>
        <p:spPr>
          <a:xfrm>
            <a:off x="685800" y="4160520"/>
            <a:ext cx="4937760" cy="960120"/>
          </a:xfrm>
          <a:prstGeom prst="rect">
            <a:avLst/>
          </a:prstGeom>
          <a:noFill/>
          <a:ln/>
        </p:spPr>
        <p:txBody>
          <a:bodyPr wrap="square" lIns="0" tIns="0" rIns="0" bIns="0" rtlCol="0" anchor="t"/>
          <a:lstStyle/>
          <a:p>
            <a:pPr indent="0" marL="0">
              <a:buNone/>
            </a:pPr>
            <a:r>
              <a:rPr lang="en-US" sz="2200" dirty="0">
                <a:solidFill>
                  <a:srgbClr val="ABB2A2"/>
                </a:solidFill>
                <a:latin typeface="Calibri" pitchFamily="34" charset="0"/>
                <a:ea typeface="Calibri" pitchFamily="34" charset="-122"/>
                <a:cs typeface="Calibri" pitchFamily="34" charset="-120"/>
              </a:rPr>
              <a:t>3 repositories</a:t>
            </a:r>
            <a:endParaRPr lang="en-US" sz="2200" dirty="0"/>
          </a:p>
          <a:p>
            <a:pPr indent="0" marL="0">
              <a:buNone/>
            </a:pPr>
            <a:r>
              <a:rPr lang="en-US" sz="2200" dirty="0">
                <a:solidFill>
                  <a:srgbClr val="ABB2A2"/>
                </a:solidFill>
                <a:latin typeface="Calibri" pitchFamily="34" charset="0"/>
                <a:ea typeface="Calibri" pitchFamily="34" charset="-122"/>
                <a:cs typeface="Calibri" pitchFamily="34" charset="-120"/>
              </a:rPr>
              <a:t>30 bounded validation runs</a:t>
            </a:r>
            <a:endParaRPr lang="en-US" sz="2200" dirty="0"/>
          </a:p>
        </p:txBody>
      </p:sp>
      <p:sp>
        <p:nvSpPr>
          <p:cNvPr id="9" name="Text 6"/>
          <p:cNvSpPr/>
          <p:nvPr/>
        </p:nvSpPr>
        <p:spPr>
          <a:xfrm>
            <a:off x="685800" y="5550408"/>
            <a:ext cx="4846320" cy="365760"/>
          </a:xfrm>
          <a:prstGeom prst="rect">
            <a:avLst/>
          </a:prstGeom>
          <a:noFill/>
          <a:ln/>
        </p:spPr>
        <p:txBody>
          <a:bodyPr wrap="square" lIns="0" tIns="0" rIns="0" bIns="0" rtlCol="0" anchor="t"/>
          <a:lstStyle/>
          <a:p>
            <a:pPr indent="0" marL="0">
              <a:buNone/>
            </a:pPr>
            <a:r>
              <a:rPr lang="en-US" sz="1500" dirty="0">
                <a:solidFill>
                  <a:srgbClr val="ABB2A2"/>
                </a:solidFill>
                <a:latin typeface="Calibri" pitchFamily="34" charset="0"/>
                <a:ea typeface="Calibri" pitchFamily="34" charset="-122"/>
                <a:cs typeface="Calibri" pitchFamily="34" charset="-120"/>
              </a:rPr>
              <a:t>Pricing hypothesis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26480" y="2340864"/>
          <a:ext cx="5404104" cy="2423160"/>
        </p:xfrm>
        <a:graphic>
          <a:graphicData uri="http://schemas.openxmlformats.org/drawingml/2006/table">
            <a:tbl>
              <a:tblPr/>
              <a:tblGrid>
                <a:gridCol w="2606040"/>
                <a:gridCol w="1399032"/>
                <a:gridCol w="1399032"/>
              </a:tblGrid>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Monthly assumption</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Base case</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Cost stress</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Run cost</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₹25</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Total variable cost</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₹1,250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₹3,500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Contribution</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75%</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bl>
          </a:graphicData>
        </a:graphic>
      </p:graphicFrame>
      <p:sp>
        <p:nvSpPr>
          <p:cNvPr id="11" name="Text 7"/>
          <p:cNvSpPr/>
          <p:nvPr/>
        </p:nvSpPr>
        <p:spPr>
          <a:xfrm>
            <a:off x="6291072" y="5074920"/>
            <a:ext cx="502920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30 runs + ₹500 infrastructure</a:t>
            </a:r>
            <a:endParaRPr lang="en-US" sz="1700" dirty="0"/>
          </a:p>
        </p:txBody>
      </p:sp>
      <p:sp>
        <p:nvSpPr>
          <p:cNvPr id="12" name="Text 8"/>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Illustrative economics; excludes support, salaries, tax, payment fees and sales.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08</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Earn three pilots before expanding.</a:t>
            </a:r>
            <a:endParaRPr lang="en-US" sz="4000" dirty="0"/>
          </a:p>
        </p:txBody>
      </p:sp>
      <p:sp>
        <p:nvSpPr>
          <p:cNvPr id="6" name="Text 3"/>
          <p:cNvSpPr/>
          <p:nvPr/>
        </p:nvSpPr>
        <p:spPr>
          <a:xfrm>
            <a:off x="65836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10</a:t>
            </a:r>
            <a:endParaRPr lang="en-US" sz="8400" dirty="0"/>
          </a:p>
        </p:txBody>
      </p:sp>
      <p:sp>
        <p:nvSpPr>
          <p:cNvPr id="7" name="Text 4"/>
          <p:cNvSpPr/>
          <p:nvPr/>
        </p:nvSpPr>
        <p:spPr>
          <a:xfrm>
            <a:off x="65836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Interviews</a:t>
            </a:r>
            <a:endParaRPr lang="en-US" sz="2300" dirty="0"/>
          </a:p>
        </p:txBody>
      </p:sp>
      <p:sp>
        <p:nvSpPr>
          <p:cNvPr id="8" name="Text 5"/>
          <p:cNvSpPr/>
          <p:nvPr/>
        </p:nvSpPr>
        <p:spPr>
          <a:xfrm>
            <a:off x="65836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Understand the last alert</a:t>
            </a:r>
            <a:endParaRPr lang="en-US" sz="1800" dirty="0"/>
          </a:p>
        </p:txBody>
      </p:sp>
      <p:sp>
        <p:nvSpPr>
          <p:cNvPr id="9" name="Shape 6"/>
          <p:cNvSpPr/>
          <p:nvPr/>
        </p:nvSpPr>
        <p:spPr>
          <a:xfrm>
            <a:off x="2907792" y="2743200"/>
            <a:ext cx="320040" cy="0"/>
          </a:xfrm>
          <a:prstGeom prst="line">
            <a:avLst/>
          </a:prstGeom>
          <a:noFill/>
          <a:ln w="17780">
            <a:solidFill>
              <a:srgbClr val="9BA98A"/>
            </a:solidFill>
            <a:prstDash val="solid"/>
            <a:tailEnd type="triangle"/>
          </a:ln>
        </p:spPr>
      </p:sp>
      <p:sp>
        <p:nvSpPr>
          <p:cNvPr id="10" name="Text 7"/>
          <p:cNvSpPr/>
          <p:nvPr/>
        </p:nvSpPr>
        <p:spPr>
          <a:xfrm>
            <a:off x="344728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5</a:t>
            </a:r>
            <a:endParaRPr lang="en-US" sz="8400" dirty="0"/>
          </a:p>
        </p:txBody>
      </p:sp>
      <p:sp>
        <p:nvSpPr>
          <p:cNvPr id="11" name="Text 8"/>
          <p:cNvSpPr/>
          <p:nvPr/>
        </p:nvSpPr>
        <p:spPr>
          <a:xfrm>
            <a:off x="344728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Observations</a:t>
            </a:r>
            <a:endParaRPr lang="en-US" sz="2300" dirty="0"/>
          </a:p>
        </p:txBody>
      </p:sp>
      <p:sp>
        <p:nvSpPr>
          <p:cNvPr id="12" name="Text 9"/>
          <p:cNvSpPr/>
          <p:nvPr/>
        </p:nvSpPr>
        <p:spPr>
          <a:xfrm>
            <a:off x="344728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Watch the real work</a:t>
            </a:r>
            <a:endParaRPr lang="en-US" sz="1800" dirty="0"/>
          </a:p>
        </p:txBody>
      </p:sp>
      <p:sp>
        <p:nvSpPr>
          <p:cNvPr id="13" name="Shape 10"/>
          <p:cNvSpPr/>
          <p:nvPr/>
        </p:nvSpPr>
        <p:spPr>
          <a:xfrm>
            <a:off x="5696712" y="2743200"/>
            <a:ext cx="320040" cy="0"/>
          </a:xfrm>
          <a:prstGeom prst="line">
            <a:avLst/>
          </a:prstGeom>
          <a:noFill/>
          <a:ln w="17780">
            <a:solidFill>
              <a:srgbClr val="9BA98A"/>
            </a:solidFill>
            <a:prstDash val="solid"/>
            <a:tailEnd type="triangle"/>
          </a:ln>
        </p:spPr>
      </p:sp>
      <p:sp>
        <p:nvSpPr>
          <p:cNvPr id="14" name="Text 11"/>
          <p:cNvSpPr/>
          <p:nvPr/>
        </p:nvSpPr>
        <p:spPr>
          <a:xfrm>
            <a:off x="623620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3</a:t>
            </a:r>
            <a:endParaRPr lang="en-US" sz="8400" dirty="0"/>
          </a:p>
        </p:txBody>
      </p:sp>
      <p:sp>
        <p:nvSpPr>
          <p:cNvPr id="15" name="Text 12"/>
          <p:cNvSpPr/>
          <p:nvPr/>
        </p:nvSpPr>
        <p:spPr>
          <a:xfrm>
            <a:off x="623620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Scoped pilots</a:t>
            </a:r>
            <a:endParaRPr lang="en-US" sz="2300" dirty="0"/>
          </a:p>
        </p:txBody>
      </p:sp>
      <p:sp>
        <p:nvSpPr>
          <p:cNvPr id="16" name="Text 13"/>
          <p:cNvSpPr/>
          <p:nvPr/>
        </p:nvSpPr>
        <p:spPr>
          <a:xfrm>
            <a:off x="623620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Use owned fixtures</a:t>
            </a:r>
            <a:endParaRPr lang="en-US" sz="1800" dirty="0"/>
          </a:p>
        </p:txBody>
      </p:sp>
      <p:sp>
        <p:nvSpPr>
          <p:cNvPr id="17" name="Shape 14"/>
          <p:cNvSpPr/>
          <p:nvPr/>
        </p:nvSpPr>
        <p:spPr>
          <a:xfrm>
            <a:off x="8485632" y="2743200"/>
            <a:ext cx="320040" cy="0"/>
          </a:xfrm>
          <a:prstGeom prst="line">
            <a:avLst/>
          </a:prstGeom>
          <a:noFill/>
          <a:ln w="17780">
            <a:solidFill>
              <a:srgbClr val="9BA98A"/>
            </a:solidFill>
            <a:prstDash val="solid"/>
            <a:tailEnd type="triangle"/>
          </a:ln>
        </p:spPr>
      </p:sp>
      <p:sp>
        <p:nvSpPr>
          <p:cNvPr id="18" name="Text 15"/>
          <p:cNvSpPr/>
          <p:nvPr/>
        </p:nvSpPr>
        <p:spPr>
          <a:xfrm>
            <a:off x="902512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2</a:t>
            </a:r>
            <a:endParaRPr lang="en-US" sz="8400" dirty="0"/>
          </a:p>
        </p:txBody>
      </p:sp>
      <p:sp>
        <p:nvSpPr>
          <p:cNvPr id="19" name="Text 16"/>
          <p:cNvSpPr/>
          <p:nvPr/>
        </p:nvSpPr>
        <p:spPr>
          <a:xfrm>
            <a:off x="902512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Paid commitments</a:t>
            </a:r>
            <a:endParaRPr lang="en-US" sz="2300" dirty="0"/>
          </a:p>
        </p:txBody>
      </p:sp>
      <p:sp>
        <p:nvSpPr>
          <p:cNvPr id="20" name="Text 17"/>
          <p:cNvSpPr/>
          <p:nvPr/>
        </p:nvSpPr>
        <p:spPr>
          <a:xfrm>
            <a:off x="902512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Test willingness to pay</a:t>
            </a:r>
            <a:endParaRPr lang="en-US" sz="1800" dirty="0"/>
          </a:p>
        </p:txBody>
      </p:sp>
      <p:sp>
        <p:nvSpPr>
          <p:cNvPr id="21" name="Text 18"/>
          <p:cNvSpPr/>
          <p:nvPr/>
        </p:nvSpPr>
        <p:spPr>
          <a:xfrm>
            <a:off x="685800" y="5559552"/>
            <a:ext cx="10515600" cy="411480"/>
          </a:xfrm>
          <a:prstGeom prst="rect">
            <a:avLst/>
          </a:prstGeom>
          <a:noFill/>
          <a:ln/>
        </p:spPr>
        <p:txBody>
          <a:bodyPr wrap="square" lIns="0" tIns="0" rIns="0" bIns="0" rtlCol="0" anchor="t"/>
          <a:lstStyle/>
          <a:p>
            <a:pPr indent="0" marL="0">
              <a:buNone/>
            </a:pPr>
            <a:r>
              <a:rPr lang="en-US" sz="2300" dirty="0">
                <a:solidFill>
                  <a:srgbClr val="20271A"/>
                </a:solidFill>
                <a:latin typeface="Calibri" pitchFamily="34" charset="0"/>
                <a:ea typeface="Calibri" pitchFamily="34" charset="-122"/>
                <a:cs typeface="Calibri" pitchFamily="34" charset="-120"/>
              </a:rPr>
              <a:t>Start with incubators and SaaS communities.</a:t>
            </a:r>
            <a:endParaRPr lang="en-US" sz="2300" dirty="0"/>
          </a:p>
        </p:txBody>
      </p:sp>
      <p:sp>
        <p:nvSpPr>
          <p:cNvPr id="22" name="Text 19"/>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Proposed validation targets. No interviews, pilots, paid commitments or partnerships have been obtained.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09</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Measure the work a developer gets back.</a:t>
            </a:r>
            <a:endParaRPr lang="en-US" sz="4000" dirty="0"/>
          </a:p>
        </p:txBody>
      </p:sp>
      <p:sp>
        <p:nvSpPr>
          <p:cNvPr id="6" name="Text 3"/>
          <p:cNvSpPr/>
          <p:nvPr/>
        </p:nvSpPr>
        <p:spPr>
          <a:xfrm>
            <a:off x="658368" y="2084832"/>
            <a:ext cx="4800600" cy="1463040"/>
          </a:xfrm>
          <a:prstGeom prst="rect">
            <a:avLst/>
          </a:prstGeom>
          <a:noFill/>
          <a:ln/>
        </p:spPr>
        <p:txBody>
          <a:bodyPr wrap="square" lIns="0" tIns="0" rIns="0" bIns="0" rtlCol="0" anchor="t"/>
          <a:lstStyle/>
          <a:p>
            <a:pPr indent="0" marL="0">
              <a:buNone/>
            </a:pPr>
            <a:r>
              <a:rPr lang="en-US" sz="9800" b="1" dirty="0">
                <a:solidFill>
                  <a:srgbClr val="C7EF79"/>
                </a:solidFill>
                <a:latin typeface="Calibri" pitchFamily="34" charset="0"/>
                <a:ea typeface="Calibri" pitchFamily="34" charset="-122"/>
                <a:cs typeface="Calibri" pitchFamily="34" charset="-120"/>
              </a:rPr>
              <a:t>30%</a:t>
            </a:r>
            <a:endParaRPr lang="en-US" sz="9800" dirty="0"/>
          </a:p>
        </p:txBody>
      </p:sp>
      <p:sp>
        <p:nvSpPr>
          <p:cNvPr id="7" name="Text 4"/>
          <p:cNvSpPr/>
          <p:nvPr/>
        </p:nvSpPr>
        <p:spPr>
          <a:xfrm>
            <a:off x="731520" y="3657600"/>
            <a:ext cx="4663440" cy="777240"/>
          </a:xfrm>
          <a:prstGeom prst="rect">
            <a:avLst/>
          </a:prstGeom>
          <a:noFill/>
          <a:ln/>
        </p:spPr>
        <p:txBody>
          <a:bodyPr wrap="square" lIns="0" tIns="0" rIns="0" bIns="0" rtlCol="0" anchor="t"/>
          <a:lstStyle/>
          <a:p>
            <a:pPr indent="0" marL="0">
              <a:buNone/>
            </a:pPr>
            <a:r>
              <a:rPr lang="en-US" sz="2800" b="1" dirty="0">
                <a:solidFill>
                  <a:srgbClr val="F1F1EB"/>
                </a:solidFill>
                <a:latin typeface="Calibri" pitchFamily="34" charset="0"/>
                <a:ea typeface="Calibri" pitchFamily="34" charset="-122"/>
                <a:cs typeface="Calibri" pitchFamily="34" charset="-120"/>
              </a:rPr>
              <a:t>less active remediation time</a:t>
            </a:r>
            <a:endParaRPr lang="en-US" sz="2800" dirty="0"/>
          </a:p>
        </p:txBody>
      </p:sp>
      <p:sp>
        <p:nvSpPr>
          <p:cNvPr id="8" name="Text 5"/>
          <p:cNvSpPr/>
          <p:nvPr/>
        </p:nvSpPr>
        <p:spPr>
          <a:xfrm>
            <a:off x="731520" y="4709160"/>
            <a:ext cx="4709160" cy="8686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Target on matched pilot tasks.</a:t>
            </a:r>
            <a:endParaRPr lang="en-US" sz="1900" dirty="0"/>
          </a:p>
          <a:p>
            <a:pPr indent="0" marL="0">
              <a:buNone/>
            </a:pPr>
            <a:r>
              <a:rPr lang="en-US" sz="1900" dirty="0">
                <a:solidFill>
                  <a:srgbClr val="ABB2A2"/>
                </a:solidFill>
                <a:latin typeface="Calibri" pitchFamily="34" charset="0"/>
                <a:ea typeface="Calibri" pitchFamily="34" charset="-122"/>
                <a:cs typeface="Calibri" pitchFamily="34" charset="-120"/>
              </a:rPr>
              <a:t>Benchmark against the current workflow.</a:t>
            </a:r>
            <a:endParaRPr lang="en-US" sz="1900" dirty="0"/>
          </a:p>
        </p:txBody>
      </p:sp>
      <p:sp>
        <p:nvSpPr>
          <p:cNvPr id="9" name="Shape 6"/>
          <p:cNvSpPr/>
          <p:nvPr/>
        </p:nvSpPr>
        <p:spPr>
          <a:xfrm>
            <a:off x="5669280" y="2322576"/>
            <a:ext cx="0" cy="3291840"/>
          </a:xfrm>
          <a:prstGeom prst="line">
            <a:avLst/>
          </a:prstGeom>
          <a:noFill/>
          <a:ln w="12700">
            <a:solidFill>
              <a:srgbClr val="3D4633"/>
            </a:solidFill>
            <a:prstDash val="solid"/>
          </a:ln>
        </p:spPr>
      </p:sp>
      <p:sp>
        <p:nvSpPr>
          <p:cNvPr id="10" name="Text 7"/>
          <p:cNvSpPr/>
          <p:nvPr/>
        </p:nvSpPr>
        <p:spPr>
          <a:xfrm>
            <a:off x="6263640" y="2386584"/>
            <a:ext cx="4937760" cy="457200"/>
          </a:xfrm>
          <a:prstGeom prst="rect">
            <a:avLst/>
          </a:prstGeom>
          <a:noFill/>
          <a:ln/>
        </p:spPr>
        <p:txBody>
          <a:bodyPr wrap="square" lIns="0" tIns="0" rIns="0" bIns="0" rtlCol="0" anchor="t"/>
          <a:lstStyle/>
          <a:p>
            <a:pPr indent="0" marL="0">
              <a:buNone/>
            </a:pPr>
            <a:r>
              <a:rPr lang="en-US" sz="2700" b="1" dirty="0">
                <a:solidFill>
                  <a:srgbClr val="F1F1EB"/>
                </a:solidFill>
                <a:latin typeface="Calibri" pitchFamily="34" charset="0"/>
                <a:ea typeface="Calibri" pitchFamily="34" charset="-122"/>
                <a:cs typeface="Calibri" pitchFamily="34" charset="-120"/>
              </a:rPr>
              <a:t>Trust before scale</a:t>
            </a:r>
            <a:endParaRPr lang="en-US" sz="2700" dirty="0"/>
          </a:p>
        </p:txBody>
      </p:sp>
      <p:sp>
        <p:nvSpPr>
          <p:cNvPr id="11" name="Shape 8"/>
          <p:cNvSpPr/>
          <p:nvPr/>
        </p:nvSpPr>
        <p:spPr>
          <a:xfrm>
            <a:off x="6309360" y="3383280"/>
            <a:ext cx="82296" cy="82296"/>
          </a:xfrm>
          <a:prstGeom prst="line">
            <a:avLst/>
          </a:prstGeom>
          <a:noFill/>
          <a:ln w="25400">
            <a:solidFill>
              <a:srgbClr val="C7EF79"/>
            </a:solidFill>
            <a:prstDash val="solid"/>
          </a:ln>
        </p:spPr>
      </p:sp>
      <p:sp>
        <p:nvSpPr>
          <p:cNvPr id="12" name="Shape 9"/>
          <p:cNvSpPr/>
          <p:nvPr/>
        </p:nvSpPr>
        <p:spPr>
          <a:xfrm flipV="1">
            <a:off x="6391656" y="3236976"/>
            <a:ext cx="182880" cy="228600"/>
          </a:xfrm>
          <a:prstGeom prst="line">
            <a:avLst/>
          </a:prstGeom>
          <a:noFill/>
          <a:ln w="25400">
            <a:solidFill>
              <a:srgbClr val="C7EF79"/>
            </a:solidFill>
            <a:prstDash val="solid"/>
          </a:ln>
        </p:spPr>
      </p:sp>
      <p:sp>
        <p:nvSpPr>
          <p:cNvPr id="13" name="Text 10"/>
          <p:cNvSpPr/>
          <p:nvPr/>
        </p:nvSpPr>
        <p:spPr>
          <a:xfrm>
            <a:off x="6748272" y="3218688"/>
            <a:ext cx="438912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No bad-patch promotion on the controlled benchmark</a:t>
            </a:r>
            <a:endParaRPr lang="en-US" sz="1900" dirty="0"/>
          </a:p>
        </p:txBody>
      </p:sp>
      <p:sp>
        <p:nvSpPr>
          <p:cNvPr id="14" name="Shape 11"/>
          <p:cNvSpPr/>
          <p:nvPr/>
        </p:nvSpPr>
        <p:spPr>
          <a:xfrm>
            <a:off x="6309360" y="4041648"/>
            <a:ext cx="82296" cy="82296"/>
          </a:xfrm>
          <a:prstGeom prst="line">
            <a:avLst/>
          </a:prstGeom>
          <a:noFill/>
          <a:ln w="25400">
            <a:solidFill>
              <a:srgbClr val="C7EF79"/>
            </a:solidFill>
            <a:prstDash val="solid"/>
          </a:ln>
        </p:spPr>
      </p:sp>
      <p:sp>
        <p:nvSpPr>
          <p:cNvPr id="15" name="Shape 12"/>
          <p:cNvSpPr/>
          <p:nvPr/>
        </p:nvSpPr>
        <p:spPr>
          <a:xfrm flipV="1">
            <a:off x="6391656" y="3895344"/>
            <a:ext cx="182880" cy="228600"/>
          </a:xfrm>
          <a:prstGeom prst="line">
            <a:avLst/>
          </a:prstGeom>
          <a:noFill/>
          <a:ln w="25400">
            <a:solidFill>
              <a:srgbClr val="C7EF79"/>
            </a:solidFill>
            <a:prstDash val="solid"/>
          </a:ln>
        </p:spPr>
      </p:sp>
      <p:sp>
        <p:nvSpPr>
          <p:cNvPr id="16" name="Text 13"/>
          <p:cNvSpPr/>
          <p:nvPr/>
        </p:nvSpPr>
        <p:spPr>
          <a:xfrm>
            <a:off x="6748272" y="3877056"/>
            <a:ext cx="438912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Evidence a reviewer can replay</a:t>
            </a:r>
            <a:endParaRPr lang="en-US" sz="1900" dirty="0"/>
          </a:p>
        </p:txBody>
      </p:sp>
      <p:sp>
        <p:nvSpPr>
          <p:cNvPr id="17" name="Shape 14"/>
          <p:cNvSpPr/>
          <p:nvPr/>
        </p:nvSpPr>
        <p:spPr>
          <a:xfrm>
            <a:off x="6309360" y="4700016"/>
            <a:ext cx="82296" cy="82296"/>
          </a:xfrm>
          <a:prstGeom prst="line">
            <a:avLst/>
          </a:prstGeom>
          <a:noFill/>
          <a:ln w="25400">
            <a:solidFill>
              <a:srgbClr val="C7EF79"/>
            </a:solidFill>
            <a:prstDash val="solid"/>
          </a:ln>
        </p:spPr>
      </p:sp>
      <p:sp>
        <p:nvSpPr>
          <p:cNvPr id="18" name="Shape 15"/>
          <p:cNvSpPr/>
          <p:nvPr/>
        </p:nvSpPr>
        <p:spPr>
          <a:xfrm flipV="1">
            <a:off x="6391656" y="4553712"/>
            <a:ext cx="182880" cy="228600"/>
          </a:xfrm>
          <a:prstGeom prst="line">
            <a:avLst/>
          </a:prstGeom>
          <a:noFill/>
          <a:ln w="25400">
            <a:solidFill>
              <a:srgbClr val="C7EF79"/>
            </a:solidFill>
            <a:prstDash val="solid"/>
          </a:ln>
        </p:spPr>
      </p:sp>
      <p:sp>
        <p:nvSpPr>
          <p:cNvPr id="19" name="Text 16"/>
          <p:cNvSpPr/>
          <p:nvPr/>
        </p:nvSpPr>
        <p:spPr>
          <a:xfrm>
            <a:off x="6748272" y="4535424"/>
            <a:ext cx="438912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Costs measured with retries included</a:t>
            </a:r>
            <a:endParaRPr lang="en-US" sz="1900" dirty="0"/>
          </a:p>
        </p:txBody>
      </p:sp>
      <p:sp>
        <p:nvSpPr>
          <p:cNvPr id="20" name="Text 17"/>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Targets, not results. Scenario: 100 workspaces × ₹4,999 × 12 = ₹59.988 lakh annual revenue; not market size.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10</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The workflow is ready to demonstrate.</a:t>
            </a:r>
            <a:endParaRPr lang="en-US" sz="4000" dirty="0"/>
          </a:p>
        </p:txBody>
      </p:sp>
      <p:pic>
        <p:nvPicPr>
          <p:cNvPr id="6" name="Image 0" descr="D:/ProofPatch/design/orchestration-desktop-flow.png">    </p:cNvPr>
          <p:cNvPicPr>
            <a:picLocks noChangeAspect="1"/>
          </p:cNvPicPr>
          <p:nvPr/>
        </p:nvPicPr>
        <p:blipFill>
          <a:blip r:embed="rId1"/>
          <a:stretch>
            <a:fillRect/>
          </a:stretch>
        </p:blipFill>
        <p:spPr>
          <a:xfrm>
            <a:off x="658368" y="2313432"/>
            <a:ext cx="7040880" cy="3493008"/>
          </a:xfrm>
          <a:prstGeom prst="rect">
            <a:avLst/>
          </a:prstGeom>
        </p:spPr>
      </p:pic>
      <p:sp>
        <p:nvSpPr>
          <p:cNvPr id="7" name="Text 3"/>
          <p:cNvSpPr/>
          <p:nvPr/>
        </p:nvSpPr>
        <p:spPr>
          <a:xfrm>
            <a:off x="8366760" y="2176272"/>
            <a:ext cx="3108960" cy="621792"/>
          </a:xfrm>
          <a:prstGeom prst="rect">
            <a:avLst/>
          </a:prstGeom>
          <a:noFill/>
          <a:ln/>
        </p:spPr>
        <p:txBody>
          <a:bodyPr wrap="square" lIns="0" tIns="0" rIns="0" bIns="0" rtlCol="0" anchor="t"/>
          <a:lstStyle/>
          <a:p>
            <a:pPr indent="0" marL="0">
              <a:buNone/>
            </a:pPr>
            <a:r>
              <a:rPr lang="en-US" sz="2500" b="1" dirty="0">
                <a:solidFill>
                  <a:srgbClr val="C7EF79"/>
                </a:solidFill>
                <a:latin typeface="Calibri" pitchFamily="34" charset="0"/>
                <a:ea typeface="Calibri" pitchFamily="34" charset="-122"/>
                <a:cs typeface="Calibri" pitchFamily="34" charset="-120"/>
              </a:rPr>
              <a:t>Built for Checkpoint 1</a:t>
            </a:r>
            <a:endParaRPr lang="en-US" sz="2500" dirty="0"/>
          </a:p>
        </p:txBody>
      </p:sp>
      <p:sp>
        <p:nvSpPr>
          <p:cNvPr id="8" name="Text 4"/>
          <p:cNvSpPr/>
          <p:nvPr/>
        </p:nvSpPr>
        <p:spPr>
          <a:xfrm>
            <a:off x="8366760" y="2971800"/>
            <a:ext cx="3108960" cy="1143000"/>
          </a:xfrm>
          <a:prstGeom prst="rect">
            <a:avLst/>
          </a:prstGeom>
          <a:noFill/>
          <a:ln/>
        </p:spPr>
        <p:txBody>
          <a:bodyPr wrap="square" lIns="0" tIns="0" rIns="0" bIns="0" rtlCol="0" anchor="t"/>
          <a:lstStyle/>
          <a:p>
            <a:pPr indent="0" marL="0">
              <a:buNone/>
            </a:pPr>
            <a:r>
              <a:rPr lang="en-US" sz="1800" dirty="0">
                <a:solidFill>
                  <a:srgbClr val="F1F1EB"/>
                </a:solidFill>
                <a:latin typeface="Calibri" pitchFamily="34" charset="0"/>
                <a:ea typeface="Calibri" pitchFamily="34" charset="-122"/>
                <a:cs typeface="Calibri" pitchFamily="34" charset="-120"/>
              </a:rPr>
              <a:t>React Flow agent diagram</a:t>
            </a:r>
            <a:endParaRPr lang="en-US" sz="1800" dirty="0"/>
          </a:p>
          <a:p>
            <a:pPr indent="0" marL="0">
              <a:buNone/>
            </a:pPr>
            <a:r>
              <a:rPr lang="en-US" sz="1800" dirty="0">
                <a:solidFill>
                  <a:srgbClr val="F1F1EB"/>
                </a:solidFill>
                <a:latin typeface="Calibri" pitchFamily="34" charset="0"/>
                <a:ea typeface="Calibri" pitchFamily="34" charset="-122"/>
                <a:cs typeface="Calibri" pitchFamily="34" charset="-120"/>
              </a:rPr>
              <a:t>Blocked regression path</a:t>
            </a:r>
            <a:endParaRPr lang="en-US" sz="1800" dirty="0"/>
          </a:p>
          <a:p>
            <a:pPr indent="0" marL="0">
              <a:buNone/>
            </a:pPr>
            <a:r>
              <a:rPr lang="en-US" sz="1800" dirty="0">
                <a:solidFill>
                  <a:srgbClr val="F1F1EB"/>
                </a:solidFill>
                <a:latin typeface="Calibri" pitchFamily="34" charset="0"/>
                <a:ea typeface="Calibri" pitchFamily="34" charset="-122"/>
                <a:cs typeface="Calibri" pitchFamily="34" charset="-120"/>
              </a:rPr>
              <a:t>Review + trace export</a:t>
            </a:r>
            <a:endParaRPr lang="en-US" sz="1800" dirty="0"/>
          </a:p>
        </p:txBody>
      </p:sp>
      <p:sp>
        <p:nvSpPr>
          <p:cNvPr id="9" name="Text 5"/>
          <p:cNvSpPr/>
          <p:nvPr/>
        </p:nvSpPr>
        <p:spPr>
          <a:xfrm>
            <a:off x="8366760" y="4553712"/>
            <a:ext cx="3108960" cy="457200"/>
          </a:xfrm>
          <a:prstGeom prst="rect">
            <a:avLst/>
          </a:prstGeom>
          <a:noFill/>
          <a:ln/>
        </p:spPr>
        <p:txBody>
          <a:bodyPr wrap="square" lIns="0" tIns="0" rIns="0" bIns="0" rtlCol="0" anchor="t"/>
          <a:lstStyle/>
          <a:p>
            <a:pPr indent="0" marL="0">
              <a:buNone/>
            </a:pPr>
            <a:r>
              <a:rPr lang="en-US" sz="2300" b="1" dirty="0">
                <a:solidFill>
                  <a:srgbClr val="F1F1EB"/>
                </a:solidFill>
                <a:latin typeface="Calibri" pitchFamily="34" charset="0"/>
                <a:ea typeface="Calibri" pitchFamily="34" charset="-122"/>
                <a:cs typeface="Calibri" pitchFamily="34" charset="-120"/>
              </a:rPr>
              <a:t>Next: one real loop</a:t>
            </a:r>
            <a:endParaRPr lang="en-US" sz="2300" dirty="0"/>
          </a:p>
        </p:txBody>
      </p:sp>
      <p:sp>
        <p:nvSpPr>
          <p:cNvPr id="10" name="Text 6"/>
          <p:cNvSpPr/>
          <p:nvPr/>
        </p:nvSpPr>
        <p:spPr>
          <a:xfrm>
            <a:off x="8366760" y="5184648"/>
            <a:ext cx="3108960" cy="77724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Scanner → isolated fixture</a:t>
            </a:r>
            <a:endParaRPr lang="en-US" sz="1700" dirty="0"/>
          </a:p>
          <a:p>
            <a:pPr indent="0" marL="0">
              <a:buNone/>
            </a:pPr>
            <a:r>
              <a:rPr lang="en-US" sz="1700" dirty="0">
                <a:solidFill>
                  <a:srgbClr val="ABB2A2"/>
                </a:solidFill>
                <a:latin typeface="Calibri" pitchFamily="34" charset="0"/>
                <a:ea typeface="Calibri" pitchFamily="34" charset="-122"/>
                <a:cs typeface="Calibri" pitchFamily="34" charset="-120"/>
              </a:rPr>
              <a:t>→ tested patch → draft PR</a:t>
            </a:r>
            <a:endParaRPr lang="en-US" sz="1700" dirty="0"/>
          </a:p>
        </p:txBody>
      </p:sp>
      <p:sp>
        <p:nvSpPr>
          <p:cNvPr id="11" name="Text 7"/>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Four-member team. Current outcomes are synthetic. The 48-hour MVP window remains provisional.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11</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Keep execution inside a bounded runner.</a:t>
            </a:r>
            <a:endParaRPr lang="en-US" sz="4000" dirty="0"/>
          </a:p>
        </p:txBody>
      </p:sp>
      <p:sp>
        <p:nvSpPr>
          <p:cNvPr id="6" name="Shape 3"/>
          <p:cNvSpPr/>
          <p:nvPr/>
        </p:nvSpPr>
        <p:spPr>
          <a:xfrm>
            <a:off x="685800" y="2286000"/>
            <a:ext cx="3246120" cy="1097280"/>
          </a:xfrm>
          <a:prstGeom prst="rect">
            <a:avLst/>
          </a:prstGeom>
          <a:solidFill>
            <a:srgbClr val="22271D"/>
          </a:solidFill>
          <a:ln w="12700">
            <a:solidFill>
              <a:srgbClr val="22271D"/>
            </a:solidFill>
            <a:prstDash val="solid"/>
          </a:ln>
        </p:spPr>
      </p:sp>
      <p:sp>
        <p:nvSpPr>
          <p:cNvPr id="7" name="Text 4"/>
          <p:cNvSpPr/>
          <p:nvPr/>
        </p:nvSpPr>
        <p:spPr>
          <a:xfrm>
            <a:off x="886968" y="2487168"/>
            <a:ext cx="2788920" cy="36576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Reviewer</a:t>
            </a:r>
            <a:endParaRPr lang="en-US" sz="2500" dirty="0"/>
          </a:p>
        </p:txBody>
      </p:sp>
      <p:sp>
        <p:nvSpPr>
          <p:cNvPr id="8" name="Text 5"/>
          <p:cNvSpPr/>
          <p:nvPr/>
        </p:nvSpPr>
        <p:spPr>
          <a:xfrm>
            <a:off x="886968" y="2971800"/>
            <a:ext cx="2788920" cy="274320"/>
          </a:xfrm>
          <a:prstGeom prst="rect">
            <a:avLst/>
          </a:prstGeom>
          <a:noFill/>
          <a:ln/>
        </p:spPr>
        <p:txBody>
          <a:bodyPr wrap="square" lIns="0" tIns="0" rIns="0" bIns="0" rtlCol="0" anchor="t"/>
          <a:lstStyle/>
          <a:p>
            <a:pPr indent="0" marL="0">
              <a:buNone/>
            </a:pPr>
            <a:r>
              <a:rPr lang="en-US" sz="1600" dirty="0">
                <a:solidFill>
                  <a:srgbClr val="ABB2A2"/>
                </a:solidFill>
                <a:latin typeface="Calibri" pitchFamily="34" charset="0"/>
                <a:ea typeface="Calibri" pitchFamily="34" charset="-122"/>
                <a:cs typeface="Calibri" pitchFamily="34" charset="-120"/>
              </a:rPr>
              <a:t>Next.js UI</a:t>
            </a:r>
            <a:endParaRPr lang="en-US" sz="1600" dirty="0"/>
          </a:p>
        </p:txBody>
      </p:sp>
      <p:sp>
        <p:nvSpPr>
          <p:cNvPr id="9" name="Shape 6"/>
          <p:cNvSpPr/>
          <p:nvPr/>
        </p:nvSpPr>
        <p:spPr>
          <a:xfrm>
            <a:off x="4023360" y="2834640"/>
            <a:ext cx="320040" cy="0"/>
          </a:xfrm>
          <a:prstGeom prst="line">
            <a:avLst/>
          </a:prstGeom>
          <a:noFill/>
          <a:ln w="19050">
            <a:solidFill>
              <a:srgbClr val="C7EF79"/>
            </a:solidFill>
            <a:prstDash val="solid"/>
            <a:tailEnd type="triangle"/>
          </a:ln>
        </p:spPr>
      </p:sp>
      <p:sp>
        <p:nvSpPr>
          <p:cNvPr id="10" name="Shape 7"/>
          <p:cNvSpPr/>
          <p:nvPr/>
        </p:nvSpPr>
        <p:spPr>
          <a:xfrm>
            <a:off x="4453128" y="2286000"/>
            <a:ext cx="3246120" cy="1097280"/>
          </a:xfrm>
          <a:prstGeom prst="rect">
            <a:avLst/>
          </a:prstGeom>
          <a:solidFill>
            <a:srgbClr val="22271D"/>
          </a:solidFill>
          <a:ln w="12700">
            <a:solidFill>
              <a:srgbClr val="22271D"/>
            </a:solidFill>
            <a:prstDash val="solid"/>
          </a:ln>
        </p:spPr>
      </p:sp>
      <p:sp>
        <p:nvSpPr>
          <p:cNvPr id="11" name="Text 8"/>
          <p:cNvSpPr/>
          <p:nvPr/>
        </p:nvSpPr>
        <p:spPr>
          <a:xfrm>
            <a:off x="4654296" y="2487168"/>
            <a:ext cx="2788920" cy="36576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Orchestrator</a:t>
            </a:r>
            <a:endParaRPr lang="en-US" sz="2500" dirty="0"/>
          </a:p>
        </p:txBody>
      </p:sp>
      <p:sp>
        <p:nvSpPr>
          <p:cNvPr id="12" name="Text 9"/>
          <p:cNvSpPr/>
          <p:nvPr/>
        </p:nvSpPr>
        <p:spPr>
          <a:xfrm>
            <a:off x="4654296" y="2971800"/>
            <a:ext cx="2788920" cy="274320"/>
          </a:xfrm>
          <a:prstGeom prst="rect">
            <a:avLst/>
          </a:prstGeom>
          <a:noFill/>
          <a:ln/>
        </p:spPr>
        <p:txBody>
          <a:bodyPr wrap="square" lIns="0" tIns="0" rIns="0" bIns="0" rtlCol="0" anchor="t"/>
          <a:lstStyle/>
          <a:p>
            <a:pPr indent="0" marL="0">
              <a:buNone/>
            </a:pPr>
            <a:r>
              <a:rPr lang="en-US" sz="1600" dirty="0">
                <a:solidFill>
                  <a:srgbClr val="ABB2A2"/>
                </a:solidFill>
                <a:latin typeface="Calibri" pitchFamily="34" charset="0"/>
                <a:ea typeface="Calibri" pitchFamily="34" charset="-122"/>
                <a:cs typeface="Calibri" pitchFamily="34" charset="-120"/>
              </a:rPr>
              <a:t>Hono + bounded jobs</a:t>
            </a:r>
            <a:endParaRPr lang="en-US" sz="1600" dirty="0"/>
          </a:p>
        </p:txBody>
      </p:sp>
      <p:sp>
        <p:nvSpPr>
          <p:cNvPr id="13" name="Shape 10"/>
          <p:cNvSpPr/>
          <p:nvPr/>
        </p:nvSpPr>
        <p:spPr>
          <a:xfrm>
            <a:off x="7790688" y="2834640"/>
            <a:ext cx="320040" cy="0"/>
          </a:xfrm>
          <a:prstGeom prst="line">
            <a:avLst/>
          </a:prstGeom>
          <a:noFill/>
          <a:ln w="19050">
            <a:solidFill>
              <a:srgbClr val="C7EF79"/>
            </a:solidFill>
            <a:prstDash val="solid"/>
            <a:tailEnd type="triangle"/>
          </a:ln>
        </p:spPr>
      </p:sp>
      <p:sp>
        <p:nvSpPr>
          <p:cNvPr id="14" name="Shape 11"/>
          <p:cNvSpPr/>
          <p:nvPr/>
        </p:nvSpPr>
        <p:spPr>
          <a:xfrm>
            <a:off x="8220456" y="2286000"/>
            <a:ext cx="3246120" cy="1097280"/>
          </a:xfrm>
          <a:prstGeom prst="rect">
            <a:avLst/>
          </a:prstGeom>
          <a:solidFill>
            <a:srgbClr val="22271D"/>
          </a:solidFill>
          <a:ln w="12700">
            <a:solidFill>
              <a:srgbClr val="22271D"/>
            </a:solidFill>
            <a:prstDash val="solid"/>
          </a:ln>
        </p:spPr>
      </p:sp>
      <p:sp>
        <p:nvSpPr>
          <p:cNvPr id="15" name="Text 12"/>
          <p:cNvSpPr/>
          <p:nvPr/>
        </p:nvSpPr>
        <p:spPr>
          <a:xfrm>
            <a:off x="8421624" y="2487168"/>
            <a:ext cx="2788920" cy="36576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Runner</a:t>
            </a:r>
            <a:endParaRPr lang="en-US" sz="2500" dirty="0"/>
          </a:p>
        </p:txBody>
      </p:sp>
      <p:sp>
        <p:nvSpPr>
          <p:cNvPr id="16" name="Text 13"/>
          <p:cNvSpPr/>
          <p:nvPr/>
        </p:nvSpPr>
        <p:spPr>
          <a:xfrm>
            <a:off x="8421624" y="2971800"/>
            <a:ext cx="2788920" cy="274320"/>
          </a:xfrm>
          <a:prstGeom prst="rect">
            <a:avLst/>
          </a:prstGeom>
          <a:noFill/>
          <a:ln/>
        </p:spPr>
        <p:txBody>
          <a:bodyPr wrap="square" lIns="0" tIns="0" rIns="0" bIns="0" rtlCol="0" anchor="t"/>
          <a:lstStyle/>
          <a:p>
            <a:pPr indent="0" marL="0">
              <a:buNone/>
            </a:pPr>
            <a:r>
              <a:rPr lang="en-US" sz="1600" dirty="0">
                <a:solidFill>
                  <a:srgbClr val="ABB2A2"/>
                </a:solidFill>
                <a:latin typeface="Calibri" pitchFamily="34" charset="0"/>
                <a:ea typeface="Calibri" pitchFamily="34" charset="-122"/>
                <a:cs typeface="Calibri" pitchFamily="34" charset="-120"/>
              </a:rPr>
              <a:t>Customer-owned fixture</a:t>
            </a:r>
            <a:endParaRPr lang="en-US" sz="1600" dirty="0"/>
          </a:p>
        </p:txBody>
      </p:sp>
      <p:sp>
        <p:nvSpPr>
          <p:cNvPr id="17" name="Shape 14"/>
          <p:cNvSpPr/>
          <p:nvPr/>
        </p:nvSpPr>
        <p:spPr>
          <a:xfrm>
            <a:off x="731520" y="4142232"/>
            <a:ext cx="201168" cy="201168"/>
          </a:xfrm>
          <a:prstGeom prst="ellipse">
            <a:avLst/>
          </a:prstGeom>
          <a:solidFill>
            <a:srgbClr val="C7EF79"/>
          </a:solidFill>
          <a:ln w="12700">
            <a:solidFill>
              <a:srgbClr val="C7EF79"/>
            </a:solidFill>
            <a:prstDash val="solid"/>
          </a:ln>
        </p:spPr>
      </p:sp>
      <p:sp>
        <p:nvSpPr>
          <p:cNvPr id="18" name="Text 15"/>
          <p:cNvSpPr/>
          <p:nvPr/>
        </p:nvSpPr>
        <p:spPr>
          <a:xfrm>
            <a:off x="731520"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Pinned commits</a:t>
            </a:r>
            <a:endParaRPr lang="en-US" sz="1900" dirty="0"/>
          </a:p>
        </p:txBody>
      </p:sp>
      <p:sp>
        <p:nvSpPr>
          <p:cNvPr id="19" name="Shape 16"/>
          <p:cNvSpPr/>
          <p:nvPr/>
        </p:nvSpPr>
        <p:spPr>
          <a:xfrm>
            <a:off x="2999232" y="4142232"/>
            <a:ext cx="201168" cy="201168"/>
          </a:xfrm>
          <a:prstGeom prst="ellipse">
            <a:avLst/>
          </a:prstGeom>
          <a:solidFill>
            <a:srgbClr val="C7EF79"/>
          </a:solidFill>
          <a:ln w="12700">
            <a:solidFill>
              <a:srgbClr val="C7EF79"/>
            </a:solidFill>
            <a:prstDash val="solid"/>
          </a:ln>
        </p:spPr>
      </p:sp>
      <p:sp>
        <p:nvSpPr>
          <p:cNvPr id="20" name="Text 17"/>
          <p:cNvSpPr/>
          <p:nvPr/>
        </p:nvSpPr>
        <p:spPr>
          <a:xfrm>
            <a:off x="2999232"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Frozen test identity</a:t>
            </a:r>
            <a:endParaRPr lang="en-US" sz="1900" dirty="0"/>
          </a:p>
        </p:txBody>
      </p:sp>
      <p:sp>
        <p:nvSpPr>
          <p:cNvPr id="21" name="Shape 18"/>
          <p:cNvSpPr/>
          <p:nvPr/>
        </p:nvSpPr>
        <p:spPr>
          <a:xfrm>
            <a:off x="5266944" y="4142232"/>
            <a:ext cx="201168" cy="201168"/>
          </a:xfrm>
          <a:prstGeom prst="ellipse">
            <a:avLst/>
          </a:prstGeom>
          <a:solidFill>
            <a:srgbClr val="C7EF79"/>
          </a:solidFill>
          <a:ln w="12700">
            <a:solidFill>
              <a:srgbClr val="C7EF79"/>
            </a:solidFill>
            <a:prstDash val="solid"/>
          </a:ln>
        </p:spPr>
      </p:sp>
      <p:sp>
        <p:nvSpPr>
          <p:cNvPr id="22" name="Text 19"/>
          <p:cNvSpPr/>
          <p:nvPr/>
        </p:nvSpPr>
        <p:spPr>
          <a:xfrm>
            <a:off x="5266944"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Scoped tokens</a:t>
            </a:r>
            <a:endParaRPr lang="en-US" sz="1900" dirty="0"/>
          </a:p>
        </p:txBody>
      </p:sp>
      <p:sp>
        <p:nvSpPr>
          <p:cNvPr id="23" name="Shape 20"/>
          <p:cNvSpPr/>
          <p:nvPr/>
        </p:nvSpPr>
        <p:spPr>
          <a:xfrm>
            <a:off x="7534656" y="4142232"/>
            <a:ext cx="201168" cy="201168"/>
          </a:xfrm>
          <a:prstGeom prst="ellipse">
            <a:avLst/>
          </a:prstGeom>
          <a:solidFill>
            <a:srgbClr val="C7EF79"/>
          </a:solidFill>
          <a:ln w="12700">
            <a:solidFill>
              <a:srgbClr val="C7EF79"/>
            </a:solidFill>
            <a:prstDash val="solid"/>
          </a:ln>
        </p:spPr>
      </p:sp>
      <p:sp>
        <p:nvSpPr>
          <p:cNvPr id="24" name="Text 21"/>
          <p:cNvSpPr/>
          <p:nvPr/>
        </p:nvSpPr>
        <p:spPr>
          <a:xfrm>
            <a:off x="7534656"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Run budgets</a:t>
            </a:r>
            <a:endParaRPr lang="en-US" sz="1900" dirty="0"/>
          </a:p>
        </p:txBody>
      </p:sp>
      <p:sp>
        <p:nvSpPr>
          <p:cNvPr id="25" name="Shape 22"/>
          <p:cNvSpPr/>
          <p:nvPr/>
        </p:nvSpPr>
        <p:spPr>
          <a:xfrm>
            <a:off x="9802368" y="4142232"/>
            <a:ext cx="201168" cy="201168"/>
          </a:xfrm>
          <a:prstGeom prst="ellipse">
            <a:avLst/>
          </a:prstGeom>
          <a:solidFill>
            <a:srgbClr val="C7EF79"/>
          </a:solidFill>
          <a:ln w="12700">
            <a:solidFill>
              <a:srgbClr val="C7EF79"/>
            </a:solidFill>
            <a:prstDash val="solid"/>
          </a:ln>
        </p:spPr>
      </p:sp>
      <p:sp>
        <p:nvSpPr>
          <p:cNvPr id="26" name="Text 23"/>
          <p:cNvSpPr/>
          <p:nvPr/>
        </p:nvSpPr>
        <p:spPr>
          <a:xfrm>
            <a:off x="9802368"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Human merge review</a:t>
            </a:r>
            <a:endParaRPr lang="en-US" sz="1900" dirty="0"/>
          </a:p>
        </p:txBody>
      </p:sp>
      <p:sp>
        <p:nvSpPr>
          <p:cNvPr id="27" name="Text 24"/>
          <p:cNvSpPr/>
          <p:nvPr/>
        </p:nvSpPr>
        <p:spPr>
          <a:xfrm>
            <a:off x="731520" y="5687568"/>
            <a:ext cx="10698480" cy="411480"/>
          </a:xfrm>
          <a:prstGeom prst="rect">
            <a:avLst/>
          </a:prstGeom>
          <a:noFill/>
          <a:ln/>
        </p:spPr>
        <p:txBody>
          <a:bodyPr wrap="square" lIns="0" tIns="0" rIns="0" bIns="0" rtlCol="0" anchor="t"/>
          <a:lstStyle/>
          <a:p>
            <a:pPr indent="0" marL="0">
              <a:buNone/>
            </a:pPr>
            <a:r>
              <a:rPr lang="en-US" sz="2200" dirty="0">
                <a:solidFill>
                  <a:srgbClr val="ABB2A2"/>
                </a:solidFill>
                <a:latin typeface="Calibri" pitchFamily="34" charset="0"/>
                <a:ea typeface="Calibri" pitchFamily="34" charset="-122"/>
                <a:cs typeface="Calibri" pitchFamily="34" charset="-120"/>
              </a:rPr>
              <a:t>Postgres records + scrubbed evidence artifacts</a:t>
            </a:r>
            <a:endParaRPr lang="en-US" sz="2200" dirty="0"/>
          </a:p>
        </p:txBody>
      </p:sp>
      <p:sp>
        <p:nvSpPr>
          <p:cNvPr id="28" name="Text 25"/>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Planned architecture. Only the reviewer frontend is implemented today.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12</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Evidence behind the idea.</a:t>
            </a:r>
            <a:endParaRPr lang="en-US" sz="4000" dirty="0"/>
          </a:p>
        </p:txBody>
      </p:sp>
      <p:sp>
        <p:nvSpPr>
          <p:cNvPr id="6" name="Shape 3"/>
          <p:cNvSpPr/>
          <p:nvPr/>
        </p:nvSpPr>
        <p:spPr>
          <a:xfrm>
            <a:off x="731520" y="2176272"/>
            <a:ext cx="155448" cy="155448"/>
          </a:xfrm>
          <a:prstGeom prst="ellipse">
            <a:avLst/>
          </a:prstGeom>
          <a:solidFill>
            <a:srgbClr val="6D8B46"/>
          </a:solidFill>
          <a:ln w="12700">
            <a:solidFill>
              <a:srgbClr val="6D8B46"/>
            </a:solidFill>
            <a:prstDash val="solid"/>
          </a:ln>
        </p:spPr>
      </p:sp>
      <p:sp>
        <p:nvSpPr>
          <p:cNvPr id="7" name="Text 4"/>
          <p:cNvSpPr/>
          <p:nvPr/>
        </p:nvSpPr>
        <p:spPr>
          <a:xfrm>
            <a:off x="1097280" y="210312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Verizon 2026 DBIR</a:t>
            </a:r>
            <a:endParaRPr lang="en-US" sz="2100" dirty="0"/>
          </a:p>
        </p:txBody>
      </p:sp>
      <p:sp>
        <p:nvSpPr>
          <p:cNvPr id="8" name="Text 5"/>
          <p:cNvSpPr/>
          <p:nvPr/>
        </p:nvSpPr>
        <p:spPr>
          <a:xfrm>
            <a:off x="6080760" y="212140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Breach context, based on 2025 data</a:t>
            </a:r>
            <a:endParaRPr lang="en-US" sz="1800" dirty="0"/>
          </a:p>
        </p:txBody>
      </p:sp>
      <p:sp>
        <p:nvSpPr>
          <p:cNvPr id="9" name="Shape 6"/>
          <p:cNvSpPr/>
          <p:nvPr/>
        </p:nvSpPr>
        <p:spPr>
          <a:xfrm>
            <a:off x="731520" y="2816352"/>
            <a:ext cx="155448" cy="155448"/>
          </a:xfrm>
          <a:prstGeom prst="ellipse">
            <a:avLst/>
          </a:prstGeom>
          <a:solidFill>
            <a:srgbClr val="6D8B46"/>
          </a:solidFill>
          <a:ln w="12700">
            <a:solidFill>
              <a:srgbClr val="6D8B46"/>
            </a:solidFill>
            <a:prstDash val="solid"/>
          </a:ln>
        </p:spPr>
      </p:sp>
      <p:sp>
        <p:nvSpPr>
          <p:cNvPr id="10" name="Text 7"/>
          <p:cNvSpPr/>
          <p:nvPr/>
        </p:nvSpPr>
        <p:spPr>
          <a:xfrm>
            <a:off x="1097280" y="274320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GitHub Dependabot + Agentic Autofix</a:t>
            </a:r>
            <a:endParaRPr lang="en-US" sz="2100" dirty="0"/>
          </a:p>
        </p:txBody>
      </p:sp>
      <p:sp>
        <p:nvSpPr>
          <p:cNvPr id="11" name="Text 8"/>
          <p:cNvSpPr/>
          <p:nvPr/>
        </p:nvSpPr>
        <p:spPr>
          <a:xfrm>
            <a:off x="6080760" y="276148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Security updates, code fixes and verification</a:t>
            </a:r>
            <a:endParaRPr lang="en-US" sz="1800" dirty="0"/>
          </a:p>
        </p:txBody>
      </p:sp>
      <p:sp>
        <p:nvSpPr>
          <p:cNvPr id="12" name="Shape 9"/>
          <p:cNvSpPr/>
          <p:nvPr/>
        </p:nvSpPr>
        <p:spPr>
          <a:xfrm>
            <a:off x="731520" y="3456432"/>
            <a:ext cx="155448" cy="155448"/>
          </a:xfrm>
          <a:prstGeom prst="ellipse">
            <a:avLst/>
          </a:prstGeom>
          <a:solidFill>
            <a:srgbClr val="6D8B46"/>
          </a:solidFill>
          <a:ln w="12700">
            <a:solidFill>
              <a:srgbClr val="6D8B46"/>
            </a:solidFill>
            <a:prstDash val="solid"/>
          </a:ln>
        </p:spPr>
      </p:sp>
      <p:sp>
        <p:nvSpPr>
          <p:cNvPr id="13" name="Text 10"/>
          <p:cNvSpPr/>
          <p:nvPr/>
        </p:nvSpPr>
        <p:spPr>
          <a:xfrm>
            <a:off x="1097280" y="338328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Snyk Agent Fix</a:t>
            </a:r>
            <a:endParaRPr lang="en-US" sz="2100" dirty="0"/>
          </a:p>
        </p:txBody>
      </p:sp>
      <p:sp>
        <p:nvSpPr>
          <p:cNvPr id="14" name="Text 11"/>
          <p:cNvSpPr/>
          <p:nvPr/>
        </p:nvSpPr>
        <p:spPr>
          <a:xfrm>
            <a:off x="6080760" y="340156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Agentic remediation documentation</a:t>
            </a:r>
            <a:endParaRPr lang="en-US" sz="1800" dirty="0"/>
          </a:p>
        </p:txBody>
      </p:sp>
      <p:sp>
        <p:nvSpPr>
          <p:cNvPr id="15" name="Shape 12"/>
          <p:cNvSpPr/>
          <p:nvPr/>
        </p:nvSpPr>
        <p:spPr>
          <a:xfrm>
            <a:off x="731520" y="4096512"/>
            <a:ext cx="155448" cy="155448"/>
          </a:xfrm>
          <a:prstGeom prst="ellipse">
            <a:avLst/>
          </a:prstGeom>
          <a:solidFill>
            <a:srgbClr val="6D8B46"/>
          </a:solidFill>
          <a:ln w="12700">
            <a:solidFill>
              <a:srgbClr val="6D8B46"/>
            </a:solidFill>
            <a:prstDash val="solid"/>
          </a:ln>
        </p:spPr>
      </p:sp>
      <p:sp>
        <p:nvSpPr>
          <p:cNvPr id="16" name="Text 13"/>
          <p:cNvSpPr/>
          <p:nvPr/>
        </p:nvSpPr>
        <p:spPr>
          <a:xfrm>
            <a:off x="1097280" y="402336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Aikido Infinite</a:t>
            </a:r>
            <a:endParaRPr lang="en-US" sz="2100" dirty="0"/>
          </a:p>
        </p:txBody>
      </p:sp>
      <p:sp>
        <p:nvSpPr>
          <p:cNvPr id="17" name="Text 14"/>
          <p:cNvSpPr/>
          <p:nvPr/>
        </p:nvSpPr>
        <p:spPr>
          <a:xfrm>
            <a:off x="6080760" y="404164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Continuous testing, fixes and retesting</a:t>
            </a:r>
            <a:endParaRPr lang="en-US" sz="1800" dirty="0"/>
          </a:p>
        </p:txBody>
      </p:sp>
      <p:sp>
        <p:nvSpPr>
          <p:cNvPr id="18" name="Shape 15"/>
          <p:cNvSpPr/>
          <p:nvPr/>
        </p:nvSpPr>
        <p:spPr>
          <a:xfrm>
            <a:off x="731520" y="4736592"/>
            <a:ext cx="155448" cy="155448"/>
          </a:xfrm>
          <a:prstGeom prst="ellipse">
            <a:avLst/>
          </a:prstGeom>
          <a:solidFill>
            <a:srgbClr val="6D8B46"/>
          </a:solidFill>
          <a:ln w="12700">
            <a:solidFill>
              <a:srgbClr val="6D8B46"/>
            </a:solidFill>
            <a:prstDash val="solid"/>
          </a:ln>
        </p:spPr>
      </p:sp>
      <p:sp>
        <p:nvSpPr>
          <p:cNvPr id="19" name="Text 16"/>
          <p:cNvSpPr/>
          <p:nvPr/>
        </p:nvSpPr>
        <p:spPr>
          <a:xfrm>
            <a:off x="1097280" y="466344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OSV-Scanner + ZAP baseline</a:t>
            </a:r>
            <a:endParaRPr lang="en-US" sz="2100" dirty="0"/>
          </a:p>
        </p:txBody>
      </p:sp>
      <p:sp>
        <p:nvSpPr>
          <p:cNvPr id="20" name="Text 17"/>
          <p:cNvSpPr/>
          <p:nvPr/>
        </p:nvSpPr>
        <p:spPr>
          <a:xfrm>
            <a:off x="6080760" y="468172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Tool options and passive-scan limits</a:t>
            </a:r>
            <a:endParaRPr lang="en-US" sz="1800" dirty="0"/>
          </a:p>
        </p:txBody>
      </p:sp>
      <p:sp>
        <p:nvSpPr>
          <p:cNvPr id="21" name="Text 18"/>
          <p:cNvSpPr/>
          <p:nvPr/>
        </p:nvSpPr>
        <p:spPr>
          <a:xfrm>
            <a:off x="731520" y="5733288"/>
            <a:ext cx="10698480" cy="365760"/>
          </a:xfrm>
          <a:prstGeom prst="rect">
            <a:avLst/>
          </a:prstGeom>
          <a:noFill/>
          <a:ln/>
        </p:spPr>
        <p:txBody>
          <a:bodyPr wrap="square" lIns="0" tIns="0" rIns="0" bIns="0" rtlCol="0" anchor="t"/>
          <a:lstStyle/>
          <a:p>
            <a:pPr indent="0" marL="0">
              <a:buNone/>
            </a:pPr>
            <a:r>
              <a:rPr lang="en-US" sz="2200" b="1" dirty="0">
                <a:solidFill>
                  <a:srgbClr val="20271A"/>
                </a:solidFill>
                <a:latin typeface="Calibri" pitchFamily="34" charset="0"/>
                <a:ea typeface="Calibri" pitchFamily="34" charset="-122"/>
                <a:cs typeface="Calibri" pitchFamily="34" charset="-120"/>
              </a:rPr>
              <a:t>Synthetic prototype. Real customer validation comes next.</a:t>
            </a:r>
            <a:endParaRPr lang="en-US" sz="2200" dirty="0"/>
          </a:p>
        </p:txBody>
      </p:sp>
      <p:sp>
        <p:nvSpPr>
          <p:cNvPr id="22" name="Text 19"/>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Full URLs in speaker notes and PRD. Prices, savings and adoption targets are hypotheses.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ProofPatch — The fix. And the proof.</dc:title>
  <dc:subject>PptxGenJS Presentation</dc:subject>
  <dc:creator>ProofPatch</dc:creator>
  <cp:lastModifiedBy>ProofPatch</cp:lastModifiedBy>
  <cp:revision>1</cp:revision>
  <dcterms:created xsi:type="dcterms:W3CDTF">2026-10-24T11:23:59Z</dcterms:created>
  <dcterms:modified xsi:type="dcterms:W3CDTF">2026-10-24T11:23:59Z</dcterms:modified>
</cp:coreProperties>
</file>